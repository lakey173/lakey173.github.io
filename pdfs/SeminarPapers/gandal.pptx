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xls" ContentType="application/vnd.ms-excel"/>
  <Default Extension="wmf" ContentType="image/x-wmf"/>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90" r:id="rId1"/>
  </p:sldMasterIdLst>
  <p:handoutMasterIdLst>
    <p:handoutMasterId r:id="rId48"/>
  </p:handoutMasterIdLst>
  <p:sldIdLst>
    <p:sldId id="256" r:id="rId2"/>
    <p:sldId id="334" r:id="rId3"/>
    <p:sldId id="335" r:id="rId4"/>
    <p:sldId id="257" r:id="rId5"/>
    <p:sldId id="328" r:id="rId6"/>
    <p:sldId id="258" r:id="rId7"/>
    <p:sldId id="281" r:id="rId8"/>
    <p:sldId id="261" r:id="rId9"/>
    <p:sldId id="262" r:id="rId10"/>
    <p:sldId id="265" r:id="rId11"/>
    <p:sldId id="266" r:id="rId12"/>
    <p:sldId id="260" r:id="rId13"/>
    <p:sldId id="267" r:id="rId14"/>
    <p:sldId id="259" r:id="rId15"/>
    <p:sldId id="270" r:id="rId16"/>
    <p:sldId id="271" r:id="rId17"/>
    <p:sldId id="275" r:id="rId18"/>
    <p:sldId id="276" r:id="rId19"/>
    <p:sldId id="336" r:id="rId20"/>
    <p:sldId id="299" r:id="rId21"/>
    <p:sldId id="306" r:id="rId22"/>
    <p:sldId id="324" r:id="rId23"/>
    <p:sldId id="277" r:id="rId24"/>
    <p:sldId id="303" r:id="rId25"/>
    <p:sldId id="305" r:id="rId26"/>
    <p:sldId id="339" r:id="rId27"/>
    <p:sldId id="338" r:id="rId28"/>
    <p:sldId id="337" r:id="rId29"/>
    <p:sldId id="311" r:id="rId30"/>
    <p:sldId id="343" r:id="rId31"/>
    <p:sldId id="320" r:id="rId32"/>
    <p:sldId id="314" r:id="rId33"/>
    <p:sldId id="322" r:id="rId34"/>
    <p:sldId id="323" r:id="rId35"/>
    <p:sldId id="318" r:id="rId36"/>
    <p:sldId id="340" r:id="rId37"/>
    <p:sldId id="341" r:id="rId38"/>
    <p:sldId id="342" r:id="rId39"/>
    <p:sldId id="280" r:id="rId40"/>
    <p:sldId id="313" r:id="rId41"/>
    <p:sldId id="272" r:id="rId42"/>
    <p:sldId id="344" r:id="rId43"/>
    <p:sldId id="330" r:id="rId44"/>
    <p:sldId id="331" r:id="rId45"/>
    <p:sldId id="332" r:id="rId46"/>
    <p:sldId id="333" r:id="rId47"/>
  </p:sldIdLst>
  <p:sldSz cx="9144000" cy="6858000" type="screen4x3"/>
  <p:notesSz cx="6797675" cy="9928225"/>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r" defTabSz="914400" rtl="1" eaLnBrk="1" latinLnBrk="0" hangingPunct="1">
      <a:defRPr kern="1200">
        <a:solidFill>
          <a:schemeClr val="tx1"/>
        </a:solidFill>
        <a:latin typeface="Arial" pitchFamily="34" charset="0"/>
        <a:ea typeface="+mn-ea"/>
        <a:cs typeface="Arial" pitchFamily="34" charset="0"/>
      </a:defRPr>
    </a:lvl6pPr>
    <a:lvl7pPr marL="2743200" algn="r" defTabSz="914400" rtl="1" eaLnBrk="1" latinLnBrk="0" hangingPunct="1">
      <a:defRPr kern="1200">
        <a:solidFill>
          <a:schemeClr val="tx1"/>
        </a:solidFill>
        <a:latin typeface="Arial" pitchFamily="34" charset="0"/>
        <a:ea typeface="+mn-ea"/>
        <a:cs typeface="Arial" pitchFamily="34" charset="0"/>
      </a:defRPr>
    </a:lvl7pPr>
    <a:lvl8pPr marL="3200400" algn="r" defTabSz="914400" rtl="1" eaLnBrk="1" latinLnBrk="0" hangingPunct="1">
      <a:defRPr kern="1200">
        <a:solidFill>
          <a:schemeClr val="tx1"/>
        </a:solidFill>
        <a:latin typeface="Arial" pitchFamily="34" charset="0"/>
        <a:ea typeface="+mn-ea"/>
        <a:cs typeface="Arial" pitchFamily="34" charset="0"/>
      </a:defRPr>
    </a:lvl8pPr>
    <a:lvl9pPr marL="3657600" algn="r" defTabSz="914400" rtl="1" eaLnBrk="1" latinLnBrk="0" hangingPunct="1">
      <a:defRPr kern="1200">
        <a:solidFill>
          <a:schemeClr val="tx1"/>
        </a:solidFill>
        <a:latin typeface="Arial" pitchFamily="34" charset="0"/>
        <a:ea typeface="+mn-ea"/>
        <a:cs typeface="Arial"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FF"/>
    <a:srgbClr val="9999FF"/>
    <a:srgbClr val="6666FF"/>
    <a:srgbClr val="FCFCA2"/>
    <a:srgbClr val="FFCCCC"/>
    <a:srgbClr val="CCCC00"/>
    <a:srgbClr val="CC99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660" autoAdjust="0"/>
    <p:restoredTop sz="94660"/>
  </p:normalViewPr>
  <p:slideViewPr>
    <p:cSldViewPr>
      <p:cViewPr>
        <p:scale>
          <a:sx n="100" d="100"/>
          <a:sy n="100" d="100"/>
        </p:scale>
        <p:origin x="-876" y="2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48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 Id="rId5" Type="http://schemas.openxmlformats.org/officeDocument/2006/relationships/image" Target="../media/image23.wmf"/><Relationship Id="rId4"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cs typeface="Arial" charset="0"/>
              </a:defRPr>
            </a:lvl1pPr>
          </a:lstStyle>
          <a:p>
            <a:pPr>
              <a:defRPr/>
            </a:pPr>
            <a:endParaRPr lang="en-US"/>
          </a:p>
        </p:txBody>
      </p:sp>
      <p:sp>
        <p:nvSpPr>
          <p:cNvPr id="52227" name="Rectangle 3"/>
          <p:cNvSpPr>
            <a:spLocks noGrp="1" noChangeArrowheads="1"/>
          </p:cNvSpPr>
          <p:nvPr>
            <p:ph type="dt" sz="quarter"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Arial" charset="0"/>
              </a:defRPr>
            </a:lvl1pPr>
          </a:lstStyle>
          <a:p>
            <a:pPr>
              <a:defRPr/>
            </a:pPr>
            <a:endParaRPr lang="en-US"/>
          </a:p>
        </p:txBody>
      </p:sp>
      <p:sp>
        <p:nvSpPr>
          <p:cNvPr id="52228" name="Rectangle 4"/>
          <p:cNvSpPr>
            <a:spLocks noGrp="1" noChangeArrowheads="1"/>
          </p:cNvSpPr>
          <p:nvPr>
            <p:ph type="ftr" sz="quarter" idx="2"/>
          </p:nvPr>
        </p:nvSpPr>
        <p:spPr bwMode="auto">
          <a:xfrm>
            <a:off x="0"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Arial" charset="0"/>
              </a:defRPr>
            </a:lvl1pPr>
          </a:lstStyle>
          <a:p>
            <a:pPr>
              <a:defRPr/>
            </a:pPr>
            <a:endParaRPr lang="en-US"/>
          </a:p>
        </p:txBody>
      </p:sp>
      <p:sp>
        <p:nvSpPr>
          <p:cNvPr id="52229" name="Rectangle 5"/>
          <p:cNvSpPr>
            <a:spLocks noGrp="1" noChangeArrowheads="1"/>
          </p:cNvSpPr>
          <p:nvPr>
            <p:ph type="sldNum" sz="quarter" idx="3"/>
          </p:nvPr>
        </p:nvSpPr>
        <p:spPr bwMode="auto">
          <a:xfrm>
            <a:off x="3849688"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cs typeface="Arial" charset="0"/>
              </a:defRPr>
            </a:lvl1pPr>
          </a:lstStyle>
          <a:p>
            <a:pPr>
              <a:defRPr/>
            </a:pPr>
            <a:fld id="{69EFEFE4-7A76-4B68-9C89-F51C30114913}" type="slidenum">
              <a:rPr lang="he-IL"/>
              <a:pPr>
                <a:defRPr/>
              </a:pPr>
              <a:t>‹#›</a:t>
            </a:fld>
            <a:endParaRPr lang="en-US"/>
          </a:p>
        </p:txBody>
      </p:sp>
    </p:spTree>
    <p:extLst>
      <p:ext uri="{BB962C8B-B14F-4D97-AF65-F5344CB8AC3E}">
        <p14:creationId xmlns:p14="http://schemas.microsoft.com/office/powerpoint/2010/main" val="331472320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Rounded Rectangle 9"/>
          <p:cNvSpPr/>
          <p:nvPr/>
        </p:nvSpPr>
        <p:spPr>
          <a:xfrm>
            <a:off x="41859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4"/>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en-US" smtClean="0"/>
              <a:t>Click to edit Master title style</a:t>
            </a:r>
            <a:endParaRPr kumimoji="0" lang="en-US"/>
          </a:p>
        </p:txBody>
      </p:sp>
      <p:sp>
        <p:nvSpPr>
          <p:cNvPr id="20" name="Subtitle 19"/>
          <p:cNvSpPr>
            <a:spLocks noGrp="1"/>
          </p:cNvSpPr>
          <p:nvPr>
            <p:ph type="subTitle" idx="1"/>
          </p:nvPr>
        </p:nvSpPr>
        <p:spPr>
          <a:xfrm>
            <a:off x="722376" y="3685032"/>
            <a:ext cx="7772400" cy="9144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19" name="Date Placeholder 18"/>
          <p:cNvSpPr>
            <a:spLocks noGrp="1"/>
          </p:cNvSpPr>
          <p:nvPr>
            <p:ph type="dt" sz="half" idx="10"/>
          </p:nvPr>
        </p:nvSpPr>
        <p:spPr/>
        <p:txBody>
          <a:bodyPr/>
          <a:lstStyle>
            <a:extLst/>
          </a:lstStyle>
          <a:p>
            <a:pPr>
              <a:defRPr/>
            </a:pPr>
            <a:endParaRPr lang="en-US"/>
          </a:p>
        </p:txBody>
      </p:sp>
      <p:sp>
        <p:nvSpPr>
          <p:cNvPr id="8" name="Footer Placeholder 7"/>
          <p:cNvSpPr>
            <a:spLocks noGrp="1"/>
          </p:cNvSpPr>
          <p:nvPr>
            <p:ph type="ftr" sz="quarter" idx="11"/>
          </p:nvPr>
        </p:nvSpPr>
        <p:spPr/>
        <p:txBody>
          <a:bodyPr/>
          <a:lstStyle>
            <a:extLst/>
          </a:lstStyle>
          <a:p>
            <a:pPr>
              <a:defRPr/>
            </a:pPr>
            <a:endParaRPr lang="en-US"/>
          </a:p>
        </p:txBody>
      </p:sp>
      <p:sp>
        <p:nvSpPr>
          <p:cNvPr id="11" name="Slide Number Placeholder 10"/>
          <p:cNvSpPr>
            <a:spLocks noGrp="1"/>
          </p:cNvSpPr>
          <p:nvPr>
            <p:ph type="sldNum" sz="quarter" idx="12"/>
          </p:nvPr>
        </p:nvSpPr>
        <p:spPr/>
        <p:txBody>
          <a:bodyPr/>
          <a:lstStyle>
            <a:extLst/>
          </a:lstStyle>
          <a:p>
            <a:pPr>
              <a:defRPr/>
            </a:pPr>
            <a:fld id="{99466DAB-81C0-4F3F-85A2-F2A49C11403F}" type="slidenum">
              <a:rPr lang="he-IL"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183880" cy="1051560"/>
          </a:xfrm>
        </p:spPr>
        <p:txBody>
          <a:bodyPr/>
          <a:lstStyle>
            <a:extLst/>
          </a:lstStyle>
          <a:p>
            <a:r>
              <a:rPr kumimoji="0" lang="en-US" dirty="0" smtClean="0"/>
              <a:t>Click to edit Master title style</a:t>
            </a:r>
            <a:endParaRPr kumimoji="0" lang="en-US" dirty="0"/>
          </a:p>
        </p:txBody>
      </p:sp>
      <p:sp>
        <p:nvSpPr>
          <p:cNvPr id="3" name="Content Placeholder 2"/>
          <p:cNvSpPr>
            <a:spLocks noGrp="1"/>
          </p:cNvSpPr>
          <p:nvPr>
            <p:ph idx="1"/>
          </p:nvPr>
        </p:nvSpPr>
        <p:spPr>
          <a:xfrm>
            <a:off x="457200" y="1676400"/>
            <a:ext cx="8183880" cy="4187952"/>
          </a:xfrm>
        </p:spPr>
        <p:txBody>
          <a:bodyPr/>
          <a:lstStyle>
            <a:lvl1pPr>
              <a:defRPr sz="2400"/>
            </a:lvl1pPr>
            <a:lvl2pPr>
              <a:defRPr sz="2000"/>
            </a:lvl2pPr>
            <a:lvl3pPr>
              <a:defRPr sz="1800"/>
            </a:lvl3pPr>
            <a:lvl4pPr>
              <a:defRPr sz="1600"/>
            </a:lvl4pPr>
            <a:lvl5pPr>
              <a:defRPr sz="1400"/>
            </a:lvl5pPr>
            <a:extLst/>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Date Placeholder 3"/>
          <p:cNvSpPr>
            <a:spLocks noGrp="1"/>
          </p:cNvSpPr>
          <p:nvPr>
            <p:ph type="dt" sz="half" idx="10"/>
          </p:nvPr>
        </p:nvSpPr>
        <p:spPr/>
        <p:txBody>
          <a:bodyPr/>
          <a:lstStyle>
            <a:extLst/>
          </a:lstStyle>
          <a:p>
            <a:pPr>
              <a:defRPr/>
            </a:pPr>
            <a:endParaRPr lang="en-US"/>
          </a:p>
        </p:txBody>
      </p:sp>
      <p:sp>
        <p:nvSpPr>
          <p:cNvPr id="5" name="Footer Placeholder 4"/>
          <p:cNvSpPr>
            <a:spLocks noGrp="1"/>
          </p:cNvSpPr>
          <p:nvPr>
            <p:ph type="ftr" sz="quarter" idx="11"/>
          </p:nvPr>
        </p:nvSpPr>
        <p:spPr/>
        <p:txBody>
          <a:bodyPr/>
          <a:lstStyle>
            <a:extLst/>
          </a:lstStyle>
          <a:p>
            <a:pPr>
              <a:defRPr/>
            </a:pPr>
            <a:endParaRPr lang="en-US"/>
          </a:p>
        </p:txBody>
      </p:sp>
      <p:sp>
        <p:nvSpPr>
          <p:cNvPr id="6" name="Slide Number Placeholder 5"/>
          <p:cNvSpPr>
            <a:spLocks noGrp="1"/>
          </p:cNvSpPr>
          <p:nvPr>
            <p:ph type="sldNum" sz="quarter" idx="12"/>
          </p:nvPr>
        </p:nvSpPr>
        <p:spPr/>
        <p:txBody>
          <a:bodyPr/>
          <a:lstStyle>
            <a:extLst/>
          </a:lstStyle>
          <a:p>
            <a:pPr>
              <a:defRPr/>
            </a:pPr>
            <a:fld id="{D5BF9AA9-031A-4665-88D7-5E81F1F46BCB}" type="slidenum">
              <a:rPr lang="he-IL"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ounded Rectangle 10"/>
          <p:cNvSpPr/>
          <p:nvPr/>
        </p:nvSpPr>
        <p:spPr>
          <a:xfrm>
            <a:off x="418596" y="43416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468344" y="4928616"/>
            <a:ext cx="8183880" cy="676656"/>
          </a:xfrm>
        </p:spPr>
        <p:txBody>
          <a:bodyPr lIns="91440" bIns="0" anchor="b"/>
          <a:lstStyle>
            <a:lvl1pPr algn="l">
              <a:buNone/>
              <a:defRPr sz="3600" b="0" cap="none" baseline="0">
                <a:solidFill>
                  <a:schemeClr val="bg2">
                    <a:shade val="25000"/>
                  </a:schemeClr>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68344" y="5624484"/>
            <a:ext cx="8183880" cy="420624"/>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pPr>
              <a:defRPr/>
            </a:pPr>
            <a:endParaRPr lang="en-US"/>
          </a:p>
        </p:txBody>
      </p:sp>
      <p:sp>
        <p:nvSpPr>
          <p:cNvPr id="5" name="Footer Placeholder 4"/>
          <p:cNvSpPr>
            <a:spLocks noGrp="1"/>
          </p:cNvSpPr>
          <p:nvPr>
            <p:ph type="ftr" sz="quarter" idx="11"/>
          </p:nvPr>
        </p:nvSpPr>
        <p:spPr/>
        <p:txBody>
          <a:bodyPr/>
          <a:lstStyle>
            <a:extLst/>
          </a:lstStyle>
          <a:p>
            <a:pPr>
              <a:defRPr/>
            </a:pPr>
            <a:endParaRPr lang="en-US"/>
          </a:p>
        </p:txBody>
      </p:sp>
      <p:sp>
        <p:nvSpPr>
          <p:cNvPr id="6" name="Slide Number Placeholder 5"/>
          <p:cNvSpPr>
            <a:spLocks noGrp="1"/>
          </p:cNvSpPr>
          <p:nvPr>
            <p:ph type="sldNum" sz="quarter" idx="12"/>
          </p:nvPr>
        </p:nvSpPr>
        <p:spPr/>
        <p:txBody>
          <a:bodyPr/>
          <a:lstStyle>
            <a:extLst/>
          </a:lstStyle>
          <a:p>
            <a:pPr>
              <a:defRPr/>
            </a:pPr>
            <a:fld id="{7ED81C7D-758B-4AAD-872B-BDF055AE0F0D}" type="slidenum">
              <a:rPr lang="he-IL"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pPr>
              <a:defRPr/>
            </a:pPr>
            <a:endParaRPr lang="en-US"/>
          </a:p>
        </p:txBody>
      </p:sp>
      <p:sp>
        <p:nvSpPr>
          <p:cNvPr id="6" name="Footer Placeholder 5"/>
          <p:cNvSpPr>
            <a:spLocks noGrp="1"/>
          </p:cNvSpPr>
          <p:nvPr>
            <p:ph type="ftr" sz="quarter" idx="11"/>
          </p:nvPr>
        </p:nvSpPr>
        <p:spPr/>
        <p:txBody>
          <a:bodyPr/>
          <a:lstStyle>
            <a:extLst/>
          </a:lstStyle>
          <a:p>
            <a:pPr>
              <a:defRPr/>
            </a:pPr>
            <a:endParaRPr lang="en-US"/>
          </a:p>
        </p:txBody>
      </p:sp>
      <p:sp>
        <p:nvSpPr>
          <p:cNvPr id="7" name="Slide Number Placeholder 6"/>
          <p:cNvSpPr>
            <a:spLocks noGrp="1"/>
          </p:cNvSpPr>
          <p:nvPr>
            <p:ph type="sldNum" sz="quarter" idx="12"/>
          </p:nvPr>
        </p:nvSpPr>
        <p:spPr/>
        <p:txBody>
          <a:bodyPr/>
          <a:lstStyle>
            <a:extLst/>
          </a:lstStyle>
          <a:p>
            <a:pPr>
              <a:defRPr/>
            </a:pPr>
            <a:fld id="{D10113C9-5413-4B49-BDA3-1BE79E141504}" type="slidenum">
              <a:rPr lang="he-IL"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nchor="b"/>
          <a:lstStyle>
            <a:lvl1pPr>
              <a:defRPr b="1"/>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7224"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52169"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pPr>
              <a:defRPr/>
            </a:pPr>
            <a:endParaRPr lang="en-US"/>
          </a:p>
        </p:txBody>
      </p:sp>
      <p:sp>
        <p:nvSpPr>
          <p:cNvPr id="8" name="Footer Placeholder 7"/>
          <p:cNvSpPr>
            <a:spLocks noGrp="1"/>
          </p:cNvSpPr>
          <p:nvPr>
            <p:ph type="ftr" sz="quarter" idx="11"/>
          </p:nvPr>
        </p:nvSpPr>
        <p:spPr/>
        <p:txBody>
          <a:bodyPr/>
          <a:lstStyle>
            <a:extLst/>
          </a:lstStyle>
          <a:p>
            <a:pPr>
              <a:defRPr/>
            </a:pPr>
            <a:endParaRPr lang="en-US"/>
          </a:p>
        </p:txBody>
      </p:sp>
      <p:sp>
        <p:nvSpPr>
          <p:cNvPr id="9" name="Slide Number Placeholder 8"/>
          <p:cNvSpPr>
            <a:spLocks noGrp="1"/>
          </p:cNvSpPr>
          <p:nvPr>
            <p:ph type="sldNum" sz="quarter" idx="12"/>
          </p:nvPr>
        </p:nvSpPr>
        <p:spPr/>
        <p:txBody>
          <a:bodyPr/>
          <a:lstStyle>
            <a:extLst/>
          </a:lstStyle>
          <a:p>
            <a:pPr>
              <a:defRPr/>
            </a:pPr>
            <a:fld id="{36AE7AC1-EE6B-434B-8D0E-CF4841EB951E}" type="slidenum">
              <a:rPr lang="he-IL"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8183880" cy="105156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pPr>
              <a:defRPr/>
            </a:pPr>
            <a:endParaRPr lang="en-US"/>
          </a:p>
        </p:txBody>
      </p:sp>
      <p:sp>
        <p:nvSpPr>
          <p:cNvPr id="4" name="Footer Placeholder 3"/>
          <p:cNvSpPr>
            <a:spLocks noGrp="1"/>
          </p:cNvSpPr>
          <p:nvPr>
            <p:ph type="ftr" sz="quarter" idx="11"/>
          </p:nvPr>
        </p:nvSpPr>
        <p:spPr/>
        <p:txBody>
          <a:bodyPr/>
          <a:lstStyle>
            <a:extLst/>
          </a:lstStyle>
          <a:p>
            <a:pPr>
              <a:defRPr/>
            </a:pPr>
            <a:endParaRPr lang="en-US"/>
          </a:p>
        </p:txBody>
      </p:sp>
      <p:sp>
        <p:nvSpPr>
          <p:cNvPr id="5" name="Slide Number Placeholder 4"/>
          <p:cNvSpPr>
            <a:spLocks noGrp="1"/>
          </p:cNvSpPr>
          <p:nvPr>
            <p:ph type="sldNum" sz="quarter" idx="12"/>
          </p:nvPr>
        </p:nvSpPr>
        <p:spPr/>
        <p:txBody>
          <a:bodyPr/>
          <a:lstStyle>
            <a:extLst/>
          </a:lstStyle>
          <a:p>
            <a:pPr>
              <a:defRPr/>
            </a:pPr>
            <a:fld id="{CB331E37-8C38-4CA7-B78B-040F9511C5FC}" type="slidenum">
              <a:rPr lang="he-IL"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pPr>
              <a:defRPr/>
            </a:pPr>
            <a:endParaRPr lang="en-US"/>
          </a:p>
        </p:txBody>
      </p:sp>
      <p:sp>
        <p:nvSpPr>
          <p:cNvPr id="3" name="Footer Placeholder 2"/>
          <p:cNvSpPr>
            <a:spLocks noGrp="1"/>
          </p:cNvSpPr>
          <p:nvPr>
            <p:ph type="ftr" sz="quarter" idx="11"/>
          </p:nvPr>
        </p:nvSpPr>
        <p:spPr/>
        <p:txBody>
          <a:bodyPr/>
          <a:lstStyle>
            <a:extLst/>
          </a:lstStyle>
          <a:p>
            <a:pPr>
              <a:defRPr/>
            </a:pPr>
            <a:endParaRPr lang="en-US"/>
          </a:p>
        </p:txBody>
      </p:sp>
      <p:sp>
        <p:nvSpPr>
          <p:cNvPr id="4" name="Slide Number Placeholder 3"/>
          <p:cNvSpPr>
            <a:spLocks noGrp="1"/>
          </p:cNvSpPr>
          <p:nvPr>
            <p:ph type="sldNum" sz="quarter" idx="12"/>
          </p:nvPr>
        </p:nvSpPr>
        <p:spPr/>
        <p:txBody>
          <a:bodyPr/>
          <a:lstStyle>
            <a:extLst/>
          </a:lstStyle>
          <a:p>
            <a:pPr>
              <a:defRPr/>
            </a:pPr>
            <a:fld id="{D8587DCF-587D-4B26-8B89-3C882050FB0C}" type="slidenum">
              <a:rPr lang="he-IL"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38784" y="533400"/>
            <a:ext cx="2971800" cy="914400"/>
          </a:xfrm>
        </p:spPr>
        <p:txBody>
          <a:bodyPr anchor="b"/>
          <a:lstStyle>
            <a:lvl1pPr algn="l">
              <a:buNone/>
              <a:defRPr sz="2200" b="1">
                <a:solidFill>
                  <a:schemeClr val="accent1"/>
                </a:solidFill>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pPr>
              <a:defRPr/>
            </a:pPr>
            <a:endParaRPr lang="en-US"/>
          </a:p>
        </p:txBody>
      </p:sp>
      <p:sp>
        <p:nvSpPr>
          <p:cNvPr id="6" name="Footer Placeholder 5"/>
          <p:cNvSpPr>
            <a:spLocks noGrp="1"/>
          </p:cNvSpPr>
          <p:nvPr>
            <p:ph type="ftr" sz="quarter" idx="11"/>
          </p:nvPr>
        </p:nvSpPr>
        <p:spPr/>
        <p:txBody>
          <a:bodyPr/>
          <a:lstStyle>
            <a:extLst/>
          </a:lstStyle>
          <a:p>
            <a:pPr>
              <a:defRPr/>
            </a:pPr>
            <a:endParaRPr lang="en-US"/>
          </a:p>
        </p:txBody>
      </p:sp>
      <p:sp>
        <p:nvSpPr>
          <p:cNvPr id="7" name="Slide Number Placeholder 6"/>
          <p:cNvSpPr>
            <a:spLocks noGrp="1"/>
          </p:cNvSpPr>
          <p:nvPr>
            <p:ph type="sldNum" sz="quarter" idx="12"/>
          </p:nvPr>
        </p:nvSpPr>
        <p:spPr/>
        <p:txBody>
          <a:bodyPr/>
          <a:lstStyle>
            <a:extLst/>
          </a:lstStyle>
          <a:p>
            <a:pPr>
              <a:defRPr/>
            </a:pPr>
            <a:fld id="{729D58A9-9001-4870-A502-8378543C07C6}" type="slidenum">
              <a:rPr lang="he-IL"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ound Single Corner Rectangle 10"/>
          <p:cNvSpPr/>
          <p:nvPr/>
        </p:nvSpPr>
        <p:spPr>
          <a:xfrm>
            <a:off x="6400800" y="434162"/>
            <a:ext cx="2324605"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kumimoji="0" lang="en-US" smtClean="0"/>
              <a:t>Click to edit Master title style</a:t>
            </a:r>
            <a:endParaRPr kumimoji="0" lang="en-US"/>
          </a:p>
        </p:txBody>
      </p:sp>
      <p:sp>
        <p:nvSpPr>
          <p:cNvPr id="4" name="Text Placeholder 3"/>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pPr>
              <a:defRPr/>
            </a:pPr>
            <a:endParaRPr lang="en-US"/>
          </a:p>
        </p:txBody>
      </p:sp>
      <p:sp>
        <p:nvSpPr>
          <p:cNvPr id="6" name="Footer Placeholder 5"/>
          <p:cNvSpPr>
            <a:spLocks noGrp="1"/>
          </p:cNvSpPr>
          <p:nvPr>
            <p:ph type="ftr" sz="quarter" idx="11"/>
          </p:nvPr>
        </p:nvSpPr>
        <p:spPr/>
        <p:txBody>
          <a:bodyPr/>
          <a:lstStyle>
            <a:extLst/>
          </a:lstStyle>
          <a:p>
            <a:pPr>
              <a:defRPr/>
            </a:pPr>
            <a:endParaRPr lang="en-US"/>
          </a:p>
        </p:txBody>
      </p:sp>
      <p:sp>
        <p:nvSpPr>
          <p:cNvPr id="7" name="Slide Number Placeholder 6"/>
          <p:cNvSpPr>
            <a:spLocks noGrp="1"/>
          </p:cNvSpPr>
          <p:nvPr>
            <p:ph type="sldNum" sz="quarter" idx="12"/>
          </p:nvPr>
        </p:nvSpPr>
        <p:spPr/>
        <p:txBody>
          <a:bodyPr/>
          <a:lstStyle>
            <a:extLst/>
          </a:lstStyle>
          <a:p>
            <a:pPr>
              <a:defRPr/>
            </a:pPr>
            <a:fld id="{7FCAEAC5-D9DF-47B2-B078-4F26D9097F24}" type="slidenum">
              <a:rPr lang="he-IL" smtClean="0"/>
              <a:pPr>
                <a:defRPr/>
              </a:pPr>
              <a:t>‹#›</a:t>
            </a:fld>
            <a:endParaRPr lang="en-US"/>
          </a:p>
        </p:txBody>
      </p:sp>
      <p:sp>
        <p:nvSpPr>
          <p:cNvPr id="3" name="Picture Placeholder 2"/>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en-US" smtClean="0"/>
              <a:t>Click icon to add picture</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02920" y="530352"/>
            <a:ext cx="8183880" cy="4187952"/>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pPr>
              <a:defRPr/>
            </a:pPr>
            <a:endParaRPr lang="en-US"/>
          </a:p>
        </p:txBody>
      </p:sp>
      <p:sp>
        <p:nvSpPr>
          <p:cNvPr id="5" name="Footer Placeholder 4"/>
          <p:cNvSpPr>
            <a:spLocks noGrp="1"/>
          </p:cNvSpPr>
          <p:nvPr>
            <p:ph type="ftr" sz="quarter" idx="11"/>
          </p:nvPr>
        </p:nvSpPr>
        <p:spPr/>
        <p:txBody>
          <a:bodyPr/>
          <a:lstStyle>
            <a:extLst/>
          </a:lstStyle>
          <a:p>
            <a:pPr>
              <a:defRPr/>
            </a:pPr>
            <a:endParaRPr lang="en-US"/>
          </a:p>
        </p:txBody>
      </p:sp>
      <p:sp>
        <p:nvSpPr>
          <p:cNvPr id="6" name="Slide Number Placeholder 5"/>
          <p:cNvSpPr>
            <a:spLocks noGrp="1"/>
          </p:cNvSpPr>
          <p:nvPr>
            <p:ph type="sldNum" sz="quarter" idx="12"/>
          </p:nvPr>
        </p:nvSpPr>
        <p:spPr/>
        <p:txBody>
          <a:bodyPr/>
          <a:lstStyle>
            <a:extLst/>
          </a:lstStyle>
          <a:p>
            <a:pPr>
              <a:defRPr/>
            </a:pPr>
            <a:fld id="{FB9C3401-0825-40CD-A7D5-B70752181A47}" type="slidenum">
              <a:rPr lang="he-IL"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533404"/>
            <a:ext cx="1981200" cy="5257799"/>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33400" y="533402"/>
            <a:ext cx="5943600" cy="525780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pPr>
              <a:defRPr/>
            </a:pPr>
            <a:endParaRPr lang="en-US"/>
          </a:p>
        </p:txBody>
      </p:sp>
      <p:sp>
        <p:nvSpPr>
          <p:cNvPr id="5" name="Footer Placeholder 4"/>
          <p:cNvSpPr>
            <a:spLocks noGrp="1"/>
          </p:cNvSpPr>
          <p:nvPr>
            <p:ph type="ftr" sz="quarter" idx="11"/>
          </p:nvPr>
        </p:nvSpPr>
        <p:spPr/>
        <p:txBody>
          <a:bodyPr/>
          <a:lstStyle>
            <a:extLst/>
          </a:lstStyle>
          <a:p>
            <a:pPr>
              <a:defRPr/>
            </a:pPr>
            <a:endParaRPr lang="en-US"/>
          </a:p>
        </p:txBody>
      </p:sp>
      <p:sp>
        <p:nvSpPr>
          <p:cNvPr id="6" name="Slide Number Placeholder 5"/>
          <p:cNvSpPr>
            <a:spLocks noGrp="1"/>
          </p:cNvSpPr>
          <p:nvPr>
            <p:ph type="sldNum" sz="quarter" idx="12"/>
          </p:nvPr>
        </p:nvSpPr>
        <p:spPr/>
        <p:txBody>
          <a:bodyPr/>
          <a:lstStyle>
            <a:extLst/>
          </a:lstStyle>
          <a:p>
            <a:pPr>
              <a:defRPr/>
            </a:pPr>
            <a:fld id="{4CA960F3-1F6A-4EBF-A308-36A048A3E3EE}" type="slidenum">
              <a:rPr lang="he-IL" smtClean="0"/>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4FAC570-0C35-4194-A82F-40B6BBD8E254}" type="slidenum">
              <a:rPr lang="he-IL"/>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25963"/>
          </a:xfrm>
        </p:spPr>
        <p:txBody>
          <a:bodyPr/>
          <a:lstStyle/>
          <a:p>
            <a:pPr lvl="0"/>
            <a:endParaRPr lang="en-US" noProof="0" smtClean="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15C99C3-1C6C-429F-B1C0-1D122339C430}" type="slidenum">
              <a:rPr lang="he-IL"/>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Rounded Rectangle 8"/>
          <p:cNvSpPr/>
          <p:nvPr/>
        </p:nvSpPr>
        <p:spPr>
          <a:xfrm>
            <a:off x="41859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3" name="Title Placeholder 12"/>
          <p:cNvSpPr>
            <a:spLocks noGrp="1"/>
          </p:cNvSpPr>
          <p:nvPr>
            <p:ph type="title"/>
          </p:nvPr>
        </p:nvSpPr>
        <p:spPr>
          <a:xfrm>
            <a:off x="502920" y="4985590"/>
            <a:ext cx="8183880" cy="1051560"/>
          </a:xfrm>
          <a:prstGeom prst="rect">
            <a:avLst/>
          </a:prstGeom>
        </p:spPr>
        <p:txBody>
          <a:bodyPr vert="horz" anchor="b">
            <a:normAutofit/>
          </a:bodyPr>
          <a:lstStyle>
            <a:extLst/>
          </a:lstStyle>
          <a:p>
            <a:r>
              <a:rPr kumimoji="0" lang="en-US" smtClean="0"/>
              <a:t>Click to edit Master title style</a:t>
            </a:r>
            <a:endParaRPr kumimoji="0" lang="en-US"/>
          </a:p>
        </p:txBody>
      </p:sp>
      <p:sp>
        <p:nvSpPr>
          <p:cNvPr id="4" name="Text Placeholder 3"/>
          <p:cNvSpPr>
            <a:spLocks noGrp="1"/>
          </p:cNvSpPr>
          <p:nvPr>
            <p:ph type="body" idx="1"/>
          </p:nvPr>
        </p:nvSpPr>
        <p:spPr>
          <a:xfrm>
            <a:off x="502920" y="530352"/>
            <a:ext cx="8183880" cy="4187952"/>
          </a:xfrm>
          <a:prstGeom prst="rect">
            <a:avLst/>
          </a:prstGeom>
        </p:spPr>
        <p:txBody>
          <a:bodyPr vert="horz" lIns="182880" tIns="91440">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5" name="Date Placeholder 24"/>
          <p:cNvSpPr>
            <a:spLocks noGrp="1"/>
          </p:cNvSpPr>
          <p:nvPr>
            <p:ph type="dt" sz="half" idx="2"/>
          </p:nvPr>
        </p:nvSpPr>
        <p:spPr>
          <a:xfrm>
            <a:off x="3776328" y="6111875"/>
            <a:ext cx="2286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pPr>
              <a:defRPr/>
            </a:pPr>
            <a:endParaRPr lang="en-US"/>
          </a:p>
        </p:txBody>
      </p:sp>
      <p:sp>
        <p:nvSpPr>
          <p:cNvPr id="18" name="Footer Placeholder 17"/>
          <p:cNvSpPr>
            <a:spLocks noGrp="1"/>
          </p:cNvSpPr>
          <p:nvPr>
            <p:ph type="ftr" sz="quarter" idx="3"/>
          </p:nvPr>
        </p:nvSpPr>
        <p:spPr>
          <a:xfrm>
            <a:off x="6062328" y="6111875"/>
            <a:ext cx="2286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pPr>
              <a:defRPr/>
            </a:pPr>
            <a:endParaRPr lang="en-US"/>
          </a:p>
        </p:txBody>
      </p:sp>
      <p:sp>
        <p:nvSpPr>
          <p:cNvPr id="5" name="Slide Number Placeholder 4"/>
          <p:cNvSpPr>
            <a:spLocks noGrp="1"/>
          </p:cNvSpPr>
          <p:nvPr>
            <p:ph type="sldNum" sz="quarter" idx="4"/>
          </p:nvPr>
        </p:nvSpPr>
        <p:spPr>
          <a:xfrm>
            <a:off x="8348328" y="6111875"/>
            <a:ext cx="4572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pPr>
              <a:defRPr/>
            </a:pPr>
            <a:fld id="{2A8145A9-AED8-4C78-AFE0-827FF5D97565}" type="slidenum">
              <a:rPr lang="he-IL"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txStyles>
    <p:title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l" rtl="0"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8.emf"/><Relationship Id="rId4" Type="http://schemas.openxmlformats.org/officeDocument/2006/relationships/oleObject" Target="../embeddings/Microsoft_Excel_97-2003_Worksheet1.xls"/></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9.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10.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vmlDrawing" Target="../drawings/vmlDrawing4.vml"/><Relationship Id="rId5" Type="http://schemas.openxmlformats.org/officeDocument/2006/relationships/image" Target="../media/image11.emf"/><Relationship Id="rId4" Type="http://schemas.openxmlformats.org/officeDocument/2006/relationships/oleObject" Target="../embeddings/Microsoft_Excel_97-2003_Worksheet2.xls"/></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2.emf"/><Relationship Id="rId4" Type="http://schemas.openxmlformats.org/officeDocument/2006/relationships/oleObject" Target="../embeddings/Microsoft_Excel_97-2003_Worksheet3.xls"/></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4.emf"/><Relationship Id="rId4" Type="http://schemas.openxmlformats.org/officeDocument/2006/relationships/oleObject" Target="../embeddings/Microsoft_Excel_97-2003_Worksheet4.xls"/></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7.wmf"/><Relationship Id="rId5" Type="http://schemas.openxmlformats.org/officeDocument/2006/relationships/oleObject" Target="../embeddings/oleObject8.bin"/><Relationship Id="rId4" Type="http://schemas.openxmlformats.org/officeDocument/2006/relationships/image" Target="../media/image16.wmf"/></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23.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0.wmf"/><Relationship Id="rId11" Type="http://schemas.openxmlformats.org/officeDocument/2006/relationships/oleObject" Target="../embeddings/oleObject13.bin"/><Relationship Id="rId5" Type="http://schemas.openxmlformats.org/officeDocument/2006/relationships/oleObject" Target="../embeddings/oleObject10.bin"/><Relationship Id="rId10" Type="http://schemas.openxmlformats.org/officeDocument/2006/relationships/image" Target="../media/image22.wmf"/><Relationship Id="rId4" Type="http://schemas.openxmlformats.org/officeDocument/2006/relationships/image" Target="../media/image19.wmf"/><Relationship Id="rId9" Type="http://schemas.openxmlformats.org/officeDocument/2006/relationships/oleObject" Target="../embeddings/oleObject12.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26.emf"/><Relationship Id="rId4" Type="http://schemas.openxmlformats.org/officeDocument/2006/relationships/package" Target="../embeddings/Microsoft_Word_Document1.docx"/></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27.emf"/><Relationship Id="rId4" Type="http://schemas.openxmlformats.org/officeDocument/2006/relationships/package" Target="../embeddings/Microsoft_Word_Document2.docx"/></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28.emf"/><Relationship Id="rId4" Type="http://schemas.openxmlformats.org/officeDocument/2006/relationships/package" Target="../embeddings/Microsoft_Word_Document3.docx"/></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3.xml"/><Relationship Id="rId1" Type="http://schemas.openxmlformats.org/officeDocument/2006/relationships/vmlDrawing" Target="../drawings/vmlDrawing12.vml"/><Relationship Id="rId5" Type="http://schemas.openxmlformats.org/officeDocument/2006/relationships/image" Target="../media/image29.emf"/><Relationship Id="rId4" Type="http://schemas.openxmlformats.org/officeDocument/2006/relationships/package" Target="../embeddings/Microsoft_Word_Document4.docx"/></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ctrTitle"/>
          </p:nvPr>
        </p:nvSpPr>
        <p:spPr/>
        <p:txBody>
          <a:bodyPr>
            <a:normAutofit fontScale="90000"/>
          </a:bodyPr>
          <a:lstStyle/>
          <a:p>
            <a:pPr algn="l"/>
            <a:r>
              <a:rPr lang="en-US" sz="3200" dirty="0" err="1">
                <a:solidFill>
                  <a:schemeClr val="accent1"/>
                </a:solidFill>
                <a:latin typeface="Verdana" pitchFamily="34" charset="0"/>
                <a:ea typeface="Verdana" pitchFamily="34" charset="0"/>
                <a:cs typeface="Verdana" pitchFamily="34" charset="0"/>
              </a:rPr>
              <a:t>Ain’t</a:t>
            </a:r>
            <a:r>
              <a:rPr lang="en-US" sz="3200" dirty="0">
                <a:solidFill>
                  <a:schemeClr val="accent1"/>
                </a:solidFill>
                <a:latin typeface="Verdana" pitchFamily="34" charset="0"/>
                <a:ea typeface="Verdana" pitchFamily="34" charset="0"/>
                <a:cs typeface="Verdana" pitchFamily="34" charset="0"/>
              </a:rPr>
              <a:t> It ‘Suite’? </a:t>
            </a:r>
            <a:br>
              <a:rPr lang="en-US" sz="3200" dirty="0">
                <a:solidFill>
                  <a:schemeClr val="accent1"/>
                </a:solidFill>
                <a:latin typeface="Verdana" pitchFamily="34" charset="0"/>
                <a:ea typeface="Verdana" pitchFamily="34" charset="0"/>
                <a:cs typeface="Verdana" pitchFamily="34" charset="0"/>
              </a:rPr>
            </a:br>
            <a:r>
              <a:rPr lang="en-US" sz="3200" dirty="0">
                <a:solidFill>
                  <a:schemeClr val="accent1"/>
                </a:solidFill>
                <a:latin typeface="Verdana" pitchFamily="34" charset="0"/>
                <a:ea typeface="Verdana" pitchFamily="34" charset="0"/>
                <a:cs typeface="Verdana" pitchFamily="34" charset="0"/>
              </a:rPr>
              <a:t>Bundling in the PC Office Software </a:t>
            </a:r>
            <a:r>
              <a:rPr lang="en-US" sz="3200" dirty="0" smtClean="0">
                <a:solidFill>
                  <a:schemeClr val="accent1"/>
                </a:solidFill>
                <a:latin typeface="Verdana" pitchFamily="34" charset="0"/>
                <a:ea typeface="Verdana" pitchFamily="34" charset="0"/>
                <a:cs typeface="Verdana" pitchFamily="34" charset="0"/>
              </a:rPr>
              <a:t>Market</a:t>
            </a:r>
            <a:r>
              <a:rPr lang="en-US" sz="3200" b="1" dirty="0" smtClean="0">
                <a:solidFill>
                  <a:schemeClr val="accent1"/>
                </a:solidFill>
                <a:latin typeface="Verdana" pitchFamily="34" charset="0"/>
                <a:ea typeface="Verdana" pitchFamily="34" charset="0"/>
                <a:cs typeface="Verdana" pitchFamily="34" charset="0"/>
              </a:rPr>
              <a:t/>
            </a:r>
            <a:br>
              <a:rPr lang="en-US" sz="3200" b="1" dirty="0" smtClean="0">
                <a:solidFill>
                  <a:schemeClr val="accent1"/>
                </a:solidFill>
                <a:latin typeface="Verdana" pitchFamily="34" charset="0"/>
                <a:ea typeface="Verdana" pitchFamily="34" charset="0"/>
                <a:cs typeface="Verdana" pitchFamily="34" charset="0"/>
              </a:rPr>
            </a:br>
            <a:endParaRPr lang="en-US" sz="2000" b="1" dirty="0" smtClean="0">
              <a:solidFill>
                <a:schemeClr val="accent1"/>
              </a:solidFill>
              <a:latin typeface="Verdana" pitchFamily="34" charset="0"/>
              <a:ea typeface="Verdana" pitchFamily="34" charset="0"/>
              <a:cs typeface="Verdana" pitchFamily="34" charset="0"/>
            </a:endParaRPr>
          </a:p>
        </p:txBody>
      </p:sp>
      <p:sp>
        <p:nvSpPr>
          <p:cNvPr id="2" name="Subtitle 1"/>
          <p:cNvSpPr>
            <a:spLocks noGrp="1"/>
          </p:cNvSpPr>
          <p:nvPr>
            <p:ph type="subTitle" idx="1"/>
          </p:nvPr>
        </p:nvSpPr>
        <p:spPr/>
        <p:txBody>
          <a:bodyPr>
            <a:noAutofit/>
          </a:bodyPr>
          <a:lstStyle/>
          <a:p>
            <a:pPr algn="ctr"/>
            <a:r>
              <a:rPr lang="en-US" sz="1800" dirty="0">
                <a:cs typeface="Times New Roman" pitchFamily="18" charset="0"/>
              </a:rPr>
              <a:t>Neil </a:t>
            </a:r>
            <a:r>
              <a:rPr lang="en-US" sz="1800" dirty="0" smtClean="0">
                <a:cs typeface="Times New Roman" pitchFamily="18" charset="0"/>
              </a:rPr>
              <a:t>Gandal, Sarit Markovich &amp; Michael Riordan</a:t>
            </a:r>
            <a:r>
              <a:rPr lang="en-US" sz="1800" i="1" dirty="0">
                <a:cs typeface="Times New Roman" pitchFamily="18" charset="0"/>
              </a:rPr>
              <a:t/>
            </a:r>
            <a:br>
              <a:rPr lang="en-US" sz="1800" i="1" dirty="0">
                <a:cs typeface="Times New Roman" pitchFamily="18" charset="0"/>
              </a:rPr>
            </a:br>
            <a:r>
              <a:rPr lang="en-US" sz="1800" b="1" dirty="0" smtClean="0">
                <a:cs typeface="Times New Roman" pitchFamily="18" charset="0"/>
              </a:rPr>
              <a:t>August, 2014</a:t>
            </a:r>
            <a:endParaRPr lang="en-US" sz="1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Take yourself back to the 90s</a:t>
            </a:r>
            <a:endParaRPr lang="en-US" dirty="0"/>
          </a:p>
        </p:txBody>
      </p:sp>
      <p:pic>
        <p:nvPicPr>
          <p:cNvPr id="70658" name="Picture 2" descr="http://www.thebiographychannel.co.uk/biographies/kurt-cobain/mainPhoto/cobain_225.jpg.htm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2950" y="1600200"/>
            <a:ext cx="1600200" cy="2133600"/>
          </a:xfrm>
          <a:prstGeom prst="rect">
            <a:avLst/>
          </a:prstGeom>
          <a:noFill/>
          <a:extLst>
            <a:ext uri="{909E8E84-426E-40DD-AFC4-6F175D3DCCD1}">
              <a14:hiddenFill xmlns:a14="http://schemas.microsoft.com/office/drawing/2010/main">
                <a:solidFill>
                  <a:srgbClr val="FFFFFF"/>
                </a:solidFill>
              </a14:hiddenFill>
            </a:ext>
          </a:extLst>
        </p:spPr>
      </p:pic>
      <p:pic>
        <p:nvPicPr>
          <p:cNvPr id="70660" name="Picture 4" descr="http://25.media.tumblr.com/c90f1460270e0fb095c1bc4d6dd40ac2/tumblr_mfock25xvl1s1zlyho1_40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0" y="1321572"/>
            <a:ext cx="2209800" cy="2209800"/>
          </a:xfrm>
          <a:prstGeom prst="rect">
            <a:avLst/>
          </a:prstGeom>
          <a:noFill/>
          <a:extLst>
            <a:ext uri="{909E8E84-426E-40DD-AFC4-6F175D3DCCD1}">
              <a14:hiddenFill xmlns:a14="http://schemas.microsoft.com/office/drawing/2010/main">
                <a:solidFill>
                  <a:srgbClr val="FFFFFF"/>
                </a:solidFill>
              </a14:hiddenFill>
            </a:ext>
          </a:extLst>
        </p:spPr>
      </p:pic>
      <p:pic>
        <p:nvPicPr>
          <p:cNvPr id="70662" name="Picture 6" descr="http://cdn.pastemagazine.com/www/blogs/lists/2012/07/10/pulpfiction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15000" y="1833519"/>
            <a:ext cx="2628900" cy="1752600"/>
          </a:xfrm>
          <a:prstGeom prst="rect">
            <a:avLst/>
          </a:prstGeom>
          <a:noFill/>
          <a:extLst>
            <a:ext uri="{909E8E84-426E-40DD-AFC4-6F175D3DCCD1}">
              <a14:hiddenFill xmlns:a14="http://schemas.microsoft.com/office/drawing/2010/main">
                <a:solidFill>
                  <a:srgbClr val="FFFFFF"/>
                </a:solidFill>
              </a14:hiddenFill>
            </a:ext>
          </a:extLst>
        </p:spPr>
      </p:pic>
      <p:pic>
        <p:nvPicPr>
          <p:cNvPr id="70664" name="Picture 8" descr="http://4.bp.blogspot.com/-26w-v6R-Ysg/UJ3y6tKm_eI/AAAAAAAAAQ4/WzSDM67Itzw/s1600/tomorrow-never-dies-03.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48200" y="3733800"/>
            <a:ext cx="3886200" cy="2185748"/>
          </a:xfrm>
          <a:prstGeom prst="rect">
            <a:avLst/>
          </a:prstGeom>
          <a:noFill/>
          <a:extLst>
            <a:ext uri="{909E8E84-426E-40DD-AFC4-6F175D3DCCD1}">
              <a14:hiddenFill xmlns:a14="http://schemas.microsoft.com/office/drawing/2010/main">
                <a:solidFill>
                  <a:srgbClr val="FFFFFF"/>
                </a:solidFill>
              </a14:hiddenFill>
            </a:ext>
          </a:extLst>
        </p:spPr>
      </p:pic>
      <p:pic>
        <p:nvPicPr>
          <p:cNvPr id="70666" name="Picture 10" descr="http://i.telegraph.co.uk/multimedia/archive/01240/1997-clinton_1240754c.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514600" y="2553653"/>
            <a:ext cx="3867150" cy="2488428"/>
          </a:xfrm>
          <a:prstGeom prst="rect">
            <a:avLst/>
          </a:prstGeom>
          <a:noFill/>
          <a:extLst>
            <a:ext uri="{909E8E84-426E-40DD-AFC4-6F175D3DCCD1}">
              <a14:hiddenFill xmlns:a14="http://schemas.microsoft.com/office/drawing/2010/main">
                <a:solidFill>
                  <a:srgbClr val="FFFFFF"/>
                </a:solidFill>
              </a14:hiddenFill>
            </a:ext>
          </a:extLst>
        </p:spPr>
      </p:pic>
      <p:pic>
        <p:nvPicPr>
          <p:cNvPr id="70668" name="Picture 12" descr="http://i.cdn.turner.com/si/multimedia/photo_gallery/1012/nba.all.time.christmas.performances/images/jordan_knicks.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38200" y="3840253"/>
            <a:ext cx="2286000" cy="2327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7576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65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000"/>
                                  </p:stCondLst>
                                  <p:childTnLst>
                                    <p:set>
                                      <p:cBhvr>
                                        <p:cTn id="9" dur="1" fill="hold">
                                          <p:stCondLst>
                                            <p:cond delay="0"/>
                                          </p:stCondLst>
                                        </p:cTn>
                                        <p:tgtEl>
                                          <p:spTgt spid="70660"/>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1000"/>
                                  </p:stCondLst>
                                  <p:childTnLst>
                                    <p:set>
                                      <p:cBhvr>
                                        <p:cTn id="12" dur="1" fill="hold">
                                          <p:stCondLst>
                                            <p:cond delay="0"/>
                                          </p:stCondLst>
                                        </p:cTn>
                                        <p:tgtEl>
                                          <p:spTgt spid="70662"/>
                                        </p:tgtEl>
                                        <p:attrNameLst>
                                          <p:attrName>style.visibility</p:attrName>
                                        </p:attrNameLst>
                                      </p:cBhvr>
                                      <p:to>
                                        <p:strVal val="visible"/>
                                      </p:to>
                                    </p:set>
                                  </p:childTnLst>
                                </p:cTn>
                              </p:par>
                            </p:childTnLst>
                          </p:cTn>
                        </p:par>
                        <p:par>
                          <p:cTn id="13" fill="hold">
                            <p:stCondLst>
                              <p:cond delay="2000"/>
                            </p:stCondLst>
                            <p:childTnLst>
                              <p:par>
                                <p:cTn id="14" presetID="1" presetClass="entr" presetSubtype="0" fill="hold" nodeType="afterEffect">
                                  <p:stCondLst>
                                    <p:cond delay="1000"/>
                                  </p:stCondLst>
                                  <p:childTnLst>
                                    <p:set>
                                      <p:cBhvr>
                                        <p:cTn id="15" dur="1" fill="hold">
                                          <p:stCondLst>
                                            <p:cond delay="0"/>
                                          </p:stCondLst>
                                        </p:cTn>
                                        <p:tgtEl>
                                          <p:spTgt spid="70664"/>
                                        </p:tgtEl>
                                        <p:attrNameLst>
                                          <p:attrName>style.visibility</p:attrName>
                                        </p:attrNameLst>
                                      </p:cBhvr>
                                      <p:to>
                                        <p:strVal val="visible"/>
                                      </p:to>
                                    </p:set>
                                  </p:childTnLst>
                                </p:cTn>
                              </p:par>
                            </p:childTnLst>
                          </p:cTn>
                        </p:par>
                        <p:par>
                          <p:cTn id="16" fill="hold">
                            <p:stCondLst>
                              <p:cond delay="3000"/>
                            </p:stCondLst>
                            <p:childTnLst>
                              <p:par>
                                <p:cTn id="17" presetID="1" presetClass="entr" presetSubtype="0" fill="hold" nodeType="afterEffect">
                                  <p:stCondLst>
                                    <p:cond delay="1000"/>
                                  </p:stCondLst>
                                  <p:childTnLst>
                                    <p:set>
                                      <p:cBhvr>
                                        <p:cTn id="18" dur="1" fill="hold">
                                          <p:stCondLst>
                                            <p:cond delay="0"/>
                                          </p:stCondLst>
                                        </p:cTn>
                                        <p:tgtEl>
                                          <p:spTgt spid="70668"/>
                                        </p:tgtEl>
                                        <p:attrNameLst>
                                          <p:attrName>style.visibility</p:attrName>
                                        </p:attrNameLst>
                                      </p:cBhvr>
                                      <p:to>
                                        <p:strVal val="visible"/>
                                      </p:to>
                                    </p:set>
                                  </p:childTnLst>
                                </p:cTn>
                              </p:par>
                            </p:childTnLst>
                          </p:cTn>
                        </p:par>
                        <p:par>
                          <p:cTn id="19" fill="hold">
                            <p:stCondLst>
                              <p:cond delay="4000"/>
                            </p:stCondLst>
                            <p:childTnLst>
                              <p:par>
                                <p:cTn id="20" presetID="1" presetClass="entr" presetSubtype="0" fill="hold" nodeType="afterEffect">
                                  <p:stCondLst>
                                    <p:cond delay="1000"/>
                                  </p:stCondLst>
                                  <p:childTnLst>
                                    <p:set>
                                      <p:cBhvr>
                                        <p:cTn id="21" dur="1" fill="hold">
                                          <p:stCondLst>
                                            <p:cond delay="0"/>
                                          </p:stCondLst>
                                        </p:cTn>
                                        <p:tgtEl>
                                          <p:spTgt spid="706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Take yourself back to the 90s</a:t>
            </a:r>
            <a:endParaRPr lang="en-US" dirty="0"/>
          </a:p>
        </p:txBody>
      </p:sp>
      <p:sp>
        <p:nvSpPr>
          <p:cNvPr id="3" name="Content Placeholder 2"/>
          <p:cNvSpPr>
            <a:spLocks noGrp="1"/>
          </p:cNvSpPr>
          <p:nvPr>
            <p:ph idx="1"/>
          </p:nvPr>
        </p:nvSpPr>
        <p:spPr>
          <a:xfrm>
            <a:off x="457200" y="1905000"/>
            <a:ext cx="8183880" cy="3959352"/>
          </a:xfrm>
        </p:spPr>
        <p:txBody>
          <a:bodyPr/>
          <a:lstStyle/>
          <a:p>
            <a:r>
              <a:rPr lang="en-US" dirty="0" smtClean="0"/>
              <a:t>What Office software did you use?</a:t>
            </a:r>
          </a:p>
          <a:p>
            <a:r>
              <a:rPr lang="en-US" dirty="0" smtClean="0"/>
              <a:t>Did you use a word processor?</a:t>
            </a:r>
          </a:p>
          <a:p>
            <a:pPr lvl="1"/>
            <a:r>
              <a:rPr lang="en-US" dirty="0" smtClean="0"/>
              <a:t>Word? WordPerfect?</a:t>
            </a:r>
          </a:p>
          <a:p>
            <a:r>
              <a:rPr lang="en-US" dirty="0" smtClean="0"/>
              <a:t>Did you use a spreadsheet?</a:t>
            </a:r>
          </a:p>
          <a:p>
            <a:pPr lvl="1"/>
            <a:r>
              <a:rPr lang="en-US" dirty="0" smtClean="0"/>
              <a:t>Excel? Lotus? Quattro-Pro?</a:t>
            </a:r>
          </a:p>
          <a:p>
            <a:r>
              <a:rPr lang="en-US" dirty="0" smtClean="0"/>
              <a:t>When did you buy your first suite?</a:t>
            </a:r>
          </a:p>
          <a:p>
            <a:pPr lvl="1"/>
            <a:r>
              <a:rPr lang="en-US" dirty="0" smtClean="0"/>
              <a:t>Microsoft’s? WordPerfect’s?</a:t>
            </a:r>
          </a:p>
          <a:p>
            <a:pPr lvl="1"/>
            <a:endParaRPr lang="en-US" dirty="0"/>
          </a:p>
        </p:txBody>
      </p:sp>
    </p:spTree>
    <p:extLst>
      <p:ext uri="{BB962C8B-B14F-4D97-AF65-F5344CB8AC3E}">
        <p14:creationId xmlns:p14="http://schemas.microsoft.com/office/powerpoint/2010/main" val="13993577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algn="ctr" eaLnBrk="1" hangingPunct="1"/>
            <a:r>
              <a:rPr lang="en-US" sz="3200" b="1" dirty="0" smtClean="0">
                <a:solidFill>
                  <a:schemeClr val="accent1"/>
                </a:solidFill>
                <a:cs typeface="Times New Roman" pitchFamily="18" charset="0"/>
              </a:rPr>
              <a:t>Questions</a:t>
            </a:r>
          </a:p>
        </p:txBody>
      </p:sp>
      <p:sp>
        <p:nvSpPr>
          <p:cNvPr id="3" name="Content Placeholder 2"/>
          <p:cNvSpPr>
            <a:spLocks noGrp="1"/>
          </p:cNvSpPr>
          <p:nvPr>
            <p:ph idx="1"/>
          </p:nvPr>
        </p:nvSpPr>
        <p:spPr/>
        <p:txBody>
          <a:bodyPr>
            <a:normAutofit/>
          </a:bodyPr>
          <a:lstStyle/>
          <a:p>
            <a:pPr>
              <a:lnSpc>
                <a:spcPct val="90000"/>
              </a:lnSpc>
              <a:spcBef>
                <a:spcPct val="50000"/>
              </a:spcBef>
            </a:pPr>
            <a:r>
              <a:rPr lang="en-US" dirty="0" smtClean="0">
                <a:cs typeface="Times New Roman" pitchFamily="18" charset="0"/>
              </a:rPr>
              <a:t>Focus: The effect of correlation of consumer preferences for spreadsheets &amp; word processors on profitability, welfare and strategic interaction</a:t>
            </a:r>
          </a:p>
          <a:p>
            <a:pPr>
              <a:lnSpc>
                <a:spcPct val="90000"/>
              </a:lnSpc>
              <a:spcBef>
                <a:spcPct val="50000"/>
              </a:spcBef>
            </a:pPr>
            <a:r>
              <a:rPr lang="en-US" dirty="0" smtClean="0">
                <a:latin typeface="+mj-lt"/>
                <a:cs typeface="Times New Roman" pitchFamily="18" charset="0"/>
              </a:rPr>
              <a:t>Does the introduction of the suite raise </a:t>
            </a:r>
            <a:r>
              <a:rPr lang="en-US" dirty="0">
                <a:latin typeface="+mj-lt"/>
                <a:cs typeface="Times New Roman" pitchFamily="18" charset="0"/>
              </a:rPr>
              <a:t>or lower consumer </a:t>
            </a:r>
            <a:r>
              <a:rPr lang="en-US" dirty="0" smtClean="0">
                <a:latin typeface="+mj-lt"/>
                <a:cs typeface="Times New Roman" pitchFamily="18" charset="0"/>
              </a:rPr>
              <a:t>surplus? </a:t>
            </a:r>
          </a:p>
          <a:p>
            <a:pPr>
              <a:lnSpc>
                <a:spcPct val="90000"/>
              </a:lnSpc>
              <a:spcBef>
                <a:spcPct val="50000"/>
              </a:spcBef>
            </a:pPr>
            <a:r>
              <a:rPr lang="en-US" dirty="0" smtClean="0">
                <a:latin typeface="+mj-lt"/>
                <a:cs typeface="Times New Roman" pitchFamily="18" charset="0"/>
              </a:rPr>
              <a:t>When do rivals prefer mixed bundling rather than pure bundling?  </a:t>
            </a:r>
            <a:endParaRPr lang="en-US" dirty="0">
              <a:latin typeface="+mj-lt"/>
              <a:cs typeface="Times New Roman" pitchFamily="18" charset="0"/>
            </a:endParaRPr>
          </a:p>
          <a:p>
            <a:endParaRPr lang="en-US" dirty="0">
              <a:latin typeface="+mj-lt"/>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33400" y="76200"/>
            <a:ext cx="8183880" cy="1051560"/>
          </a:xfrm>
        </p:spPr>
        <p:txBody>
          <a:bodyPr/>
          <a:lstStyle/>
          <a:p>
            <a:r>
              <a:rPr lang="en-US" sz="3600" b="1" dirty="0">
                <a:latin typeface="+mn-lt"/>
                <a:cs typeface="Times New Roman" pitchFamily="18" charset="0"/>
              </a:rPr>
              <a:t>What do we do/find?</a:t>
            </a:r>
            <a:endParaRPr lang="en-US" dirty="0">
              <a:latin typeface="+mn-lt"/>
            </a:endParaRPr>
          </a:p>
        </p:txBody>
      </p:sp>
      <p:sp>
        <p:nvSpPr>
          <p:cNvPr id="3" name="Content Placeholder 2"/>
          <p:cNvSpPr>
            <a:spLocks noGrp="1"/>
          </p:cNvSpPr>
          <p:nvPr>
            <p:ph idx="1"/>
          </p:nvPr>
        </p:nvSpPr>
        <p:spPr>
          <a:xfrm>
            <a:off x="457200" y="1295400"/>
            <a:ext cx="8183880" cy="4724400"/>
          </a:xfrm>
        </p:spPr>
        <p:txBody>
          <a:bodyPr>
            <a:normAutofit fontScale="70000" lnSpcReduction="20000"/>
          </a:bodyPr>
          <a:lstStyle/>
          <a:p>
            <a:pPr>
              <a:lnSpc>
                <a:spcPct val="90000"/>
              </a:lnSpc>
              <a:spcBef>
                <a:spcPct val="50000"/>
              </a:spcBef>
              <a:spcAft>
                <a:spcPts val="600"/>
              </a:spcAft>
            </a:pPr>
            <a:r>
              <a:rPr lang="en-US" dirty="0" smtClean="0">
                <a:cs typeface="Times New Roman" pitchFamily="18" charset="0"/>
              </a:rPr>
              <a:t>Estimate </a:t>
            </a:r>
            <a:r>
              <a:rPr lang="en-US" dirty="0">
                <a:cs typeface="Times New Roman" pitchFamily="18" charset="0"/>
              </a:rPr>
              <a:t>correlation in consumer preferences across spreadsheets and word processors using a discrete choice model</a:t>
            </a:r>
          </a:p>
          <a:p>
            <a:pPr>
              <a:lnSpc>
                <a:spcPct val="90000"/>
              </a:lnSpc>
              <a:spcBef>
                <a:spcPct val="50000"/>
              </a:spcBef>
              <a:spcAft>
                <a:spcPts val="600"/>
              </a:spcAft>
            </a:pPr>
            <a:r>
              <a:rPr lang="en-US" dirty="0">
                <a:cs typeface="Times New Roman" pitchFamily="18" charset="0"/>
              </a:rPr>
              <a:t>Modeling + Econometric analysis are inputs. </a:t>
            </a:r>
            <a:r>
              <a:rPr lang="en-US" dirty="0" smtClean="0">
                <a:cs typeface="Times New Roman" pitchFamily="18" charset="0"/>
              </a:rPr>
              <a:t>Use parameter </a:t>
            </a:r>
            <a:r>
              <a:rPr lang="en-US" dirty="0">
                <a:cs typeface="Times New Roman" pitchFamily="18" charset="0"/>
              </a:rPr>
              <a:t>values </a:t>
            </a:r>
            <a:r>
              <a:rPr lang="en-US" dirty="0" smtClean="0">
                <a:cs typeface="Times New Roman" pitchFamily="18" charset="0"/>
              </a:rPr>
              <a:t>to </a:t>
            </a:r>
            <a:r>
              <a:rPr lang="en-US" dirty="0">
                <a:cs typeface="Times New Roman" pitchFamily="18" charset="0"/>
              </a:rPr>
              <a:t>conduct simulations/counterfactuals </a:t>
            </a:r>
            <a:endParaRPr lang="en-US" dirty="0" smtClean="0">
              <a:cs typeface="Times New Roman" pitchFamily="18" charset="0"/>
            </a:endParaRPr>
          </a:p>
          <a:p>
            <a:pPr>
              <a:lnSpc>
                <a:spcPct val="90000"/>
              </a:lnSpc>
              <a:spcBef>
                <a:spcPct val="50000"/>
              </a:spcBef>
              <a:spcAft>
                <a:spcPts val="600"/>
              </a:spcAft>
            </a:pPr>
            <a:r>
              <a:rPr lang="en-US" dirty="0" smtClean="0">
                <a:cs typeface="Times New Roman" pitchFamily="18" charset="0"/>
              </a:rPr>
              <a:t>Main estimation results:</a:t>
            </a:r>
          </a:p>
          <a:p>
            <a:pPr lvl="1">
              <a:lnSpc>
                <a:spcPct val="90000"/>
              </a:lnSpc>
              <a:spcBef>
                <a:spcPct val="50000"/>
              </a:spcBef>
              <a:spcAft>
                <a:spcPts val="600"/>
              </a:spcAft>
            </a:pPr>
            <a:r>
              <a:rPr lang="en-US" dirty="0" smtClean="0">
                <a:cs typeface="Times New Roman" pitchFamily="18" charset="0"/>
              </a:rPr>
              <a:t>Positive </a:t>
            </a:r>
            <a:r>
              <a:rPr lang="en-US" dirty="0">
                <a:cs typeface="Times New Roman" pitchFamily="18" charset="0"/>
              </a:rPr>
              <a:t>correlation of consumer values for spreadsheets and word </a:t>
            </a:r>
            <a:r>
              <a:rPr lang="en-US" dirty="0" smtClean="0">
                <a:cs typeface="Times New Roman" pitchFamily="18" charset="0"/>
              </a:rPr>
              <a:t>processors</a:t>
            </a:r>
          </a:p>
          <a:p>
            <a:pPr lvl="1">
              <a:lnSpc>
                <a:spcPct val="90000"/>
              </a:lnSpc>
              <a:spcBef>
                <a:spcPct val="50000"/>
              </a:spcBef>
              <a:spcAft>
                <a:spcPts val="600"/>
              </a:spcAft>
            </a:pPr>
            <a:r>
              <a:rPr lang="en-US" dirty="0" smtClean="0">
                <a:cs typeface="Times New Roman" pitchFamily="18" charset="0"/>
              </a:rPr>
              <a:t>Bonus </a:t>
            </a:r>
            <a:r>
              <a:rPr lang="en-US" sz="2000" dirty="0" smtClean="0">
                <a:cs typeface="Times New Roman" pitchFamily="18" charset="0"/>
              </a:rPr>
              <a:t>value for suites</a:t>
            </a:r>
          </a:p>
          <a:p>
            <a:pPr lvl="1">
              <a:lnSpc>
                <a:spcPct val="90000"/>
              </a:lnSpc>
              <a:spcBef>
                <a:spcPct val="50000"/>
              </a:spcBef>
              <a:spcAft>
                <a:spcPts val="600"/>
              </a:spcAft>
            </a:pPr>
            <a:r>
              <a:rPr lang="en-US" dirty="0">
                <a:cs typeface="Times New Roman" pitchFamily="18" charset="0"/>
              </a:rPr>
              <a:t>A</a:t>
            </a:r>
            <a:r>
              <a:rPr lang="en-US" sz="2000" dirty="0" smtClean="0">
                <a:cs typeface="Times New Roman" pitchFamily="18" charset="0"/>
              </a:rPr>
              <a:t>n advantage for Microsoft products. </a:t>
            </a:r>
          </a:p>
          <a:p>
            <a:pPr>
              <a:spcAft>
                <a:spcPts val="600"/>
              </a:spcAft>
            </a:pPr>
            <a:r>
              <a:rPr lang="en-US" sz="2400" dirty="0" smtClean="0">
                <a:cs typeface="Times New Roman" pitchFamily="18" charset="0"/>
              </a:rPr>
              <a:t>Main simulations results:</a:t>
            </a:r>
          </a:p>
          <a:p>
            <a:pPr lvl="1">
              <a:spcAft>
                <a:spcPts val="600"/>
              </a:spcAft>
            </a:pPr>
            <a:r>
              <a:rPr lang="en-US" sz="2000" dirty="0" smtClean="0">
                <a:cs typeface="Times New Roman" pitchFamily="18" charset="0"/>
              </a:rPr>
              <a:t>Greater correlation enhances the profitability of bundling</a:t>
            </a:r>
          </a:p>
          <a:p>
            <a:pPr lvl="2">
              <a:spcAft>
                <a:spcPts val="600"/>
              </a:spcAft>
            </a:pPr>
            <a:r>
              <a:rPr lang="en-US" sz="1800" dirty="0" smtClean="0">
                <a:cs typeface="Times New Roman" pitchFamily="18" charset="0"/>
              </a:rPr>
              <a:t>Market expansion and suite bonus effects</a:t>
            </a:r>
          </a:p>
          <a:p>
            <a:pPr lvl="1">
              <a:spcAft>
                <a:spcPts val="600"/>
              </a:spcAft>
            </a:pPr>
            <a:r>
              <a:rPr lang="en-US" sz="2000" dirty="0" smtClean="0">
                <a:cs typeface="Times New Roman" pitchFamily="18" charset="0"/>
              </a:rPr>
              <a:t>The introduction of Microsoft’s Office increased consumer welfare</a:t>
            </a:r>
          </a:p>
          <a:p>
            <a:pPr lvl="1">
              <a:spcAft>
                <a:spcPts val="600"/>
              </a:spcAft>
            </a:pPr>
            <a:r>
              <a:rPr lang="en-US" dirty="0" smtClean="0">
                <a:cs typeface="Times New Roman" pitchFamily="18" charset="0"/>
              </a:rPr>
              <a:t>Competitors may be better off under mixed bundling, relative to pure bundling</a:t>
            </a:r>
            <a:endParaRPr lang="en-US" sz="2000" dirty="0" smtClean="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noFill/>
        </p:spPr>
        <p:txBody>
          <a:bodyPr>
            <a:normAutofit/>
          </a:bodyPr>
          <a:lstStyle/>
          <a:p>
            <a:pPr eaLnBrk="1" hangingPunct="1"/>
            <a:r>
              <a:rPr lang="en-US" sz="2600" dirty="0" smtClean="0">
                <a:solidFill>
                  <a:schemeClr val="accent1"/>
                </a:solidFill>
                <a:latin typeface="+mn-lt"/>
                <a:cs typeface="Times New Roman" pitchFamily="18" charset="0"/>
              </a:rPr>
              <a:t>Evolution of the PC Office Software Market</a:t>
            </a:r>
          </a:p>
        </p:txBody>
      </p:sp>
      <p:sp>
        <p:nvSpPr>
          <p:cNvPr id="18436" name="Rectangle 3"/>
          <p:cNvSpPr>
            <a:spLocks noGrp="1" noChangeArrowheads="1"/>
          </p:cNvSpPr>
          <p:nvPr>
            <p:ph idx="1"/>
          </p:nvPr>
        </p:nvSpPr>
        <p:spPr>
          <a:noFill/>
        </p:spPr>
        <p:txBody>
          <a:bodyPr>
            <a:normAutofit fontScale="77500" lnSpcReduction="20000"/>
          </a:bodyPr>
          <a:lstStyle/>
          <a:p>
            <a:pPr eaLnBrk="1" hangingPunct="1"/>
            <a:r>
              <a:rPr lang="en-US" sz="2400" dirty="0" smtClean="0">
                <a:cs typeface="Times New Roman" pitchFamily="18" charset="0"/>
              </a:rPr>
              <a:t>The 1990’s saw dramatic structural shifts in office software market</a:t>
            </a:r>
          </a:p>
          <a:p>
            <a:pPr eaLnBrk="1" hangingPunct="1"/>
            <a:endParaRPr lang="en-US" sz="2400" dirty="0" smtClean="0">
              <a:cs typeface="Times New Roman" pitchFamily="18" charset="0"/>
            </a:endParaRPr>
          </a:p>
          <a:p>
            <a:pPr eaLnBrk="1" hangingPunct="1"/>
            <a:r>
              <a:rPr lang="en-US" sz="2400" dirty="0" smtClean="0">
                <a:cs typeface="Times New Roman" pitchFamily="18" charset="0"/>
              </a:rPr>
              <a:t>Tremendous growth between 1991-1998.</a:t>
            </a:r>
          </a:p>
          <a:p>
            <a:pPr eaLnBrk="1" hangingPunct="1"/>
            <a:endParaRPr lang="en-US" sz="2400" dirty="0" smtClean="0">
              <a:cs typeface="Times New Roman" pitchFamily="18" charset="0"/>
            </a:endParaRPr>
          </a:p>
          <a:p>
            <a:pPr eaLnBrk="1" hangingPunct="1"/>
            <a:r>
              <a:rPr lang="en-US" sz="2400" dirty="0" smtClean="0">
                <a:cs typeface="Times New Roman" pitchFamily="18" charset="0"/>
              </a:rPr>
              <a:t>Shift from DOS to Windows operating system.</a:t>
            </a:r>
          </a:p>
          <a:p>
            <a:pPr eaLnBrk="1" hangingPunct="1"/>
            <a:endParaRPr lang="en-US" sz="2400" dirty="0" smtClean="0">
              <a:cs typeface="Times New Roman" pitchFamily="18" charset="0"/>
            </a:endParaRPr>
          </a:p>
          <a:p>
            <a:pPr eaLnBrk="1" hangingPunct="1"/>
            <a:r>
              <a:rPr lang="en-US" sz="2400" dirty="0" smtClean="0">
                <a:cs typeface="Times New Roman" pitchFamily="18" charset="0"/>
              </a:rPr>
              <a:t>Shift in market leadership away from Lotus (in spreadsheets) and WordPerfect (in word processors) to Microsoft.</a:t>
            </a:r>
          </a:p>
          <a:p>
            <a:pPr eaLnBrk="1" hangingPunct="1"/>
            <a:endParaRPr lang="en-US" sz="2400" dirty="0" smtClean="0">
              <a:cs typeface="Times New Roman" pitchFamily="18" charset="0"/>
            </a:endParaRPr>
          </a:p>
          <a:p>
            <a:pPr eaLnBrk="1" hangingPunct="1"/>
            <a:r>
              <a:rPr lang="en-US" sz="2400" dirty="0" smtClean="0">
                <a:cs typeface="Times New Roman" pitchFamily="18" charset="0"/>
              </a:rPr>
              <a:t>Change in marketing strategy from selling components to suites.</a:t>
            </a:r>
          </a:p>
          <a:p>
            <a:pPr eaLnBrk="1" hangingPunct="1"/>
            <a:endParaRPr lang="en-US" sz="2400" dirty="0" smtClean="0">
              <a:cs typeface="Times New Roman" pitchFamily="18" charset="0"/>
            </a:endParaRPr>
          </a:p>
          <a:p>
            <a:pPr eaLnBrk="1" hangingPunct="1"/>
            <a:r>
              <a:rPr lang="en-US" sz="2400" dirty="0" smtClean="0">
                <a:cs typeface="Times New Roman" pitchFamily="18" charset="0"/>
              </a:rPr>
              <a:t>LM: for the period we analyze, most 'sales' of office software were direct to consumers rather than via OEM market.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3"/>
          <p:cNvGraphicFramePr>
            <a:graphicFrameLocks noChangeAspect="1"/>
          </p:cNvGraphicFramePr>
          <p:nvPr>
            <p:extLst>
              <p:ext uri="{D42A27DB-BD31-4B8C-83A1-F6EECF244321}">
                <p14:modId xmlns:p14="http://schemas.microsoft.com/office/powerpoint/2010/main" val="2772208078"/>
              </p:ext>
            </p:extLst>
          </p:nvPr>
        </p:nvGraphicFramePr>
        <p:xfrm>
          <a:off x="381000" y="1066800"/>
          <a:ext cx="8466138" cy="5248275"/>
        </p:xfrm>
        <a:graphic>
          <a:graphicData uri="http://schemas.openxmlformats.org/presentationml/2006/ole">
            <mc:AlternateContent xmlns:mc="http://schemas.openxmlformats.org/markup-compatibility/2006">
              <mc:Choice xmlns:v="urn:schemas-microsoft-com:vml" Requires="v">
                <p:oleObj spid="_x0000_s1046" name="Worksheet" r:id="rId4" imgW="9448736" imgH="5391214" progId="Excel.Sheet.8">
                  <p:embed/>
                </p:oleObj>
              </mc:Choice>
              <mc:Fallback>
                <p:oleObj name="Worksheet" r:id="rId4" imgW="9448736" imgH="5391214" progId="Excel.Sheet.8">
                  <p:embed/>
                  <p:pic>
                    <p:nvPicPr>
                      <p:cNvPr id="0"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1066800"/>
                        <a:ext cx="8466138" cy="5248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8" name="Rectangle 4"/>
          <p:cNvSpPr>
            <a:spLocks noGrp="1" noChangeArrowheads="1"/>
          </p:cNvSpPr>
          <p:nvPr>
            <p:ph type="title"/>
          </p:nvPr>
        </p:nvSpPr>
        <p:spPr>
          <a:xfrm>
            <a:off x="457200" y="457200"/>
            <a:ext cx="8229600" cy="762000"/>
          </a:xfrm>
        </p:spPr>
        <p:txBody>
          <a:bodyPr>
            <a:noAutofit/>
          </a:bodyPr>
          <a:lstStyle/>
          <a:p>
            <a:pPr algn="ctr" eaLnBrk="1" hangingPunct="1"/>
            <a:r>
              <a:rPr lang="en-US" sz="2400" dirty="0" smtClean="0">
                <a:cs typeface="Times New Roman" pitchFamily="18" charset="0"/>
              </a:rPr>
              <a:t>The market grew steadily </a:t>
            </a:r>
            <a:br>
              <a:rPr lang="en-US" sz="2400" dirty="0" smtClean="0">
                <a:cs typeface="Times New Roman" pitchFamily="18" charset="0"/>
              </a:rPr>
            </a:br>
            <a:r>
              <a:rPr lang="en-US" sz="2400" dirty="0" smtClean="0">
                <a:cs typeface="Times New Roman" pitchFamily="18" charset="0"/>
              </a:rPr>
              <a:t>Windows quickly replaced DOS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10"/>
          <p:cNvGraphicFramePr>
            <a:graphicFrameLocks noGrp="1" noChangeAspect="1"/>
          </p:cNvGraphicFramePr>
          <p:nvPr>
            <p:ph/>
          </p:nvPr>
        </p:nvGraphicFramePr>
        <p:xfrm>
          <a:off x="781050" y="561975"/>
          <a:ext cx="7581900" cy="5276850"/>
        </p:xfrm>
        <a:graphic>
          <a:graphicData uri="http://schemas.openxmlformats.org/presentationml/2006/ole">
            <mc:AlternateContent xmlns:mc="http://schemas.openxmlformats.org/markup-compatibility/2006">
              <mc:Choice xmlns:v="urn:schemas-microsoft-com:vml" Requires="v">
                <p:oleObj spid="_x0000_s2068" name="Chart" r:id="rId3" imgW="7581900" imgH="5277002" progId="">
                  <p:embed/>
                </p:oleObj>
              </mc:Choice>
              <mc:Fallback>
                <p:oleObj name="Chart" r:id="rId3" imgW="7581900" imgH="5277002" progId="">
                  <p:embed/>
                  <p:pic>
                    <p:nvPicPr>
                      <p:cNvPr id="0" name="Picture 19"/>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1050" y="561975"/>
                        <a:ext cx="7581900" cy="5276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8"/>
          <p:cNvGraphicFramePr>
            <a:graphicFrameLocks noGrp="1" noChangeAspect="1"/>
          </p:cNvGraphicFramePr>
          <p:nvPr>
            <p:ph/>
          </p:nvPr>
        </p:nvGraphicFramePr>
        <p:xfrm>
          <a:off x="457200" y="858838"/>
          <a:ext cx="8229600" cy="4683125"/>
        </p:xfrm>
        <a:graphic>
          <a:graphicData uri="http://schemas.openxmlformats.org/presentationml/2006/ole">
            <mc:AlternateContent xmlns:mc="http://schemas.openxmlformats.org/markup-compatibility/2006">
              <mc:Choice xmlns:v="urn:schemas-microsoft-com:vml" Requires="v">
                <p:oleObj spid="_x0000_s3092" name="Chart" r:id="rId3" imgW="9525000" imgH="5419649" progId="">
                  <p:embed/>
                </p:oleObj>
              </mc:Choice>
              <mc:Fallback>
                <p:oleObj name="Chart" r:id="rId3" imgW="9525000" imgH="5419649" progId="">
                  <p:embed/>
                  <p:pic>
                    <p:nvPicPr>
                      <p:cNvPr id="0" name="Picture 19"/>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858838"/>
                        <a:ext cx="8229600" cy="468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4"/>
          <p:cNvSpPr>
            <a:spLocks noGrp="1" noChangeArrowheads="1"/>
          </p:cNvSpPr>
          <p:nvPr>
            <p:ph type="title"/>
          </p:nvPr>
        </p:nvSpPr>
        <p:spPr>
          <a:xfrm>
            <a:off x="685800" y="-60960"/>
            <a:ext cx="8183880" cy="1051560"/>
          </a:xfrm>
        </p:spPr>
        <p:txBody>
          <a:bodyPr>
            <a:normAutofit/>
          </a:bodyPr>
          <a:lstStyle/>
          <a:p>
            <a:pPr eaLnBrk="1" hangingPunct="1"/>
            <a:r>
              <a:rPr lang="en-US" sz="2400" b="1" dirty="0" smtClean="0">
                <a:cs typeface="Times New Roman" pitchFamily="18" charset="0"/>
              </a:rPr>
              <a:t>Office suites became increasingly important</a:t>
            </a:r>
          </a:p>
        </p:txBody>
      </p:sp>
      <p:sp>
        <p:nvSpPr>
          <p:cNvPr id="4100" name="Rectangle 6"/>
          <p:cNvSpPr>
            <a:spLocks noChangeArrowheads="1"/>
          </p:cNvSpPr>
          <p:nvPr/>
        </p:nvSpPr>
        <p:spPr bwMode="auto">
          <a:xfrm>
            <a:off x="0" y="1862138"/>
            <a:ext cx="9144000" cy="0"/>
          </a:xfrm>
          <a:prstGeom prst="rect">
            <a:avLst/>
          </a:prstGeom>
          <a:noFill/>
          <a:ln w="9525">
            <a:noFill/>
            <a:miter lim="800000"/>
            <a:headEnd/>
            <a:tailEnd/>
          </a:ln>
        </p:spPr>
        <p:txBody>
          <a:bodyPr wrap="none" anchor="ctr">
            <a:spAutoFit/>
          </a:bodyPr>
          <a:lstStyle/>
          <a:p>
            <a:endParaRPr lang="he-IL"/>
          </a:p>
        </p:txBody>
      </p:sp>
      <p:graphicFrame>
        <p:nvGraphicFramePr>
          <p:cNvPr id="4098" name="Object 5"/>
          <p:cNvGraphicFramePr>
            <a:graphicFrameLocks noChangeAspect="1"/>
          </p:cNvGraphicFramePr>
          <p:nvPr>
            <p:extLst>
              <p:ext uri="{D42A27DB-BD31-4B8C-83A1-F6EECF244321}">
                <p14:modId xmlns:p14="http://schemas.microsoft.com/office/powerpoint/2010/main" val="3829249477"/>
              </p:ext>
            </p:extLst>
          </p:nvPr>
        </p:nvGraphicFramePr>
        <p:xfrm>
          <a:off x="-152400" y="1069975"/>
          <a:ext cx="9448800" cy="5407025"/>
        </p:xfrm>
        <a:graphic>
          <a:graphicData uri="http://schemas.openxmlformats.org/presentationml/2006/ole">
            <mc:AlternateContent xmlns:mc="http://schemas.openxmlformats.org/markup-compatibility/2006">
              <mc:Choice xmlns:v="urn:schemas-microsoft-com:vml" Requires="v">
                <p:oleObj spid="_x0000_s4118" name="תרשים" r:id="rId4" imgW="5476972" imgH="3133832" progId="Excel.Sheet.8">
                  <p:embed/>
                </p:oleObj>
              </mc:Choice>
              <mc:Fallback>
                <p:oleObj name="תרשים" r:id="rId4" imgW="5476972" imgH="3133832" progId="Excel.Sheet.8">
                  <p:embed/>
                  <p:pic>
                    <p:nvPicPr>
                      <p:cNvPr id="0"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1069975"/>
                        <a:ext cx="9448800" cy="5407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6"/>
          <p:cNvSpPr>
            <a:spLocks noGrp="1" noChangeArrowheads="1"/>
          </p:cNvSpPr>
          <p:nvPr>
            <p:ph type="title"/>
          </p:nvPr>
        </p:nvSpPr>
        <p:spPr/>
        <p:txBody>
          <a:bodyPr>
            <a:normAutofit/>
          </a:bodyPr>
          <a:lstStyle/>
          <a:p>
            <a:pPr eaLnBrk="1" hangingPunct="1"/>
            <a:r>
              <a:rPr lang="en-US" sz="2400" b="1" dirty="0" smtClean="0">
                <a:cs typeface="Times New Roman" pitchFamily="18" charset="0"/>
              </a:rPr>
              <a:t>Microsoft dominated the market for suites</a:t>
            </a:r>
          </a:p>
        </p:txBody>
      </p:sp>
      <p:graphicFrame>
        <p:nvGraphicFramePr>
          <p:cNvPr id="5122" name="Object 5"/>
          <p:cNvGraphicFramePr>
            <a:graphicFrameLocks noGrp="1" noChangeAspect="1"/>
          </p:cNvGraphicFramePr>
          <p:nvPr>
            <p:ph idx="1"/>
            <p:extLst>
              <p:ext uri="{D42A27DB-BD31-4B8C-83A1-F6EECF244321}">
                <p14:modId xmlns:p14="http://schemas.microsoft.com/office/powerpoint/2010/main" val="601804489"/>
              </p:ext>
            </p:extLst>
          </p:nvPr>
        </p:nvGraphicFramePr>
        <p:xfrm>
          <a:off x="914400" y="1527175"/>
          <a:ext cx="7359650" cy="4187825"/>
        </p:xfrm>
        <a:graphic>
          <a:graphicData uri="http://schemas.openxmlformats.org/presentationml/2006/ole">
            <mc:AlternateContent xmlns:mc="http://schemas.openxmlformats.org/markup-compatibility/2006">
              <mc:Choice xmlns:v="urn:schemas-microsoft-com:vml" Requires="v">
                <p:oleObj spid="_x0000_s5142" name="תרשים" r:id="rId4" imgW="9525041" imgH="5419750" progId="Excel.Sheet.8">
                  <p:embed/>
                </p:oleObj>
              </mc:Choice>
              <mc:Fallback>
                <p:oleObj name="תרשים" r:id="rId4" imgW="9525041" imgH="5419750" progId="Excel.Sheet.8">
                  <p:embed/>
                  <p:pic>
                    <p:nvPicPr>
                      <p:cNvPr id="0" name="Picture 21"/>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1527175"/>
                        <a:ext cx="7359650" cy="4187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314325" y="472440"/>
            <a:ext cx="8220075" cy="1051560"/>
          </a:xfrm>
        </p:spPr>
        <p:txBody>
          <a:bodyPr>
            <a:normAutofit/>
          </a:bodyPr>
          <a:lstStyle/>
          <a:p>
            <a:pPr algn="ctr" eaLnBrk="1" hangingPunct="1"/>
            <a:r>
              <a:rPr lang="en-US" sz="2800" b="1" dirty="0" smtClean="0">
                <a:solidFill>
                  <a:schemeClr val="accent1"/>
                </a:solidFill>
                <a:cs typeface="Times New Roman" pitchFamily="18" charset="0"/>
              </a:rPr>
              <a:t>Bundling in the PC Office Software Market</a:t>
            </a:r>
          </a:p>
        </p:txBody>
      </p:sp>
      <p:pic>
        <p:nvPicPr>
          <p:cNvPr id="19460" name="Picture 4"/>
          <p:cNvPicPr>
            <a:picLocks noChangeAspect="1" noChangeArrowheads="1"/>
          </p:cNvPicPr>
          <p:nvPr/>
        </p:nvPicPr>
        <p:blipFill>
          <a:blip r:embed="rId2" cstate="print"/>
          <a:srcRect/>
          <a:stretch>
            <a:fillRect/>
          </a:stretch>
        </p:blipFill>
        <p:spPr bwMode="auto">
          <a:xfrm>
            <a:off x="457200" y="1752600"/>
            <a:ext cx="8153400" cy="34290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7" name="Rectangle 6"/>
          <p:cNvSpPr>
            <a:spLocks noGrp="1" noChangeArrowheads="1"/>
          </p:cNvSpPr>
          <p:nvPr>
            <p:ph type="title"/>
          </p:nvPr>
        </p:nvSpPr>
        <p:spPr/>
        <p:txBody>
          <a:bodyPr>
            <a:normAutofit/>
          </a:bodyPr>
          <a:lstStyle/>
          <a:p>
            <a:pPr eaLnBrk="1" hangingPunct="1"/>
            <a:r>
              <a:rPr lang="en-US" sz="2400" b="1" dirty="0" smtClean="0">
                <a:cs typeface="Times New Roman" pitchFamily="18" charset="0"/>
              </a:rPr>
              <a:t>Microsoft suites were priced significantly higher</a:t>
            </a:r>
          </a:p>
        </p:txBody>
      </p:sp>
      <p:graphicFrame>
        <p:nvGraphicFramePr>
          <p:cNvPr id="6146" name="Object 5"/>
          <p:cNvGraphicFramePr>
            <a:graphicFrameLocks noGrp="1" noChangeAspect="1"/>
          </p:cNvGraphicFramePr>
          <p:nvPr>
            <p:ph idx="1"/>
            <p:extLst>
              <p:ext uri="{D42A27DB-BD31-4B8C-83A1-F6EECF244321}">
                <p14:modId xmlns:p14="http://schemas.microsoft.com/office/powerpoint/2010/main" val="72244179"/>
              </p:ext>
            </p:extLst>
          </p:nvPr>
        </p:nvGraphicFramePr>
        <p:xfrm>
          <a:off x="76200" y="1295400"/>
          <a:ext cx="8748712" cy="4983174"/>
        </p:xfrm>
        <a:graphic>
          <a:graphicData uri="http://schemas.openxmlformats.org/presentationml/2006/ole">
            <mc:AlternateContent xmlns:mc="http://schemas.openxmlformats.org/markup-compatibility/2006">
              <mc:Choice xmlns:v="urn:schemas-microsoft-com:vml" Requires="v">
                <p:oleObj spid="_x0000_s6168" name="Worksheet" r:id="rId4" imgW="9448736" imgH="5381754" progId="Excel.Sheet.8">
                  <p:embed/>
                </p:oleObj>
              </mc:Choice>
              <mc:Fallback>
                <p:oleObj name="Worksheet" r:id="rId4" imgW="9448736" imgH="5381754" progId="Excel.Sheet.8">
                  <p:embed/>
                  <p:pic>
                    <p:nvPicPr>
                      <p:cNvPr id="0" name="Picture 23"/>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1295400"/>
                        <a:ext cx="8748712" cy="49831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sz="2800" b="1" dirty="0" smtClean="0">
                <a:solidFill>
                  <a:schemeClr val="accent1"/>
                </a:solidFill>
                <a:latin typeface="+mn-lt"/>
                <a:cs typeface="Times New Roman" pitchFamily="18" charset="0"/>
              </a:rPr>
              <a:t>Related Literature</a:t>
            </a:r>
          </a:p>
        </p:txBody>
      </p:sp>
      <p:sp>
        <p:nvSpPr>
          <p:cNvPr id="23556" name="Rectangle 3"/>
          <p:cNvSpPr>
            <a:spLocks noGrp="1" noChangeArrowheads="1"/>
          </p:cNvSpPr>
          <p:nvPr>
            <p:ph idx="1"/>
          </p:nvPr>
        </p:nvSpPr>
        <p:spPr>
          <a:xfrm>
            <a:off x="457200" y="1371600"/>
            <a:ext cx="8183880" cy="4492752"/>
          </a:xfrm>
        </p:spPr>
        <p:txBody>
          <a:bodyPr>
            <a:normAutofit fontScale="85000" lnSpcReduction="20000"/>
          </a:bodyPr>
          <a:lstStyle/>
          <a:p>
            <a:pPr eaLnBrk="1" hangingPunct="1">
              <a:lnSpc>
                <a:spcPct val="80000"/>
              </a:lnSpc>
            </a:pPr>
            <a:r>
              <a:rPr lang="en-US" sz="2000" dirty="0" smtClean="0">
                <a:cs typeface="Times New Roman" pitchFamily="18" charset="0"/>
              </a:rPr>
              <a:t>Bundling</a:t>
            </a:r>
          </a:p>
          <a:p>
            <a:pPr lvl="1" eaLnBrk="1" hangingPunct="1">
              <a:lnSpc>
                <a:spcPct val="80000"/>
              </a:lnSpc>
            </a:pPr>
            <a:r>
              <a:rPr lang="en-US" sz="2000" dirty="0" smtClean="0">
                <a:cs typeface="Times New Roman" pitchFamily="18" charset="0"/>
              </a:rPr>
              <a:t>Theory: </a:t>
            </a:r>
          </a:p>
          <a:p>
            <a:pPr lvl="2" eaLnBrk="1" hangingPunct="1">
              <a:lnSpc>
                <a:spcPct val="120000"/>
              </a:lnSpc>
            </a:pPr>
            <a:r>
              <a:rPr lang="en-US" sz="1600" dirty="0" smtClean="0">
                <a:cs typeface="Times New Roman" pitchFamily="18" charset="0"/>
              </a:rPr>
              <a:t>Stigler (1968), Adams and </a:t>
            </a:r>
            <a:r>
              <a:rPr lang="en-US" sz="1600" dirty="0" err="1" smtClean="0">
                <a:cs typeface="Times New Roman" pitchFamily="18" charset="0"/>
              </a:rPr>
              <a:t>Yellen</a:t>
            </a:r>
            <a:r>
              <a:rPr lang="en-US" sz="1600" dirty="0" smtClean="0">
                <a:cs typeface="Times New Roman" pitchFamily="18" charset="0"/>
              </a:rPr>
              <a:t>(1976); </a:t>
            </a:r>
            <a:r>
              <a:rPr lang="en-US" sz="1600" dirty="0" err="1" smtClean="0">
                <a:cs typeface="Times New Roman" pitchFamily="18" charset="0"/>
              </a:rPr>
              <a:t>Schmalensee</a:t>
            </a:r>
            <a:r>
              <a:rPr lang="en-US" sz="1600" dirty="0" smtClean="0">
                <a:cs typeface="Times New Roman" pitchFamily="18" charset="0"/>
              </a:rPr>
              <a:t> (1982); McAfee, McMillan and </a:t>
            </a:r>
            <a:r>
              <a:rPr lang="en-US" sz="1600" dirty="0" err="1" smtClean="0">
                <a:cs typeface="Times New Roman" pitchFamily="18" charset="0"/>
              </a:rPr>
              <a:t>Whinston</a:t>
            </a:r>
            <a:r>
              <a:rPr lang="en-US" sz="1600" dirty="0" smtClean="0">
                <a:cs typeface="Times New Roman" pitchFamily="18" charset="0"/>
              </a:rPr>
              <a:t> (1989); Salinger (1995), </a:t>
            </a:r>
            <a:r>
              <a:rPr lang="en-US" sz="1600" dirty="0" err="1" smtClean="0">
                <a:cs typeface="Times New Roman" pitchFamily="18" charset="0"/>
              </a:rPr>
              <a:t>Nalebuff</a:t>
            </a:r>
            <a:r>
              <a:rPr lang="en-US" sz="1600" dirty="0" smtClean="0">
                <a:cs typeface="Times New Roman" pitchFamily="18" charset="0"/>
              </a:rPr>
              <a:t> (2004), Chen and Riordan (2011)</a:t>
            </a:r>
            <a:r>
              <a:rPr lang="en-US" sz="1800" dirty="0" smtClean="0">
                <a:cs typeface="Times New Roman" pitchFamily="18" charset="0"/>
              </a:rPr>
              <a:t> </a:t>
            </a:r>
          </a:p>
          <a:p>
            <a:pPr lvl="1" eaLnBrk="1" hangingPunct="1">
              <a:lnSpc>
                <a:spcPct val="80000"/>
              </a:lnSpc>
            </a:pPr>
            <a:endParaRPr lang="en-US" sz="2000" dirty="0" smtClean="0">
              <a:cs typeface="Times New Roman" pitchFamily="18" charset="0"/>
            </a:endParaRPr>
          </a:p>
          <a:p>
            <a:pPr lvl="1" eaLnBrk="1" hangingPunct="1">
              <a:lnSpc>
                <a:spcPct val="80000"/>
              </a:lnSpc>
            </a:pPr>
            <a:r>
              <a:rPr lang="en-US" sz="2000" dirty="0" smtClean="0">
                <a:cs typeface="Times New Roman" pitchFamily="18" charset="0"/>
              </a:rPr>
              <a:t>Empirical: </a:t>
            </a:r>
          </a:p>
          <a:p>
            <a:pPr lvl="2" eaLnBrk="1" hangingPunct="1">
              <a:lnSpc>
                <a:spcPct val="120000"/>
              </a:lnSpc>
            </a:pPr>
            <a:r>
              <a:rPr lang="en-US" sz="1600" dirty="0" smtClean="0">
                <a:cs typeface="Times New Roman" pitchFamily="18" charset="0"/>
              </a:rPr>
              <a:t>Crawford (2008), Discriminatory Incentives to Bundle in CATV</a:t>
            </a:r>
          </a:p>
          <a:p>
            <a:pPr lvl="2" eaLnBrk="1" hangingPunct="1">
              <a:lnSpc>
                <a:spcPct val="120000"/>
              </a:lnSpc>
            </a:pPr>
            <a:r>
              <a:rPr lang="en-US" sz="1600" dirty="0" smtClean="0">
                <a:cs typeface="Times New Roman" pitchFamily="18" charset="0"/>
              </a:rPr>
              <a:t>Crawford &amp; </a:t>
            </a:r>
            <a:r>
              <a:rPr lang="en-US" sz="1600" dirty="0" err="1" smtClean="0">
                <a:cs typeface="Times New Roman" pitchFamily="18" charset="0"/>
              </a:rPr>
              <a:t>Yurukoglu</a:t>
            </a:r>
            <a:r>
              <a:rPr lang="en-US" sz="1600" dirty="0" smtClean="0">
                <a:cs typeface="Times New Roman" pitchFamily="18" charset="0"/>
              </a:rPr>
              <a:t> (2011), Welfare Effects of Bundling in Multi-channel TV Markets</a:t>
            </a:r>
          </a:p>
          <a:p>
            <a:pPr lvl="3" eaLnBrk="1" hangingPunct="1">
              <a:lnSpc>
                <a:spcPct val="120000"/>
              </a:lnSpc>
            </a:pPr>
            <a:r>
              <a:rPr lang="en-US" sz="1600" dirty="0" smtClean="0">
                <a:cs typeface="Times New Roman" pitchFamily="18" charset="0"/>
              </a:rPr>
              <a:t>Channels sold in large bundles, but not enough data to estimate individual channel demand. Channels</a:t>
            </a:r>
          </a:p>
          <a:p>
            <a:pPr lvl="2">
              <a:lnSpc>
                <a:spcPct val="120000"/>
              </a:lnSpc>
            </a:pPr>
            <a:r>
              <a:rPr lang="en-US" dirty="0" err="1" smtClean="0">
                <a:cs typeface="Times New Roman" pitchFamily="18" charset="0"/>
              </a:rPr>
              <a:t>Gentzkow</a:t>
            </a:r>
            <a:r>
              <a:rPr lang="en-US" dirty="0" smtClean="0">
                <a:cs typeface="Times New Roman" pitchFamily="18" charset="0"/>
              </a:rPr>
              <a:t> </a:t>
            </a:r>
            <a:r>
              <a:rPr lang="en-US" dirty="0">
                <a:cs typeface="Times New Roman" pitchFamily="18" charset="0"/>
              </a:rPr>
              <a:t>(2007</a:t>
            </a:r>
            <a:r>
              <a:rPr lang="en-US" dirty="0" smtClean="0">
                <a:cs typeface="Times New Roman" pitchFamily="18" charset="0"/>
              </a:rPr>
              <a:t>), </a:t>
            </a:r>
            <a:r>
              <a:rPr lang="en-US" dirty="0"/>
              <a:t>Chu, Leslie, and Sorensen (</a:t>
            </a:r>
            <a:r>
              <a:rPr lang="en-US" dirty="0" smtClean="0"/>
              <a:t>2011)</a:t>
            </a:r>
            <a:endParaRPr lang="en-US" sz="1800" dirty="0" smtClean="0">
              <a:cs typeface="Times New Roman" pitchFamily="18" charset="0"/>
            </a:endParaRPr>
          </a:p>
          <a:p>
            <a:pPr>
              <a:lnSpc>
                <a:spcPct val="80000"/>
              </a:lnSpc>
            </a:pPr>
            <a:endParaRPr lang="en-US" sz="2000" dirty="0" smtClean="0">
              <a:cs typeface="Times New Roman" pitchFamily="18" charset="0"/>
            </a:endParaRPr>
          </a:p>
          <a:p>
            <a:pPr>
              <a:lnSpc>
                <a:spcPct val="80000"/>
              </a:lnSpc>
            </a:pPr>
            <a:r>
              <a:rPr lang="en-US" sz="2000" dirty="0" smtClean="0">
                <a:cs typeface="Times New Roman" pitchFamily="18" charset="0"/>
              </a:rPr>
              <a:t>Computer </a:t>
            </a:r>
            <a:r>
              <a:rPr lang="en-US" sz="2000" dirty="0">
                <a:cs typeface="Times New Roman" pitchFamily="18" charset="0"/>
              </a:rPr>
              <a:t>software industry: </a:t>
            </a:r>
          </a:p>
          <a:p>
            <a:pPr lvl="1">
              <a:lnSpc>
                <a:spcPct val="120000"/>
              </a:lnSpc>
            </a:pPr>
            <a:r>
              <a:rPr lang="en-US" sz="1600" dirty="0" err="1">
                <a:cs typeface="Times New Roman" pitchFamily="18" charset="0"/>
              </a:rPr>
              <a:t>Liebowitz</a:t>
            </a:r>
            <a:r>
              <a:rPr lang="en-US" sz="1600" dirty="0">
                <a:cs typeface="Times New Roman" pitchFamily="18" charset="0"/>
              </a:rPr>
              <a:t> and Margolis (2001), Gandal (1994), Gandal, Greenstein &amp; Salant (1999)</a:t>
            </a:r>
          </a:p>
          <a:p>
            <a:pPr>
              <a:lnSpc>
                <a:spcPct val="80000"/>
              </a:lnSpc>
            </a:pPr>
            <a:endParaRPr lang="en-US" sz="2000" dirty="0">
              <a:cs typeface="Times New Roman" pitchFamily="18" charset="0"/>
            </a:endParaRPr>
          </a:p>
          <a:p>
            <a:pPr>
              <a:lnSpc>
                <a:spcPct val="80000"/>
              </a:lnSpc>
            </a:pPr>
            <a:r>
              <a:rPr lang="en-US" sz="2000" dirty="0">
                <a:cs typeface="Times New Roman" pitchFamily="18" charset="0"/>
              </a:rPr>
              <a:t>Discrete choice models of product differentiation:</a:t>
            </a:r>
          </a:p>
          <a:p>
            <a:pPr lvl="1">
              <a:lnSpc>
                <a:spcPct val="80000"/>
              </a:lnSpc>
            </a:pPr>
            <a:r>
              <a:rPr lang="en-US" sz="1600" dirty="0">
                <a:cs typeface="Times New Roman" pitchFamily="18" charset="0"/>
              </a:rPr>
              <a:t>Berry (1994), BLP (1995), </a:t>
            </a:r>
            <a:r>
              <a:rPr lang="en-US" sz="1600" dirty="0" err="1">
                <a:cs typeface="Times New Roman" pitchFamily="18" charset="0"/>
              </a:rPr>
              <a:t>Nevo</a:t>
            </a:r>
            <a:r>
              <a:rPr lang="en-US" sz="1600" dirty="0">
                <a:cs typeface="Times New Roman" pitchFamily="18" charset="0"/>
              </a:rPr>
              <a:t> (</a:t>
            </a:r>
            <a:r>
              <a:rPr lang="en-US" sz="1600" dirty="0" smtClean="0">
                <a:cs typeface="Times New Roman" pitchFamily="18" charset="0"/>
              </a:rPr>
              <a:t>1998)</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4"/>
          <p:cNvSpPr>
            <a:spLocks noGrp="1" noChangeArrowheads="1"/>
          </p:cNvSpPr>
          <p:nvPr>
            <p:ph type="title"/>
          </p:nvPr>
        </p:nvSpPr>
        <p:spPr>
          <a:xfrm>
            <a:off x="3886200" y="304800"/>
            <a:ext cx="2971800" cy="609600"/>
          </a:xfrm>
        </p:spPr>
        <p:txBody>
          <a:bodyPr/>
          <a:lstStyle/>
          <a:p>
            <a:pPr eaLnBrk="1" hangingPunct="1"/>
            <a:r>
              <a:rPr lang="en-US" sz="2800" b="1" dirty="0" smtClean="0">
                <a:latin typeface="+mn-lt"/>
                <a:cs typeface="Times New Roman" pitchFamily="18" charset="0"/>
              </a:rPr>
              <a:t>Data</a:t>
            </a:r>
          </a:p>
        </p:txBody>
      </p:sp>
      <p:sp>
        <p:nvSpPr>
          <p:cNvPr id="24581" name="Rectangle 6"/>
          <p:cNvSpPr>
            <a:spLocks noGrp="1" noChangeArrowheads="1"/>
          </p:cNvSpPr>
          <p:nvPr>
            <p:ph type="body" idx="2"/>
          </p:nvPr>
        </p:nvSpPr>
        <p:spPr>
          <a:xfrm>
            <a:off x="4648200" y="838200"/>
            <a:ext cx="3962400" cy="5334000"/>
          </a:xfrm>
        </p:spPr>
        <p:txBody>
          <a:bodyPr>
            <a:normAutofit fontScale="70000" lnSpcReduction="20000"/>
          </a:bodyPr>
          <a:lstStyle/>
          <a:p>
            <a:pPr eaLnBrk="1" hangingPunct="1">
              <a:lnSpc>
                <a:spcPct val="120000"/>
              </a:lnSpc>
              <a:buFontTx/>
              <a:buNone/>
            </a:pPr>
            <a:r>
              <a:rPr lang="en-US" sz="1800" b="1" dirty="0" smtClean="0">
                <a:cs typeface="Times New Roman" pitchFamily="18" charset="0"/>
              </a:rPr>
              <a:t>Products characteristics</a:t>
            </a:r>
          </a:p>
          <a:p>
            <a:pPr eaLnBrk="1" hangingPunct="1">
              <a:lnSpc>
                <a:spcPct val="120000"/>
              </a:lnSpc>
            </a:pPr>
            <a:endParaRPr lang="en-US" sz="1400" dirty="0" smtClean="0">
              <a:cs typeface="Times New Roman" pitchFamily="18" charset="0"/>
            </a:endParaRPr>
          </a:p>
          <a:p>
            <a:pPr eaLnBrk="1" hangingPunct="1">
              <a:lnSpc>
                <a:spcPct val="120000"/>
              </a:lnSpc>
            </a:pPr>
            <a:r>
              <a:rPr lang="en-US" sz="1900" dirty="0" smtClean="0">
                <a:cs typeface="Times New Roman" pitchFamily="18" charset="0"/>
              </a:rPr>
              <a:t>Price and quantity:</a:t>
            </a:r>
          </a:p>
          <a:p>
            <a:pPr marL="304038" indent="-285750" eaLnBrk="1" hangingPunct="1">
              <a:lnSpc>
                <a:spcPct val="120000"/>
              </a:lnSpc>
              <a:buFont typeface="Arial" pitchFamily="34" charset="0"/>
              <a:buChar char="•"/>
            </a:pPr>
            <a:r>
              <a:rPr lang="en-US" sz="1700" dirty="0" smtClean="0">
                <a:cs typeface="Times New Roman" pitchFamily="18" charset="0"/>
              </a:rPr>
              <a:t>Dataquest/Gartner Reports</a:t>
            </a:r>
          </a:p>
          <a:p>
            <a:pPr eaLnBrk="1" hangingPunct="1">
              <a:lnSpc>
                <a:spcPct val="120000"/>
              </a:lnSpc>
            </a:pPr>
            <a:endParaRPr lang="en-US" sz="1900" dirty="0">
              <a:cs typeface="Times New Roman" pitchFamily="18" charset="0"/>
            </a:endParaRPr>
          </a:p>
          <a:p>
            <a:pPr eaLnBrk="1" hangingPunct="1">
              <a:lnSpc>
                <a:spcPct val="120000"/>
              </a:lnSpc>
            </a:pPr>
            <a:r>
              <a:rPr lang="en-US" sz="1900" dirty="0" smtClean="0">
                <a:cs typeface="Times New Roman" pitchFamily="18" charset="0"/>
              </a:rPr>
              <a:t>Quality (scale of 10)</a:t>
            </a:r>
          </a:p>
          <a:p>
            <a:pPr marL="102870" indent="-285750">
              <a:lnSpc>
                <a:spcPct val="120000"/>
              </a:lnSpc>
              <a:buFont typeface="Arial" pitchFamily="34" charset="0"/>
              <a:buChar char="•"/>
            </a:pPr>
            <a:r>
              <a:rPr lang="en-US" sz="1700" dirty="0" err="1" smtClean="0">
                <a:cs typeface="Times New Roman" pitchFamily="18" charset="0"/>
              </a:rPr>
              <a:t>Liebowitz</a:t>
            </a:r>
            <a:r>
              <a:rPr lang="en-US" sz="1700" dirty="0" smtClean="0">
                <a:cs typeface="Times New Roman" pitchFamily="18" charset="0"/>
              </a:rPr>
              <a:t> and Margolis: Indices constructed from product reviews</a:t>
            </a:r>
          </a:p>
          <a:p>
            <a:pPr marL="102870" indent="-285750">
              <a:lnSpc>
                <a:spcPct val="120000"/>
              </a:lnSpc>
              <a:buFont typeface="Arial" pitchFamily="34" charset="0"/>
              <a:buChar char="•"/>
            </a:pPr>
            <a:r>
              <a:rPr lang="en-US" sz="1700" dirty="0" err="1" smtClean="0">
                <a:cs typeface="Times New Roman" pitchFamily="18" charset="0"/>
              </a:rPr>
              <a:t>Rel</a:t>
            </a:r>
            <a:r>
              <a:rPr lang="en-US" sz="1700" dirty="0" smtClean="0">
                <a:cs typeface="Times New Roman" pitchFamily="18" charset="0"/>
              </a:rPr>
              <a:t> </a:t>
            </a:r>
            <a:r>
              <a:rPr lang="en-US" sz="1700" dirty="0" err="1" smtClean="0">
                <a:cs typeface="Times New Roman" pitchFamily="18" charset="0"/>
              </a:rPr>
              <a:t>qual</a:t>
            </a:r>
            <a:r>
              <a:rPr lang="en-US" sz="1700" dirty="0" smtClean="0">
                <a:cs typeface="Times New Roman" pitchFamily="18" charset="0"/>
              </a:rPr>
              <a:t> spread = (</a:t>
            </a:r>
            <a:r>
              <a:rPr lang="en-US" sz="1700" dirty="0" err="1" smtClean="0">
                <a:cs typeface="Times New Roman" pitchFamily="18" charset="0"/>
              </a:rPr>
              <a:t>qual_j</a:t>
            </a:r>
            <a:r>
              <a:rPr lang="en-US" sz="1700" dirty="0" smtClean="0">
                <a:cs typeface="Times New Roman" pitchFamily="18" charset="0"/>
              </a:rPr>
              <a:t>)/</a:t>
            </a:r>
            <a:r>
              <a:rPr lang="en-US" sz="1700" dirty="0" err="1" smtClean="0">
                <a:cs typeface="Times New Roman" pitchFamily="18" charset="0"/>
              </a:rPr>
              <a:t>qual_lotus</a:t>
            </a:r>
            <a:endParaRPr lang="en-US" sz="1700" dirty="0" smtClean="0">
              <a:cs typeface="Times New Roman" pitchFamily="18" charset="0"/>
            </a:endParaRPr>
          </a:p>
          <a:p>
            <a:pPr marL="102870" indent="-285750">
              <a:lnSpc>
                <a:spcPct val="120000"/>
              </a:lnSpc>
              <a:buFont typeface="Arial" pitchFamily="34" charset="0"/>
              <a:buChar char="•"/>
            </a:pPr>
            <a:r>
              <a:rPr lang="en-US" sz="1700" dirty="0" err="1" smtClean="0">
                <a:cs typeface="Times New Roman" pitchFamily="18" charset="0"/>
              </a:rPr>
              <a:t>Rel</a:t>
            </a:r>
            <a:r>
              <a:rPr lang="en-US" sz="1700" dirty="0" smtClean="0">
                <a:cs typeface="Times New Roman" pitchFamily="18" charset="0"/>
              </a:rPr>
              <a:t> </a:t>
            </a:r>
            <a:r>
              <a:rPr lang="en-US" sz="1700" dirty="0" err="1" smtClean="0">
                <a:cs typeface="Times New Roman" pitchFamily="18" charset="0"/>
              </a:rPr>
              <a:t>qual</a:t>
            </a:r>
            <a:r>
              <a:rPr lang="en-US" sz="1700" dirty="0" smtClean="0">
                <a:cs typeface="Times New Roman" pitchFamily="18" charset="0"/>
              </a:rPr>
              <a:t> word proc  = (</a:t>
            </a:r>
            <a:r>
              <a:rPr lang="en-US" sz="1700" dirty="0" err="1" smtClean="0">
                <a:cs typeface="Times New Roman" pitchFamily="18" charset="0"/>
              </a:rPr>
              <a:t>qual_j</a:t>
            </a:r>
            <a:r>
              <a:rPr lang="en-US" sz="1700" dirty="0" smtClean="0">
                <a:cs typeface="Times New Roman" pitchFamily="18" charset="0"/>
              </a:rPr>
              <a:t>)/</a:t>
            </a:r>
            <a:r>
              <a:rPr lang="en-US" sz="1700" dirty="0" err="1" smtClean="0">
                <a:cs typeface="Times New Roman" pitchFamily="18" charset="0"/>
              </a:rPr>
              <a:t>qual_wp</a:t>
            </a:r>
            <a:endParaRPr lang="en-US" sz="1700" dirty="0" smtClean="0">
              <a:cs typeface="Times New Roman" pitchFamily="18" charset="0"/>
            </a:endParaRPr>
          </a:p>
          <a:p>
            <a:pPr eaLnBrk="1" hangingPunct="1">
              <a:lnSpc>
                <a:spcPct val="120000"/>
              </a:lnSpc>
              <a:buFontTx/>
              <a:buNone/>
            </a:pPr>
            <a:endParaRPr lang="en-US" sz="1900" b="1" dirty="0" smtClean="0">
              <a:cs typeface="Times New Roman" pitchFamily="18" charset="0"/>
            </a:endParaRPr>
          </a:p>
          <a:p>
            <a:pPr eaLnBrk="1" hangingPunct="1">
              <a:lnSpc>
                <a:spcPct val="120000"/>
              </a:lnSpc>
            </a:pPr>
            <a:r>
              <a:rPr lang="en-US" sz="1900" b="1" dirty="0" smtClean="0">
                <a:cs typeface="Times New Roman" pitchFamily="18" charset="0"/>
              </a:rPr>
              <a:t>Microsoft</a:t>
            </a:r>
          </a:p>
          <a:p>
            <a:pPr lvl="1" eaLnBrk="1" hangingPunct="1">
              <a:lnSpc>
                <a:spcPct val="120000"/>
              </a:lnSpc>
              <a:buFont typeface="Arial" pitchFamily="34" charset="0"/>
              <a:buChar char="═"/>
            </a:pPr>
            <a:r>
              <a:rPr lang="en-US" sz="1900" dirty="0" smtClean="0">
                <a:cs typeface="Times New Roman" pitchFamily="18" charset="0"/>
              </a:rPr>
              <a:t>1 if MS word </a:t>
            </a:r>
            <a:r>
              <a:rPr lang="en-US" sz="1900" dirty="0" err="1" smtClean="0">
                <a:cs typeface="Times New Roman" pitchFamily="18" charset="0"/>
              </a:rPr>
              <a:t>proc</a:t>
            </a:r>
            <a:r>
              <a:rPr lang="en-US" sz="1900" dirty="0" smtClean="0">
                <a:cs typeface="Times New Roman" pitchFamily="18" charset="0"/>
              </a:rPr>
              <a:t> or spreadsheet</a:t>
            </a:r>
          </a:p>
          <a:p>
            <a:pPr lvl="1" eaLnBrk="1" hangingPunct="1">
              <a:lnSpc>
                <a:spcPct val="120000"/>
              </a:lnSpc>
              <a:buFont typeface="Arial" pitchFamily="34" charset="0"/>
              <a:buChar char="═"/>
            </a:pPr>
            <a:r>
              <a:rPr lang="en-US" sz="1900" dirty="0" smtClean="0">
                <a:cs typeface="Times New Roman" pitchFamily="18" charset="0"/>
              </a:rPr>
              <a:t>2 if MS suite</a:t>
            </a:r>
          </a:p>
          <a:p>
            <a:pPr eaLnBrk="1" hangingPunct="1">
              <a:lnSpc>
                <a:spcPct val="120000"/>
              </a:lnSpc>
            </a:pPr>
            <a:endParaRPr lang="en-US" sz="1900" dirty="0" smtClean="0">
              <a:cs typeface="Times New Roman" pitchFamily="18" charset="0"/>
            </a:endParaRPr>
          </a:p>
          <a:p>
            <a:pPr eaLnBrk="1" hangingPunct="1">
              <a:lnSpc>
                <a:spcPct val="120000"/>
              </a:lnSpc>
              <a:buFontTx/>
              <a:buNone/>
            </a:pPr>
            <a:r>
              <a:rPr lang="en-US" sz="1900" b="1" dirty="0" smtClean="0">
                <a:cs typeface="Times New Roman" pitchFamily="18" charset="0"/>
              </a:rPr>
              <a:t>Product type dummies</a:t>
            </a:r>
          </a:p>
          <a:p>
            <a:pPr eaLnBrk="1" hangingPunct="1">
              <a:lnSpc>
                <a:spcPct val="120000"/>
              </a:lnSpc>
              <a:buFontTx/>
              <a:buNone/>
            </a:pPr>
            <a:r>
              <a:rPr lang="en-US" sz="1900" b="1" dirty="0" smtClean="0">
                <a:cs typeface="Times New Roman" pitchFamily="18" charset="0"/>
              </a:rPr>
              <a:t>	</a:t>
            </a:r>
            <a:r>
              <a:rPr lang="en-US" sz="1900" dirty="0" smtClean="0">
                <a:cs typeface="Times New Roman" pitchFamily="18" charset="0"/>
              </a:rPr>
              <a:t>SS = spread or suite</a:t>
            </a:r>
          </a:p>
          <a:p>
            <a:pPr eaLnBrk="1" hangingPunct="1">
              <a:lnSpc>
                <a:spcPct val="120000"/>
              </a:lnSpc>
              <a:buFontTx/>
              <a:buNone/>
            </a:pPr>
            <a:r>
              <a:rPr lang="en-US" sz="1900" dirty="0" smtClean="0">
                <a:cs typeface="Times New Roman" pitchFamily="18" charset="0"/>
              </a:rPr>
              <a:t>	WP = word processor or suite</a:t>
            </a:r>
          </a:p>
          <a:p>
            <a:pPr eaLnBrk="1" hangingPunct="1">
              <a:lnSpc>
                <a:spcPct val="120000"/>
              </a:lnSpc>
              <a:buFontTx/>
              <a:buNone/>
            </a:pPr>
            <a:endParaRPr lang="en-US" sz="1900" b="1" dirty="0" smtClean="0">
              <a:cs typeface="Times New Roman" pitchFamily="18" charset="0"/>
            </a:endParaRPr>
          </a:p>
          <a:p>
            <a:pPr eaLnBrk="1" hangingPunct="1">
              <a:lnSpc>
                <a:spcPct val="120000"/>
              </a:lnSpc>
              <a:buFontTx/>
              <a:buNone/>
            </a:pPr>
            <a:r>
              <a:rPr lang="en-US" sz="1900" b="1" dirty="0" smtClean="0">
                <a:cs typeface="Times New Roman" pitchFamily="18" charset="0"/>
              </a:rPr>
              <a:t>Suite dummy  -  </a:t>
            </a:r>
            <a:r>
              <a:rPr lang="en-US" sz="1900" dirty="0" smtClean="0">
                <a:cs typeface="Times New Roman" pitchFamily="18" charset="0"/>
              </a:rPr>
              <a:t>0 for mix/match</a:t>
            </a:r>
            <a:endParaRPr lang="en-US" sz="1900" b="1" dirty="0" smtClean="0">
              <a:cs typeface="Times New Roman" pitchFamily="18" charset="0"/>
            </a:endParaRPr>
          </a:p>
          <a:p>
            <a:pPr eaLnBrk="1" hangingPunct="1">
              <a:lnSpc>
                <a:spcPct val="120000"/>
              </a:lnSpc>
              <a:buFontTx/>
              <a:buNone/>
            </a:pPr>
            <a:endParaRPr lang="en-US" sz="1900" b="1" dirty="0" smtClean="0">
              <a:cs typeface="Times New Roman" pitchFamily="18" charset="0"/>
            </a:endParaRPr>
          </a:p>
          <a:p>
            <a:pPr eaLnBrk="1" hangingPunct="1">
              <a:lnSpc>
                <a:spcPct val="120000"/>
              </a:lnSpc>
              <a:buFontTx/>
              <a:buNone/>
            </a:pPr>
            <a:r>
              <a:rPr lang="en-US" sz="1900" b="1" dirty="0" smtClean="0">
                <a:cs typeface="Times New Roman" pitchFamily="18" charset="0"/>
              </a:rPr>
              <a:t>Year dummies</a:t>
            </a:r>
          </a:p>
          <a:p>
            <a:pPr eaLnBrk="1" hangingPunct="1">
              <a:lnSpc>
                <a:spcPct val="120000"/>
              </a:lnSpc>
            </a:pPr>
            <a:r>
              <a:rPr lang="en-US" sz="1900" dirty="0" smtClean="0">
                <a:cs typeface="Times New Roman" pitchFamily="18" charset="0"/>
              </a:rPr>
              <a:t>YEARXX Dummy variable = 1 in year XX</a:t>
            </a:r>
          </a:p>
          <a:p>
            <a:pPr eaLnBrk="1" hangingPunct="1">
              <a:lnSpc>
                <a:spcPct val="120000"/>
              </a:lnSpc>
              <a:buFontTx/>
              <a:buNone/>
            </a:pPr>
            <a:endParaRPr lang="en-US" sz="1900" b="1" dirty="0" smtClean="0">
              <a:cs typeface="Times New Roman" pitchFamily="18" charset="0"/>
            </a:endParaRPr>
          </a:p>
          <a:p>
            <a:pPr eaLnBrk="1" hangingPunct="1">
              <a:lnSpc>
                <a:spcPct val="120000"/>
              </a:lnSpc>
              <a:buFontTx/>
              <a:buNone/>
            </a:pPr>
            <a:r>
              <a:rPr lang="en-US" sz="1900" b="1" dirty="0" smtClean="0">
                <a:cs typeface="Times New Roman" pitchFamily="18" charset="0"/>
              </a:rPr>
              <a:t>No network effects – </a:t>
            </a:r>
            <a:r>
              <a:rPr lang="en-US" sz="1900" dirty="0" smtClean="0">
                <a:cs typeface="Times New Roman" pitchFamily="18" charset="0"/>
              </a:rPr>
              <a:t>compatibility</a:t>
            </a:r>
            <a:endParaRPr lang="en-US" sz="1900" b="1" dirty="0" smtClean="0">
              <a:cs typeface="Times New Roman" pitchFamily="18" charset="0"/>
            </a:endParaRPr>
          </a:p>
        </p:txBody>
      </p:sp>
      <p:sp>
        <p:nvSpPr>
          <p:cNvPr id="24580" name="Rectangle 5"/>
          <p:cNvSpPr>
            <a:spLocks noGrp="1" noChangeArrowheads="1"/>
          </p:cNvSpPr>
          <p:nvPr>
            <p:ph sz="half" idx="1"/>
          </p:nvPr>
        </p:nvSpPr>
        <p:spPr>
          <a:xfrm>
            <a:off x="457201" y="914400"/>
            <a:ext cx="4419600" cy="4724402"/>
          </a:xfrm>
        </p:spPr>
        <p:txBody>
          <a:bodyPr>
            <a:normAutofit fontScale="92500" lnSpcReduction="20000"/>
          </a:bodyPr>
          <a:lstStyle/>
          <a:p>
            <a:pPr eaLnBrk="1" hangingPunct="1">
              <a:lnSpc>
                <a:spcPct val="80000"/>
              </a:lnSpc>
              <a:buFontTx/>
              <a:buNone/>
            </a:pPr>
            <a:r>
              <a:rPr lang="en-US" sz="1600" dirty="0" smtClean="0">
                <a:cs typeface="Times New Roman" pitchFamily="18" charset="0"/>
              </a:rPr>
              <a:t>Three basic products</a:t>
            </a:r>
          </a:p>
          <a:p>
            <a:pPr eaLnBrk="1" hangingPunct="1">
              <a:lnSpc>
                <a:spcPct val="80000"/>
              </a:lnSpc>
            </a:pPr>
            <a:r>
              <a:rPr lang="en-US" sz="1600" dirty="0" smtClean="0">
                <a:cs typeface="Times New Roman" pitchFamily="18" charset="0"/>
              </a:rPr>
              <a:t>Word processors</a:t>
            </a:r>
          </a:p>
          <a:p>
            <a:pPr eaLnBrk="1" hangingPunct="1">
              <a:lnSpc>
                <a:spcPct val="80000"/>
              </a:lnSpc>
            </a:pPr>
            <a:r>
              <a:rPr lang="en-US" sz="1600" dirty="0" smtClean="0">
                <a:cs typeface="Times New Roman" pitchFamily="18" charset="0"/>
              </a:rPr>
              <a:t>Spreadsheets</a:t>
            </a:r>
          </a:p>
          <a:p>
            <a:pPr eaLnBrk="1" hangingPunct="1">
              <a:lnSpc>
                <a:spcPct val="80000"/>
              </a:lnSpc>
            </a:pPr>
            <a:r>
              <a:rPr lang="en-US" sz="1600" dirty="0" smtClean="0">
                <a:cs typeface="Times New Roman" pitchFamily="18" charset="0"/>
              </a:rPr>
              <a:t>Suites</a:t>
            </a:r>
          </a:p>
          <a:p>
            <a:pPr eaLnBrk="1" hangingPunct="1">
              <a:lnSpc>
                <a:spcPct val="80000"/>
              </a:lnSpc>
              <a:buNone/>
            </a:pPr>
            <a:endParaRPr lang="en-US" sz="1600" dirty="0" smtClean="0">
              <a:cs typeface="Times New Roman" pitchFamily="18" charset="0"/>
            </a:endParaRPr>
          </a:p>
          <a:p>
            <a:pPr eaLnBrk="1" hangingPunct="1">
              <a:lnSpc>
                <a:spcPct val="80000"/>
              </a:lnSpc>
              <a:buNone/>
            </a:pPr>
            <a:r>
              <a:rPr lang="en-US" sz="1600" dirty="0" smtClean="0">
                <a:cs typeface="Times New Roman" pitchFamily="18" charset="0"/>
              </a:rPr>
              <a:t>Allow for mix-and-match combinations</a:t>
            </a:r>
          </a:p>
          <a:p>
            <a:pPr eaLnBrk="1" hangingPunct="1">
              <a:lnSpc>
                <a:spcPct val="80000"/>
              </a:lnSpc>
            </a:pPr>
            <a:endParaRPr lang="en-US" sz="1600" dirty="0" smtClean="0">
              <a:cs typeface="Times New Roman" pitchFamily="18" charset="0"/>
            </a:endParaRPr>
          </a:p>
          <a:p>
            <a:pPr eaLnBrk="1" hangingPunct="1">
              <a:lnSpc>
                <a:spcPct val="80000"/>
              </a:lnSpc>
              <a:buFontTx/>
              <a:buNone/>
            </a:pPr>
            <a:r>
              <a:rPr lang="en-US" sz="1600" dirty="0" smtClean="0">
                <a:cs typeface="Times New Roman" pitchFamily="18" charset="0"/>
              </a:rPr>
              <a:t>Sample period 1992-1998</a:t>
            </a:r>
          </a:p>
          <a:p>
            <a:pPr>
              <a:lnSpc>
                <a:spcPct val="110000"/>
              </a:lnSpc>
            </a:pPr>
            <a:r>
              <a:rPr lang="en-US" sz="1600" dirty="0">
                <a:cs typeface="Times New Roman" pitchFamily="18" charset="0"/>
              </a:rPr>
              <a:t>Dataquest/Gartner Reports: Annual </a:t>
            </a:r>
            <a:r>
              <a:rPr lang="en-US" sz="1600" dirty="0" smtClean="0">
                <a:cs typeface="Times New Roman" pitchFamily="18" charset="0"/>
              </a:rPr>
              <a:t>Revenue and shipments by product, vendor, and platform</a:t>
            </a:r>
          </a:p>
          <a:p>
            <a:pPr eaLnBrk="1" hangingPunct="1">
              <a:lnSpc>
                <a:spcPct val="80000"/>
              </a:lnSpc>
            </a:pPr>
            <a:endParaRPr lang="en-US" sz="1600" dirty="0" smtClean="0">
              <a:cs typeface="Times New Roman" pitchFamily="18" charset="0"/>
            </a:endParaRPr>
          </a:p>
          <a:p>
            <a:pPr eaLnBrk="1" hangingPunct="1">
              <a:lnSpc>
                <a:spcPct val="80000"/>
              </a:lnSpc>
              <a:buFontTx/>
              <a:buNone/>
            </a:pPr>
            <a:r>
              <a:rPr lang="en-US" sz="1600" dirty="0" smtClean="0">
                <a:cs typeface="Times New Roman" pitchFamily="18" charset="0"/>
              </a:rPr>
              <a:t>Three Firms:</a:t>
            </a:r>
          </a:p>
          <a:p>
            <a:pPr eaLnBrk="1" hangingPunct="1">
              <a:lnSpc>
                <a:spcPct val="80000"/>
              </a:lnSpc>
            </a:pPr>
            <a:r>
              <a:rPr lang="en-US" sz="1600" dirty="0" smtClean="0">
                <a:cs typeface="Times New Roman" pitchFamily="18" charset="0"/>
              </a:rPr>
              <a:t>MS</a:t>
            </a:r>
          </a:p>
          <a:p>
            <a:pPr eaLnBrk="1" hangingPunct="1">
              <a:lnSpc>
                <a:spcPct val="80000"/>
              </a:lnSpc>
            </a:pPr>
            <a:r>
              <a:rPr lang="en-US" sz="1600" dirty="0" smtClean="0">
                <a:cs typeface="Times New Roman" pitchFamily="18" charset="0"/>
              </a:rPr>
              <a:t>Corel/WP</a:t>
            </a:r>
          </a:p>
          <a:p>
            <a:pPr eaLnBrk="1" hangingPunct="1">
              <a:lnSpc>
                <a:spcPct val="80000"/>
              </a:lnSpc>
            </a:pPr>
            <a:r>
              <a:rPr lang="en-US" sz="1600" dirty="0" smtClean="0">
                <a:cs typeface="Times New Roman" pitchFamily="18" charset="0"/>
              </a:rPr>
              <a:t>Lotus/IBM </a:t>
            </a:r>
          </a:p>
          <a:p>
            <a:pPr eaLnBrk="1" hangingPunct="1">
              <a:lnSpc>
                <a:spcPct val="110000"/>
              </a:lnSpc>
            </a:pPr>
            <a:r>
              <a:rPr lang="en-US" sz="1600" dirty="0" smtClean="0">
                <a:cs typeface="Times New Roman" pitchFamily="18" charset="0"/>
              </a:rPr>
              <a:t>After 1996, IBM/Lotus sold very few word processors, and Corel/WP sold very few word processors and spreadsheets</a:t>
            </a:r>
          </a:p>
          <a:p>
            <a:pPr eaLnBrk="1" hangingPunct="1">
              <a:lnSpc>
                <a:spcPct val="80000"/>
              </a:lnSpc>
            </a:pPr>
            <a:endParaRPr lang="en-US" sz="1600" dirty="0" smtClean="0">
              <a:cs typeface="Times New Roman" pitchFamily="18" charset="0"/>
            </a:endParaRPr>
          </a:p>
          <a:p>
            <a:pPr eaLnBrk="1" hangingPunct="1">
              <a:lnSpc>
                <a:spcPct val="80000"/>
              </a:lnSpc>
              <a:buFontTx/>
              <a:buNone/>
            </a:pPr>
            <a:r>
              <a:rPr lang="en-US" sz="1600" dirty="0" smtClean="0">
                <a:cs typeface="Times New Roman" pitchFamily="18" charset="0"/>
              </a:rPr>
              <a:t>62 observations</a:t>
            </a:r>
          </a:p>
          <a:p>
            <a:pPr eaLnBrk="1" hangingPunct="1">
              <a:lnSpc>
                <a:spcPct val="80000"/>
              </a:lnSpc>
              <a:buFontTx/>
              <a:buNone/>
            </a:pPr>
            <a:endParaRPr lang="en-US" sz="1600" dirty="0" smtClean="0">
              <a:cs typeface="Times New Roman" pitchFamily="18" charset="0"/>
            </a:endParaRPr>
          </a:p>
          <a:p>
            <a:pPr eaLnBrk="1" hangingPunct="1">
              <a:lnSpc>
                <a:spcPct val="80000"/>
              </a:lnSpc>
            </a:pPr>
            <a:endParaRPr lang="en-US" sz="1600" dirty="0" smtClean="0"/>
          </a:p>
        </p:txBody>
      </p:sp>
      <p:cxnSp>
        <p:nvCxnSpPr>
          <p:cNvPr id="5" name="Straight Connector 4"/>
          <p:cNvCxnSpPr/>
          <p:nvPr/>
        </p:nvCxnSpPr>
        <p:spPr>
          <a:xfrm>
            <a:off x="4495800" y="1219200"/>
            <a:ext cx="0" cy="4343400"/>
          </a:xfrm>
          <a:prstGeom prst="line">
            <a:avLst/>
          </a:prstGeom>
          <a:effectLst>
            <a:outerShdw blurRad="50800" dist="38100" dir="18900000" algn="bl" rotWithShape="0">
              <a:prstClr val="black">
                <a:alpha val="40000"/>
              </a:prstClr>
            </a:outerShdw>
          </a:effectLst>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4" name="Picture 5"/>
          <p:cNvPicPr>
            <a:picLocks noChangeAspect="1" noChangeArrowheads="1"/>
          </p:cNvPicPr>
          <p:nvPr/>
        </p:nvPicPr>
        <p:blipFill>
          <a:blip r:embed="rId2" cstate="print"/>
          <a:srcRect/>
          <a:stretch>
            <a:fillRect/>
          </a:stretch>
        </p:blipFill>
        <p:spPr bwMode="auto">
          <a:xfrm>
            <a:off x="457200" y="1752600"/>
            <a:ext cx="8153400" cy="4196343"/>
          </a:xfrm>
          <a:prstGeom prst="rect">
            <a:avLst/>
          </a:prstGeom>
          <a:noFill/>
          <a:ln w="9525">
            <a:noFill/>
            <a:miter lim="800000"/>
            <a:headEnd/>
            <a:tailEnd/>
          </a:ln>
        </p:spPr>
      </p:pic>
      <p:sp>
        <p:nvSpPr>
          <p:cNvPr id="3" name="Title 2"/>
          <p:cNvSpPr>
            <a:spLocks noGrp="1"/>
          </p:cNvSpPr>
          <p:nvPr>
            <p:ph type="title"/>
          </p:nvPr>
        </p:nvSpPr>
        <p:spPr>
          <a:xfrm>
            <a:off x="533400" y="533400"/>
            <a:ext cx="8077200" cy="1051560"/>
          </a:xfrm>
        </p:spPr>
        <p:txBody>
          <a:bodyPr>
            <a:noAutofit/>
          </a:bodyPr>
          <a:lstStyle/>
          <a:p>
            <a:r>
              <a:rPr lang="en-US" sz="2400" dirty="0" smtClean="0">
                <a:cs typeface="Times New Roman" pitchFamily="18" charset="0"/>
              </a:rPr>
              <a:t>Potential </a:t>
            </a:r>
            <a:r>
              <a:rPr lang="en-US" sz="2400" dirty="0">
                <a:cs typeface="Times New Roman" pitchFamily="18" charset="0"/>
              </a:rPr>
              <a:t>market for office software is defined to be the </a:t>
            </a:r>
            <a:r>
              <a:rPr lang="en-US" sz="2400" dirty="0" smtClean="0">
                <a:cs typeface="Times New Roman" pitchFamily="18" charset="0"/>
              </a:rPr>
              <a:t># of </a:t>
            </a:r>
            <a:r>
              <a:rPr lang="en-US" sz="2400" dirty="0">
                <a:cs typeface="Times New Roman" pitchFamily="18" charset="0"/>
              </a:rPr>
              <a:t>operating systems </a:t>
            </a:r>
            <a:r>
              <a:rPr lang="en-US" sz="2400" dirty="0" smtClean="0">
                <a:cs typeface="Times New Roman" pitchFamily="18" charset="0"/>
              </a:rPr>
              <a:t>sold/distributed </a:t>
            </a:r>
            <a:r>
              <a:rPr lang="en-US" sz="2400" dirty="0">
                <a:cs typeface="Times New Roman" pitchFamily="18" charset="0"/>
              </a:rPr>
              <a:t>via </a:t>
            </a:r>
            <a:r>
              <a:rPr lang="en-US" sz="2400" dirty="0" smtClean="0">
                <a:cs typeface="Times New Roman" pitchFamily="18" charset="0"/>
              </a:rPr>
              <a:t>OEMs</a:t>
            </a:r>
            <a:endParaRPr lang="en-US" sz="2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normAutofit/>
          </a:bodyPr>
          <a:lstStyle/>
          <a:p>
            <a:pPr eaLnBrk="1" hangingPunct="1"/>
            <a:r>
              <a:rPr lang="en-US" sz="3200" b="1" dirty="0" smtClean="0">
                <a:latin typeface="+mn-lt"/>
                <a:cs typeface="Times New Roman" pitchFamily="18" charset="0"/>
              </a:rPr>
              <a:t>Discrete choice model</a:t>
            </a:r>
          </a:p>
        </p:txBody>
      </p:sp>
      <p:sp>
        <p:nvSpPr>
          <p:cNvPr id="26628" name="Rectangle 3"/>
          <p:cNvSpPr>
            <a:spLocks noGrp="1" noChangeArrowheads="1"/>
          </p:cNvSpPr>
          <p:nvPr>
            <p:ph idx="1"/>
          </p:nvPr>
        </p:nvSpPr>
        <p:spPr>
          <a:xfrm>
            <a:off x="457200" y="1371600"/>
            <a:ext cx="8183880" cy="4492752"/>
          </a:xfrm>
        </p:spPr>
        <p:txBody>
          <a:bodyPr>
            <a:normAutofit fontScale="85000" lnSpcReduction="20000"/>
          </a:bodyPr>
          <a:lstStyle/>
          <a:p>
            <a:pPr eaLnBrk="1" hangingPunct="1">
              <a:lnSpc>
                <a:spcPct val="110000"/>
              </a:lnSpc>
              <a:spcAft>
                <a:spcPts val="600"/>
              </a:spcAft>
            </a:pPr>
            <a:r>
              <a:rPr lang="en-US" sz="2400" dirty="0" smtClean="0">
                <a:cs typeface="Times New Roman" pitchFamily="18" charset="0"/>
              </a:rPr>
              <a:t>Each consumers compares “products” across four categories</a:t>
            </a:r>
          </a:p>
          <a:p>
            <a:pPr lvl="1" eaLnBrk="1" hangingPunct="1">
              <a:lnSpc>
                <a:spcPct val="110000"/>
              </a:lnSpc>
              <a:spcAft>
                <a:spcPts val="600"/>
              </a:spcAft>
            </a:pPr>
            <a:r>
              <a:rPr lang="en-US" sz="2000" dirty="0" smtClean="0">
                <a:cs typeface="Times New Roman" pitchFamily="18" charset="0"/>
              </a:rPr>
              <a:t>Spreadsheets</a:t>
            </a:r>
          </a:p>
          <a:p>
            <a:pPr lvl="1" eaLnBrk="1" hangingPunct="1">
              <a:lnSpc>
                <a:spcPct val="110000"/>
              </a:lnSpc>
              <a:spcAft>
                <a:spcPts val="600"/>
              </a:spcAft>
            </a:pPr>
            <a:r>
              <a:rPr lang="en-US" sz="2000" dirty="0" err="1" smtClean="0">
                <a:cs typeface="Times New Roman" pitchFamily="18" charset="0"/>
              </a:rPr>
              <a:t>Wordprocessors</a:t>
            </a:r>
            <a:endParaRPr lang="en-US" sz="2000" dirty="0" smtClean="0">
              <a:cs typeface="Times New Roman" pitchFamily="18" charset="0"/>
            </a:endParaRPr>
          </a:p>
          <a:p>
            <a:pPr lvl="1" eaLnBrk="1" hangingPunct="1">
              <a:lnSpc>
                <a:spcPct val="110000"/>
              </a:lnSpc>
              <a:spcAft>
                <a:spcPts val="600"/>
              </a:spcAft>
            </a:pPr>
            <a:r>
              <a:rPr lang="en-US" sz="2000" dirty="0" smtClean="0">
                <a:cs typeface="Times New Roman" pitchFamily="18" charset="0"/>
              </a:rPr>
              <a:t>Suites</a:t>
            </a:r>
          </a:p>
          <a:p>
            <a:pPr lvl="1" eaLnBrk="1" hangingPunct="1">
              <a:lnSpc>
                <a:spcPct val="110000"/>
              </a:lnSpc>
              <a:spcAft>
                <a:spcPts val="600"/>
              </a:spcAft>
            </a:pPr>
            <a:r>
              <a:rPr lang="en-US" sz="2000" dirty="0" smtClean="0">
                <a:cs typeface="Times New Roman" pitchFamily="18" charset="0"/>
              </a:rPr>
              <a:t>Mix-and-match bundles</a:t>
            </a:r>
          </a:p>
          <a:p>
            <a:pPr eaLnBrk="1" hangingPunct="1">
              <a:lnSpc>
                <a:spcPct val="110000"/>
              </a:lnSpc>
              <a:spcAft>
                <a:spcPts val="600"/>
              </a:spcAft>
            </a:pPr>
            <a:r>
              <a:rPr lang="en-US" sz="2400" dirty="0" smtClean="0">
                <a:cs typeface="Times New Roman" pitchFamily="18" charset="0"/>
              </a:rPr>
              <a:t>Unobservable taste for spreadsheets is correlated with unobservable taste for </a:t>
            </a:r>
            <a:r>
              <a:rPr lang="en-US" sz="2400" dirty="0" err="1" smtClean="0">
                <a:cs typeface="Times New Roman" pitchFamily="18" charset="0"/>
              </a:rPr>
              <a:t>wordprocessors</a:t>
            </a:r>
            <a:r>
              <a:rPr lang="en-US" sz="2400" dirty="0" smtClean="0">
                <a:cs typeface="Times New Roman" pitchFamily="18" charset="0"/>
              </a:rPr>
              <a:t>. </a:t>
            </a:r>
          </a:p>
          <a:p>
            <a:pPr eaLnBrk="1" hangingPunct="1">
              <a:lnSpc>
                <a:spcPct val="110000"/>
              </a:lnSpc>
              <a:spcAft>
                <a:spcPts val="600"/>
              </a:spcAft>
            </a:pPr>
            <a:r>
              <a:rPr lang="en-US" sz="2400" dirty="0" smtClean="0">
                <a:cs typeface="Times New Roman" pitchFamily="18" charset="0"/>
              </a:rPr>
              <a:t>Idiosyncratic preference for individual products. (Independent double exponential)</a:t>
            </a:r>
          </a:p>
          <a:p>
            <a:pPr lvl="1" eaLnBrk="1" hangingPunct="1">
              <a:lnSpc>
                <a:spcPct val="110000"/>
              </a:lnSpc>
              <a:spcAft>
                <a:spcPts val="600"/>
              </a:spcAft>
            </a:pPr>
            <a:r>
              <a:rPr lang="en-US" sz="2000" dirty="0" smtClean="0">
                <a:cs typeface="Times New Roman" pitchFamily="18" charset="0"/>
              </a:rPr>
              <a:t>For suites, can be interpreted as an unobservable degree of product complementarity or additional components of suite</a:t>
            </a:r>
          </a:p>
          <a:p>
            <a:pPr eaLnBrk="1" hangingPunct="1">
              <a:lnSpc>
                <a:spcPct val="110000"/>
              </a:lnSpc>
              <a:spcAft>
                <a:spcPts val="600"/>
              </a:spcAft>
            </a:pPr>
            <a:r>
              <a:rPr lang="en-US" sz="2400" dirty="0" smtClean="0">
                <a:cs typeface="Times New Roman" pitchFamily="18" charset="0"/>
              </a:rPr>
              <a:t>Unobserved product characteristics</a:t>
            </a:r>
            <a:endParaRPr lang="en-US" sz="2400"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4" name="Rectangle 2"/>
          <p:cNvSpPr>
            <a:spLocks noGrp="1" noChangeArrowheads="1"/>
          </p:cNvSpPr>
          <p:nvPr>
            <p:ph type="title"/>
          </p:nvPr>
        </p:nvSpPr>
        <p:spPr>
          <a:xfrm>
            <a:off x="533400" y="-76200"/>
            <a:ext cx="8183880" cy="1051560"/>
          </a:xfrm>
        </p:spPr>
        <p:txBody>
          <a:bodyPr/>
          <a:lstStyle/>
          <a:p>
            <a:pPr eaLnBrk="1" hangingPunct="1"/>
            <a:r>
              <a:rPr lang="en-US" sz="3200" b="1" dirty="0" smtClean="0">
                <a:latin typeface="+mn-lt"/>
                <a:cs typeface="Times New Roman" pitchFamily="18" charset="0"/>
              </a:rPr>
              <a:t>Econometric model</a:t>
            </a:r>
          </a:p>
        </p:txBody>
      </p:sp>
      <p:sp>
        <p:nvSpPr>
          <p:cNvPr id="7175" name="Rectangle 3"/>
          <p:cNvSpPr>
            <a:spLocks noGrp="1" noChangeArrowheads="1"/>
          </p:cNvSpPr>
          <p:nvPr>
            <p:ph idx="1"/>
          </p:nvPr>
        </p:nvSpPr>
        <p:spPr>
          <a:xfrm>
            <a:off x="457200" y="990600"/>
            <a:ext cx="8183880" cy="4492752"/>
          </a:xfrm>
        </p:spPr>
        <p:txBody>
          <a:bodyPr>
            <a:normAutofit/>
          </a:bodyPr>
          <a:lstStyle/>
          <a:p>
            <a:pPr eaLnBrk="1" hangingPunct="1"/>
            <a:r>
              <a:rPr lang="en-US" sz="1800" dirty="0" smtClean="0">
                <a:cs typeface="Times New Roman" pitchFamily="18" charset="0"/>
              </a:rPr>
              <a:t>Product utility:	</a:t>
            </a:r>
            <a:r>
              <a:rPr lang="en-US" sz="1800" i="1" dirty="0" err="1" smtClean="0">
                <a:cs typeface="Times New Roman" pitchFamily="18" charset="0"/>
              </a:rPr>
              <a:t>U</a:t>
            </a:r>
            <a:r>
              <a:rPr lang="en-US" sz="1800" i="1" baseline="-25000" dirty="0" err="1" smtClean="0">
                <a:cs typeface="Times New Roman" pitchFamily="18" charset="0"/>
              </a:rPr>
              <a:t>jk</a:t>
            </a:r>
            <a:r>
              <a:rPr lang="en-US" sz="1800" i="1" dirty="0" smtClean="0">
                <a:cs typeface="Times New Roman" pitchFamily="18" charset="0"/>
              </a:rPr>
              <a:t> = </a:t>
            </a:r>
            <a:r>
              <a:rPr lang="en-US" sz="1800" i="1" dirty="0" smtClean="0">
                <a:cs typeface="Times New Roman" pitchFamily="18" charset="0"/>
                <a:sym typeface="Symbol" pitchFamily="18" charset="2"/>
              </a:rPr>
              <a:t></a:t>
            </a:r>
            <a:r>
              <a:rPr lang="en-US" sz="1800" i="1" baseline="-25000" dirty="0" smtClean="0">
                <a:cs typeface="Times New Roman" pitchFamily="18" charset="0"/>
              </a:rPr>
              <a:t>j</a:t>
            </a:r>
            <a:r>
              <a:rPr lang="en-US" sz="1800" i="1" dirty="0" smtClean="0">
                <a:cs typeface="Times New Roman" pitchFamily="18" charset="0"/>
              </a:rPr>
              <a:t> + </a:t>
            </a:r>
            <a:r>
              <a:rPr lang="en-US" sz="1800" i="1" dirty="0" smtClean="0">
                <a:cs typeface="Times New Roman" pitchFamily="18" charset="0"/>
                <a:sym typeface="Symbol" pitchFamily="18" charset="2"/>
              </a:rPr>
              <a:t></a:t>
            </a:r>
            <a:r>
              <a:rPr lang="en-US" sz="1800" i="1" dirty="0" smtClean="0">
                <a:cs typeface="Times New Roman" pitchFamily="18" charset="0"/>
              </a:rPr>
              <a:t> </a:t>
            </a:r>
            <a:r>
              <a:rPr lang="en-US" sz="1800" i="1" baseline="-25000" dirty="0" err="1" smtClean="0">
                <a:cs typeface="Times New Roman" pitchFamily="18" charset="0"/>
              </a:rPr>
              <a:t>jk</a:t>
            </a:r>
            <a:endParaRPr lang="en-US" sz="1800" i="1" baseline="-25000" dirty="0" smtClean="0">
              <a:cs typeface="Times New Roman" pitchFamily="18" charset="0"/>
            </a:endParaRPr>
          </a:p>
          <a:p>
            <a:pPr eaLnBrk="1" hangingPunct="1">
              <a:lnSpc>
                <a:spcPct val="120000"/>
              </a:lnSpc>
            </a:pPr>
            <a:r>
              <a:rPr lang="en-US" sz="1800" dirty="0" smtClean="0">
                <a:cs typeface="Times New Roman" pitchFamily="18" charset="0"/>
              </a:rPr>
              <a:t>(1) Mean utility: </a:t>
            </a:r>
          </a:p>
          <a:p>
            <a:pPr marL="571500" indent="0">
              <a:buNone/>
            </a:pPr>
            <a:r>
              <a:rPr lang="en-US" sz="1800" i="1" dirty="0">
                <a:sym typeface="Symbol"/>
              </a:rPr>
              <a:t></a:t>
            </a:r>
            <a:r>
              <a:rPr lang="en-US" sz="1800" i="1" baseline="-25000" dirty="0"/>
              <a:t>j</a:t>
            </a:r>
            <a:r>
              <a:rPr lang="en-US" sz="1800" dirty="0"/>
              <a:t> = </a:t>
            </a:r>
            <a:r>
              <a:rPr lang="en-US" sz="1800" i="1" dirty="0" smtClean="0">
                <a:sym typeface="Symbol"/>
              </a:rPr>
              <a:t></a:t>
            </a:r>
            <a:r>
              <a:rPr lang="en-US" sz="1800" i="1" baseline="-25000" dirty="0" smtClean="0"/>
              <a:t>1</a:t>
            </a:r>
            <a:r>
              <a:rPr lang="en-US" sz="1800" i="1" dirty="0" smtClean="0"/>
              <a:t>* </a:t>
            </a:r>
            <a:r>
              <a:rPr lang="en-US" sz="1800" i="1" dirty="0" err="1"/>
              <a:t>PRICE</a:t>
            </a:r>
            <a:r>
              <a:rPr lang="en-US" sz="1800" i="1" baseline="-25000" dirty="0" err="1"/>
              <a:t>j</a:t>
            </a:r>
            <a:r>
              <a:rPr lang="en-US" sz="1800" i="1" dirty="0"/>
              <a:t> + </a:t>
            </a:r>
            <a:r>
              <a:rPr lang="en-US" sz="1800" i="1" dirty="0" smtClean="0">
                <a:sym typeface="Symbol"/>
              </a:rPr>
              <a:t></a:t>
            </a:r>
            <a:r>
              <a:rPr lang="en-US" sz="1800" i="1" baseline="-25000" dirty="0" smtClean="0"/>
              <a:t>2</a:t>
            </a:r>
            <a:r>
              <a:rPr lang="en-US" sz="1800" i="1" dirty="0" smtClean="0"/>
              <a:t>*</a:t>
            </a:r>
            <a:r>
              <a:rPr lang="en-US" sz="1800" i="1" dirty="0" err="1" smtClean="0"/>
              <a:t>SUITE</a:t>
            </a:r>
            <a:r>
              <a:rPr lang="en-US" sz="1800" i="1" baseline="-25000" dirty="0" err="1" smtClean="0"/>
              <a:t>j</a:t>
            </a:r>
            <a:r>
              <a:rPr lang="en-US" sz="1800" i="1" dirty="0" smtClean="0"/>
              <a:t> </a:t>
            </a:r>
            <a:r>
              <a:rPr lang="en-US" sz="1800" i="1" dirty="0"/>
              <a:t>+</a:t>
            </a:r>
            <a:endParaRPr lang="en-US" sz="1800" dirty="0"/>
          </a:p>
          <a:p>
            <a:pPr marL="571500" indent="0">
              <a:lnSpc>
                <a:spcPct val="120000"/>
              </a:lnSpc>
              <a:buNone/>
            </a:pPr>
            <a:r>
              <a:rPr lang="en-US" sz="1800" i="1" dirty="0" smtClean="0">
                <a:sym typeface="Symbol"/>
              </a:rPr>
              <a:t></a:t>
            </a:r>
            <a:r>
              <a:rPr lang="en-US" sz="1800" i="1" baseline="-25000" dirty="0" smtClean="0"/>
              <a:t>3</a:t>
            </a:r>
            <a:r>
              <a:rPr lang="en-US" sz="1800" i="1" dirty="0" smtClean="0"/>
              <a:t>*YEAR94</a:t>
            </a:r>
            <a:r>
              <a:rPr lang="en-US" sz="1800" i="1" baseline="-25000" dirty="0" smtClean="0"/>
              <a:t>j</a:t>
            </a:r>
            <a:r>
              <a:rPr lang="en-US" sz="1800" i="1" dirty="0" smtClean="0"/>
              <a:t> </a:t>
            </a:r>
            <a:r>
              <a:rPr lang="en-US" sz="1800" i="1" dirty="0"/>
              <a:t>+ </a:t>
            </a:r>
            <a:r>
              <a:rPr lang="en-US" sz="1800" i="1" dirty="0" smtClean="0">
                <a:sym typeface="Symbol"/>
              </a:rPr>
              <a:t></a:t>
            </a:r>
            <a:r>
              <a:rPr lang="en-US" sz="1800" i="1" baseline="-25000" dirty="0" smtClean="0"/>
              <a:t>4</a:t>
            </a:r>
            <a:r>
              <a:rPr lang="en-US" sz="1800" i="1" dirty="0" smtClean="0"/>
              <a:t>*YEAR95</a:t>
            </a:r>
            <a:r>
              <a:rPr lang="en-US" sz="1800" i="1" baseline="-25000" dirty="0" smtClean="0"/>
              <a:t>j</a:t>
            </a:r>
            <a:r>
              <a:rPr lang="en-US" sz="1800" i="1" dirty="0" smtClean="0"/>
              <a:t> </a:t>
            </a:r>
            <a:r>
              <a:rPr lang="en-US" sz="1800" i="1" dirty="0"/>
              <a:t>+ </a:t>
            </a:r>
            <a:r>
              <a:rPr lang="en-US" sz="1800" i="1" dirty="0" smtClean="0">
                <a:sym typeface="Symbol"/>
              </a:rPr>
              <a:t></a:t>
            </a:r>
            <a:r>
              <a:rPr lang="en-US" sz="1800" i="1" baseline="-25000" dirty="0" smtClean="0"/>
              <a:t>5</a:t>
            </a:r>
            <a:r>
              <a:rPr lang="en-US" sz="1800" i="1" dirty="0" smtClean="0"/>
              <a:t>*YEAR96-98</a:t>
            </a:r>
            <a:r>
              <a:rPr lang="en-US" sz="1800" i="1" baseline="-25000" dirty="0" smtClean="0"/>
              <a:t>j</a:t>
            </a:r>
            <a:r>
              <a:rPr lang="en-US" sz="1800" i="1" dirty="0" smtClean="0"/>
              <a:t> </a:t>
            </a:r>
            <a:r>
              <a:rPr lang="en-US" sz="1800" i="1" dirty="0"/>
              <a:t>+ </a:t>
            </a:r>
            <a:endParaRPr lang="en-US" sz="1800" dirty="0"/>
          </a:p>
          <a:p>
            <a:pPr marL="571500" indent="0">
              <a:buNone/>
            </a:pPr>
            <a:r>
              <a:rPr lang="en-US" sz="1800" i="1" dirty="0" smtClean="0">
                <a:sym typeface="Symbol"/>
              </a:rPr>
              <a:t></a:t>
            </a:r>
            <a:r>
              <a:rPr lang="en-US" sz="1800" i="1" baseline="-25000" dirty="0" smtClean="0">
                <a:sym typeface="Symbol"/>
              </a:rPr>
              <a:t>6</a:t>
            </a:r>
            <a:r>
              <a:rPr lang="en-US" sz="1800" i="1" dirty="0" smtClean="0"/>
              <a:t>* </a:t>
            </a:r>
            <a:r>
              <a:rPr lang="en-US" sz="1800" i="1" dirty="0" err="1" smtClean="0"/>
              <a:t>SS</a:t>
            </a:r>
            <a:r>
              <a:rPr lang="en-US" sz="1800" i="1" baseline="-25000" dirty="0" err="1" smtClean="0"/>
              <a:t>j</a:t>
            </a:r>
            <a:r>
              <a:rPr lang="en-US" sz="1800" i="1" baseline="-25000" dirty="0" smtClean="0"/>
              <a:t> * </a:t>
            </a:r>
            <a:r>
              <a:rPr lang="en-US" sz="1800" i="1" dirty="0" err="1" smtClean="0"/>
              <a:t>RELQUAL_SS</a:t>
            </a:r>
            <a:r>
              <a:rPr lang="en-US" sz="1800" i="1" baseline="-25000" dirty="0" err="1" smtClean="0"/>
              <a:t>j</a:t>
            </a:r>
            <a:r>
              <a:rPr lang="en-US" sz="1800" i="1" dirty="0" smtClean="0"/>
              <a:t> + </a:t>
            </a:r>
            <a:r>
              <a:rPr lang="en-US" sz="1800" i="1" dirty="0" smtClean="0">
                <a:sym typeface="Symbol"/>
              </a:rPr>
              <a:t></a:t>
            </a:r>
            <a:r>
              <a:rPr lang="en-US" sz="1800" i="1" baseline="-25000" dirty="0" smtClean="0"/>
              <a:t>7</a:t>
            </a:r>
            <a:r>
              <a:rPr lang="en-US" sz="1800" i="1" dirty="0" smtClean="0"/>
              <a:t>* </a:t>
            </a:r>
            <a:r>
              <a:rPr lang="en-US" sz="1800" i="1" dirty="0" err="1" smtClean="0"/>
              <a:t>WP</a:t>
            </a:r>
            <a:r>
              <a:rPr lang="en-US" sz="1800" i="1" baseline="-25000" dirty="0" err="1" smtClean="0"/>
              <a:t>j</a:t>
            </a:r>
            <a:r>
              <a:rPr lang="en-US" sz="1800" i="1" baseline="-25000" dirty="0" smtClean="0"/>
              <a:t> *</a:t>
            </a:r>
            <a:r>
              <a:rPr lang="en-US" sz="1800" i="1" dirty="0" err="1" smtClean="0"/>
              <a:t>RELQUAL_WP</a:t>
            </a:r>
            <a:r>
              <a:rPr lang="en-US" sz="1800" i="1" baseline="-25000" dirty="0" err="1" smtClean="0"/>
              <a:t>j</a:t>
            </a:r>
            <a:r>
              <a:rPr lang="en-US" sz="1800" i="1" dirty="0" smtClean="0"/>
              <a:t> +</a:t>
            </a:r>
            <a:endParaRPr lang="en-US" sz="1800" dirty="0" smtClean="0"/>
          </a:p>
          <a:p>
            <a:pPr marL="571500" indent="0">
              <a:buNone/>
            </a:pPr>
            <a:r>
              <a:rPr lang="en-US" sz="1800" i="1" dirty="0" smtClean="0">
                <a:sym typeface="Symbol"/>
              </a:rPr>
              <a:t></a:t>
            </a:r>
            <a:r>
              <a:rPr lang="en-US" sz="1800" i="1" baseline="-25000" dirty="0" smtClean="0"/>
              <a:t>8</a:t>
            </a:r>
            <a:r>
              <a:rPr lang="en-US" sz="1800" i="1" dirty="0" smtClean="0"/>
              <a:t>* </a:t>
            </a:r>
            <a:r>
              <a:rPr lang="en-US" sz="1800" i="1" dirty="0" err="1"/>
              <a:t>SS</a:t>
            </a:r>
            <a:r>
              <a:rPr lang="en-US" sz="1800" i="1" baseline="-25000" dirty="0" err="1"/>
              <a:t>j</a:t>
            </a:r>
            <a:r>
              <a:rPr lang="en-US" sz="1800" i="1" baseline="-25000" dirty="0"/>
              <a:t> * </a:t>
            </a:r>
            <a:r>
              <a:rPr lang="en-US" sz="1800" i="1" dirty="0" smtClean="0"/>
              <a:t>RELQUAL_SS</a:t>
            </a:r>
            <a:r>
              <a:rPr lang="en-US" sz="1800" i="1" baseline="-25000" dirty="0" smtClean="0"/>
              <a:t>j</a:t>
            </a:r>
            <a:r>
              <a:rPr lang="en-US" sz="1800" i="1" baseline="30000" dirty="0" smtClean="0"/>
              <a:t>2</a:t>
            </a:r>
            <a:r>
              <a:rPr lang="en-US" sz="1800" i="1" dirty="0" smtClean="0"/>
              <a:t> </a:t>
            </a:r>
            <a:r>
              <a:rPr lang="en-US" sz="1800" i="1" dirty="0"/>
              <a:t>+ </a:t>
            </a:r>
            <a:r>
              <a:rPr lang="en-US" sz="1800" i="1" dirty="0" smtClean="0">
                <a:sym typeface="Symbol"/>
              </a:rPr>
              <a:t></a:t>
            </a:r>
            <a:r>
              <a:rPr lang="en-US" sz="1800" i="1" baseline="-25000" dirty="0" smtClean="0"/>
              <a:t>9</a:t>
            </a:r>
            <a:r>
              <a:rPr lang="en-US" sz="1800" i="1" dirty="0" smtClean="0"/>
              <a:t>* </a:t>
            </a:r>
            <a:r>
              <a:rPr lang="en-US" sz="1800" i="1" dirty="0" err="1"/>
              <a:t>WP</a:t>
            </a:r>
            <a:r>
              <a:rPr lang="en-US" sz="1800" i="1" baseline="-25000" dirty="0" err="1"/>
              <a:t>j</a:t>
            </a:r>
            <a:r>
              <a:rPr lang="en-US" sz="1800" i="1" baseline="-25000" dirty="0"/>
              <a:t> *</a:t>
            </a:r>
            <a:r>
              <a:rPr lang="en-US" sz="1800" i="1" dirty="0" smtClean="0"/>
              <a:t>RELQUAL_WP</a:t>
            </a:r>
            <a:r>
              <a:rPr lang="en-US" sz="1800" i="1" baseline="-25000" dirty="0" smtClean="0"/>
              <a:t>j</a:t>
            </a:r>
            <a:r>
              <a:rPr lang="en-US" sz="1800" i="1" baseline="30000" dirty="0" smtClean="0"/>
              <a:t>2</a:t>
            </a:r>
            <a:r>
              <a:rPr lang="en-US" sz="1800" i="1" dirty="0" smtClean="0"/>
              <a:t> +</a:t>
            </a:r>
            <a:endParaRPr lang="en-US" sz="1800" dirty="0"/>
          </a:p>
          <a:p>
            <a:pPr marL="571500" indent="0">
              <a:buNone/>
            </a:pPr>
            <a:r>
              <a:rPr lang="en-US" sz="1800" i="1" dirty="0" smtClean="0">
                <a:sym typeface="Symbol"/>
              </a:rPr>
              <a:t></a:t>
            </a:r>
            <a:r>
              <a:rPr lang="en-US" sz="1800" i="1" baseline="-25000" dirty="0" smtClean="0"/>
              <a:t>10</a:t>
            </a:r>
            <a:r>
              <a:rPr lang="en-US" sz="1800" i="1" dirty="0" smtClean="0"/>
              <a:t>* </a:t>
            </a:r>
            <a:r>
              <a:rPr lang="en-US" sz="1800" i="1" dirty="0" err="1"/>
              <a:t>MICROSOFT</a:t>
            </a:r>
            <a:r>
              <a:rPr lang="en-US" sz="1800" i="1" baseline="-25000" dirty="0" err="1"/>
              <a:t>j</a:t>
            </a:r>
            <a:r>
              <a:rPr lang="en-US" sz="1800" i="1" dirty="0"/>
              <a:t> + </a:t>
            </a:r>
            <a:r>
              <a:rPr lang="en-US" sz="1800" i="1" dirty="0" smtClean="0">
                <a:sym typeface="Symbol"/>
              </a:rPr>
              <a:t></a:t>
            </a:r>
            <a:r>
              <a:rPr lang="en-US" sz="1800" i="1" baseline="-25000" dirty="0" smtClean="0"/>
              <a:t>11</a:t>
            </a:r>
            <a:r>
              <a:rPr lang="en-US" sz="1800" i="1" dirty="0" smtClean="0"/>
              <a:t>* </a:t>
            </a:r>
            <a:r>
              <a:rPr lang="en-US" sz="1800" i="1" dirty="0" err="1"/>
              <a:t>MICROSOFT</a:t>
            </a:r>
            <a:r>
              <a:rPr lang="en-US" sz="1800" i="1" baseline="-25000" dirty="0" err="1"/>
              <a:t>j</a:t>
            </a:r>
            <a:r>
              <a:rPr lang="en-US" sz="1800" i="1" dirty="0"/>
              <a:t>*</a:t>
            </a:r>
            <a:r>
              <a:rPr lang="en-US" sz="1800" i="1" dirty="0" err="1"/>
              <a:t>SUITE</a:t>
            </a:r>
            <a:r>
              <a:rPr lang="en-US" sz="1800" i="1" baseline="-25000" dirty="0" err="1"/>
              <a:t>j</a:t>
            </a:r>
            <a:r>
              <a:rPr lang="en-US" sz="1800" i="1" dirty="0"/>
              <a:t>*YEAR96-98</a:t>
            </a:r>
            <a:r>
              <a:rPr lang="en-US" sz="1800" i="1" baseline="-25000" dirty="0"/>
              <a:t>j</a:t>
            </a:r>
            <a:r>
              <a:rPr lang="en-US" sz="1800" i="1" dirty="0"/>
              <a:t> + </a:t>
            </a:r>
            <a:r>
              <a:rPr lang="en-US" sz="1800" i="1" dirty="0">
                <a:sym typeface="Symbol"/>
              </a:rPr>
              <a:t></a:t>
            </a:r>
            <a:r>
              <a:rPr lang="en-US" sz="1800" i="1" dirty="0"/>
              <a:t> </a:t>
            </a:r>
            <a:r>
              <a:rPr lang="en-US" sz="1800" i="1" baseline="-25000" dirty="0"/>
              <a:t>j</a:t>
            </a:r>
            <a:endParaRPr lang="en-US" sz="1800" dirty="0"/>
          </a:p>
          <a:p>
            <a:pPr marL="0" indent="0" eaLnBrk="1" hangingPunct="1">
              <a:lnSpc>
                <a:spcPct val="120000"/>
              </a:lnSpc>
              <a:buNone/>
              <a:tabLst>
                <a:tab pos="457200" algn="l"/>
              </a:tabLst>
            </a:pPr>
            <a:r>
              <a:rPr lang="en-US" sz="1800" i="1" dirty="0" smtClean="0">
                <a:cs typeface="Times New Roman" pitchFamily="18" charset="0"/>
                <a:sym typeface="Symbol" pitchFamily="18" charset="2"/>
              </a:rPr>
              <a:t>	</a:t>
            </a:r>
            <a:endParaRPr lang="en-US" sz="1800" baseline="-25000" dirty="0" smtClean="0">
              <a:solidFill>
                <a:srgbClr val="FF0000"/>
              </a:solidFill>
              <a:cs typeface="Times New Roman" pitchFamily="18" charset="0"/>
            </a:endParaRPr>
          </a:p>
          <a:p>
            <a:r>
              <a:rPr lang="en-US" sz="1800" dirty="0" smtClean="0">
                <a:cs typeface="Times New Roman" pitchFamily="18" charset="0"/>
              </a:rPr>
              <a:t>(2) Random utility: </a:t>
            </a:r>
            <a:r>
              <a:rPr lang="el-GR" sz="1800" dirty="0" smtClean="0">
                <a:cs typeface="Times New Roman" pitchFamily="18" charset="0"/>
              </a:rPr>
              <a:t>θ</a:t>
            </a:r>
            <a:r>
              <a:rPr lang="en-US" sz="1800" baseline="-25000" dirty="0" err="1" smtClean="0">
                <a:cs typeface="Times New Roman" pitchFamily="18" charset="0"/>
              </a:rPr>
              <a:t>jk</a:t>
            </a:r>
            <a:r>
              <a:rPr lang="en-US" sz="1800" dirty="0" smtClean="0">
                <a:cs typeface="Times New Roman" pitchFamily="18" charset="0"/>
              </a:rPr>
              <a:t>=</a:t>
            </a:r>
            <a:r>
              <a:rPr lang="el-GR" sz="1800" dirty="0" smtClean="0">
                <a:cs typeface="Times New Roman" pitchFamily="18" charset="0"/>
              </a:rPr>
              <a:t>σ</a:t>
            </a:r>
            <a:r>
              <a:rPr lang="en-US" sz="1800" baseline="-25000" dirty="0" smtClean="0">
                <a:cs typeface="Times New Roman" pitchFamily="18" charset="0"/>
              </a:rPr>
              <a:t>1</a:t>
            </a:r>
            <a:r>
              <a:rPr lang="en-US" sz="1800" dirty="0" smtClean="0">
                <a:cs typeface="Times New Roman" pitchFamily="18" charset="0"/>
              </a:rPr>
              <a:t>*</a:t>
            </a:r>
            <a:r>
              <a:rPr lang="en-US" sz="1800" dirty="0" err="1" smtClean="0">
                <a:cs typeface="Times New Roman" pitchFamily="18" charset="0"/>
              </a:rPr>
              <a:t>SS</a:t>
            </a:r>
            <a:r>
              <a:rPr lang="en-US" sz="1800" baseline="-25000" dirty="0" err="1" smtClean="0">
                <a:cs typeface="Times New Roman" pitchFamily="18" charset="0"/>
              </a:rPr>
              <a:t>j</a:t>
            </a:r>
            <a:r>
              <a:rPr lang="en-US" sz="1800" dirty="0" smtClean="0">
                <a:cs typeface="Times New Roman" pitchFamily="18" charset="0"/>
              </a:rPr>
              <a:t>*</a:t>
            </a:r>
            <a:r>
              <a:rPr lang="en-US" sz="1800" dirty="0" err="1" smtClean="0">
                <a:cs typeface="Times New Roman" pitchFamily="18" charset="0"/>
              </a:rPr>
              <a:t>y</a:t>
            </a:r>
            <a:r>
              <a:rPr lang="en-US" sz="1800" baseline="-25000" dirty="0" err="1" smtClean="0">
                <a:cs typeface="Times New Roman" pitchFamily="18" charset="0"/>
              </a:rPr>
              <a:t>k</a:t>
            </a:r>
            <a:r>
              <a:rPr lang="en-US" sz="1800" dirty="0" smtClean="0">
                <a:cs typeface="Times New Roman" pitchFamily="18" charset="0"/>
              </a:rPr>
              <a:t>+</a:t>
            </a:r>
            <a:r>
              <a:rPr lang="el-GR" sz="1800" dirty="0" smtClean="0">
                <a:cs typeface="Times New Roman" pitchFamily="18" charset="0"/>
              </a:rPr>
              <a:t>σ</a:t>
            </a:r>
            <a:r>
              <a:rPr lang="en-US" sz="1800" baseline="-25000" dirty="0" smtClean="0">
                <a:cs typeface="Times New Roman" pitchFamily="18" charset="0"/>
              </a:rPr>
              <a:t>2</a:t>
            </a:r>
            <a:r>
              <a:rPr lang="en-US" sz="1800" dirty="0" smtClean="0">
                <a:cs typeface="Times New Roman" pitchFamily="18" charset="0"/>
              </a:rPr>
              <a:t>*</a:t>
            </a:r>
            <a:r>
              <a:rPr lang="en-US" sz="1800" dirty="0" err="1" smtClean="0">
                <a:cs typeface="Times New Roman" pitchFamily="18" charset="0"/>
              </a:rPr>
              <a:t>WP</a:t>
            </a:r>
            <a:r>
              <a:rPr lang="en-US" sz="1800" baseline="-25000" dirty="0" err="1" smtClean="0">
                <a:cs typeface="Times New Roman" pitchFamily="18" charset="0"/>
              </a:rPr>
              <a:t>j</a:t>
            </a:r>
            <a:r>
              <a:rPr lang="en-US" sz="1800" dirty="0" smtClean="0">
                <a:cs typeface="Times New Roman" pitchFamily="18" charset="0"/>
              </a:rPr>
              <a:t>*</a:t>
            </a:r>
            <a:r>
              <a:rPr lang="en-US" sz="1800" dirty="0" err="1" smtClean="0">
                <a:cs typeface="Times New Roman" pitchFamily="18" charset="0"/>
              </a:rPr>
              <a:t>y</a:t>
            </a:r>
            <a:r>
              <a:rPr lang="en-US" sz="1800" baseline="-25000" dirty="0" err="1" smtClean="0">
                <a:cs typeface="Times New Roman" pitchFamily="18" charset="0"/>
              </a:rPr>
              <a:t>k</a:t>
            </a:r>
            <a:r>
              <a:rPr lang="en-US" sz="1800" dirty="0" smtClean="0">
                <a:cs typeface="Times New Roman" pitchFamily="18" charset="0"/>
              </a:rPr>
              <a:t>+</a:t>
            </a:r>
            <a:r>
              <a:rPr lang="el-GR" sz="1800" dirty="0" smtClean="0">
                <a:cs typeface="Times New Roman" pitchFamily="18" charset="0"/>
              </a:rPr>
              <a:t>ε</a:t>
            </a:r>
            <a:r>
              <a:rPr lang="en-US" sz="1800" baseline="-25000" dirty="0" err="1" smtClean="0">
                <a:cs typeface="Times New Roman" pitchFamily="18" charset="0"/>
              </a:rPr>
              <a:t>jk</a:t>
            </a:r>
            <a:endParaRPr lang="en-US" sz="1800" baseline="-25000" dirty="0" smtClean="0">
              <a:cs typeface="Times New Roman" pitchFamily="18" charset="0"/>
            </a:endParaRPr>
          </a:p>
          <a:p>
            <a:pPr algn="ctr">
              <a:buNone/>
            </a:pPr>
            <a:r>
              <a:rPr lang="el-GR" sz="1800" baseline="-25000" dirty="0" smtClean="0">
                <a:cs typeface="Times New Roman" pitchFamily="18" charset="0"/>
              </a:rPr>
              <a:t>θ</a:t>
            </a:r>
            <a:r>
              <a:rPr lang="en-US" sz="1800" baseline="-25000" dirty="0" err="1" smtClean="0">
                <a:cs typeface="Times New Roman" pitchFamily="18" charset="0"/>
              </a:rPr>
              <a:t>jk</a:t>
            </a:r>
            <a:r>
              <a:rPr lang="en-US" sz="1800" baseline="-25000" dirty="0" smtClean="0">
                <a:cs typeface="Times New Roman" pitchFamily="18" charset="0"/>
              </a:rPr>
              <a:t> includes a common (software category) component </a:t>
            </a:r>
            <a:r>
              <a:rPr lang="en-US" sz="1800" baseline="-25000" dirty="0" err="1" smtClean="0">
                <a:cs typeface="Times New Roman" pitchFamily="18" charset="0"/>
              </a:rPr>
              <a:t>yk</a:t>
            </a:r>
            <a:r>
              <a:rPr lang="en-US" sz="1800" baseline="-25000" dirty="0" smtClean="0">
                <a:cs typeface="Times New Roman" pitchFamily="18" charset="0"/>
              </a:rPr>
              <a:t> (std. normal)</a:t>
            </a:r>
          </a:p>
          <a:p>
            <a:pPr lvl="1"/>
            <a:endParaRPr lang="en-US" sz="1400" dirty="0" smtClean="0">
              <a:cs typeface="Times New Roman" pitchFamily="18" charset="0"/>
            </a:endParaRPr>
          </a:p>
          <a:p>
            <a:pPr lvl="1"/>
            <a:r>
              <a:rPr lang="en-US" sz="1400" dirty="0" smtClean="0">
                <a:cs typeface="Times New Roman" pitchFamily="18" charset="0"/>
              </a:rPr>
              <a:t>	~  </a:t>
            </a:r>
            <a:r>
              <a:rPr lang="en-US" sz="1400" dirty="0" err="1" smtClean="0">
                <a:cs typeface="Times New Roman" pitchFamily="18" charset="0"/>
              </a:rPr>
              <a:t>i.i.d</a:t>
            </a:r>
            <a:r>
              <a:rPr lang="en-US" sz="1400" dirty="0" smtClean="0">
                <a:cs typeface="Times New Roman" pitchFamily="18" charset="0"/>
              </a:rPr>
              <a:t>. double exponential, which implies</a:t>
            </a:r>
          </a:p>
          <a:p>
            <a:pPr eaLnBrk="1" hangingPunct="1">
              <a:buFontTx/>
              <a:buNone/>
            </a:pPr>
            <a:r>
              <a:rPr lang="en-US" sz="1800" dirty="0" smtClean="0">
                <a:cs typeface="Times New Roman" pitchFamily="18" charset="0"/>
              </a:rPr>
              <a:t>	</a:t>
            </a:r>
          </a:p>
        </p:txBody>
      </p:sp>
      <p:sp>
        <p:nvSpPr>
          <p:cNvPr id="7176" name="Rectangle 7"/>
          <p:cNvSpPr>
            <a:spLocks noChangeArrowheads="1"/>
          </p:cNvSpPr>
          <p:nvPr/>
        </p:nvSpPr>
        <p:spPr bwMode="auto">
          <a:xfrm>
            <a:off x="0" y="-184666"/>
            <a:ext cx="184731" cy="369332"/>
          </a:xfrm>
          <a:prstGeom prst="rect">
            <a:avLst/>
          </a:prstGeom>
          <a:noFill/>
          <a:ln w="9525">
            <a:noFill/>
            <a:miter lim="800000"/>
            <a:headEnd/>
            <a:tailEnd/>
          </a:ln>
        </p:spPr>
        <p:txBody>
          <a:bodyPr wrap="none" anchor="ctr">
            <a:spAutoFit/>
          </a:bodyPr>
          <a:lstStyle/>
          <a:p>
            <a:endParaRPr lang="he-IL">
              <a:latin typeface="+mn-lt"/>
            </a:endParaRPr>
          </a:p>
        </p:txBody>
      </p:sp>
      <p:sp>
        <p:nvSpPr>
          <p:cNvPr id="7177" name="Rectangle 9"/>
          <p:cNvSpPr>
            <a:spLocks noChangeArrowheads="1"/>
          </p:cNvSpPr>
          <p:nvPr/>
        </p:nvSpPr>
        <p:spPr bwMode="auto">
          <a:xfrm>
            <a:off x="0" y="-184666"/>
            <a:ext cx="184731" cy="369332"/>
          </a:xfrm>
          <a:prstGeom prst="rect">
            <a:avLst/>
          </a:prstGeom>
          <a:noFill/>
          <a:ln w="9525">
            <a:noFill/>
            <a:miter lim="800000"/>
            <a:headEnd/>
            <a:tailEnd/>
          </a:ln>
        </p:spPr>
        <p:txBody>
          <a:bodyPr wrap="none" anchor="ctr">
            <a:spAutoFit/>
          </a:bodyPr>
          <a:lstStyle/>
          <a:p>
            <a:endParaRPr lang="he-IL">
              <a:latin typeface="+mn-lt"/>
            </a:endParaRPr>
          </a:p>
        </p:txBody>
      </p:sp>
      <p:sp>
        <p:nvSpPr>
          <p:cNvPr id="7178" name="Rectangle 11"/>
          <p:cNvSpPr>
            <a:spLocks noChangeArrowheads="1"/>
          </p:cNvSpPr>
          <p:nvPr/>
        </p:nvSpPr>
        <p:spPr bwMode="auto">
          <a:xfrm>
            <a:off x="0" y="-184666"/>
            <a:ext cx="184731" cy="369332"/>
          </a:xfrm>
          <a:prstGeom prst="rect">
            <a:avLst/>
          </a:prstGeom>
          <a:noFill/>
          <a:ln w="9525">
            <a:noFill/>
            <a:miter lim="800000"/>
            <a:headEnd/>
            <a:tailEnd/>
          </a:ln>
        </p:spPr>
        <p:txBody>
          <a:bodyPr wrap="none" anchor="ctr">
            <a:spAutoFit/>
          </a:bodyPr>
          <a:lstStyle/>
          <a:p>
            <a:endParaRPr lang="he-IL">
              <a:latin typeface="+mn-lt"/>
            </a:endParaRPr>
          </a:p>
        </p:txBody>
      </p:sp>
      <p:sp>
        <p:nvSpPr>
          <p:cNvPr id="7179" name="Text Box 12"/>
          <p:cNvSpPr txBox="1">
            <a:spLocks noChangeArrowheads="1"/>
          </p:cNvSpPr>
          <p:nvPr/>
        </p:nvSpPr>
        <p:spPr bwMode="auto">
          <a:xfrm>
            <a:off x="533400" y="6045398"/>
            <a:ext cx="7111819" cy="307777"/>
          </a:xfrm>
          <a:prstGeom prst="rect">
            <a:avLst/>
          </a:prstGeom>
          <a:noFill/>
          <a:ln w="9525">
            <a:noFill/>
            <a:miter lim="800000"/>
            <a:headEnd/>
            <a:tailEnd/>
          </a:ln>
        </p:spPr>
        <p:txBody>
          <a:bodyPr wrap="none">
            <a:spAutoFit/>
          </a:bodyPr>
          <a:lstStyle/>
          <a:p>
            <a:r>
              <a:rPr lang="en-US" sz="1400" i="1" dirty="0" smtClean="0">
                <a:latin typeface="+mn-lt"/>
                <a:cs typeface="Times New Roman" pitchFamily="18" charset="0"/>
              </a:rPr>
              <a:t>j</a:t>
            </a:r>
            <a:r>
              <a:rPr lang="en-US" sz="1400" dirty="0" smtClean="0">
                <a:latin typeface="+mn-lt"/>
                <a:cs typeface="Times New Roman" pitchFamily="18" charset="0"/>
              </a:rPr>
              <a:t> </a:t>
            </a:r>
            <a:r>
              <a:rPr lang="en-US" sz="1400" dirty="0">
                <a:latin typeface="+mn-lt"/>
                <a:cs typeface="Times New Roman" pitchFamily="18" charset="0"/>
              </a:rPr>
              <a:t>indexes the product; </a:t>
            </a:r>
            <a:r>
              <a:rPr lang="en-US" sz="1400" i="1" dirty="0">
                <a:latin typeface="+mn-lt"/>
                <a:cs typeface="Times New Roman" pitchFamily="18" charset="0"/>
              </a:rPr>
              <a:t>k</a:t>
            </a:r>
            <a:r>
              <a:rPr lang="en-US" sz="1400" dirty="0">
                <a:latin typeface="+mn-lt"/>
                <a:cs typeface="Times New Roman" pitchFamily="18" charset="0"/>
              </a:rPr>
              <a:t> indexes the consumer; time subscript is </a:t>
            </a:r>
            <a:r>
              <a:rPr lang="en-US" sz="1400" dirty="0" smtClean="0">
                <a:latin typeface="+mn-lt"/>
                <a:cs typeface="Times New Roman" pitchFamily="18" charset="0"/>
              </a:rPr>
              <a:t>suppressed</a:t>
            </a:r>
            <a:endParaRPr lang="en-US" sz="1400" dirty="0">
              <a:latin typeface="+mn-lt"/>
              <a:cs typeface="Times New Roman" pitchFamily="18" charset="0"/>
            </a:endParaRPr>
          </a:p>
        </p:txBody>
      </p:sp>
      <p:graphicFrame>
        <p:nvGraphicFramePr>
          <p:cNvPr id="7172" name="Object 16"/>
          <p:cNvGraphicFramePr>
            <a:graphicFrameLocks noChangeAspect="1"/>
          </p:cNvGraphicFramePr>
          <p:nvPr>
            <p:extLst>
              <p:ext uri="{D42A27DB-BD31-4B8C-83A1-F6EECF244321}">
                <p14:modId xmlns:p14="http://schemas.microsoft.com/office/powerpoint/2010/main" val="354985539"/>
              </p:ext>
            </p:extLst>
          </p:nvPr>
        </p:nvGraphicFramePr>
        <p:xfrm>
          <a:off x="1219200" y="4419600"/>
          <a:ext cx="280670" cy="381000"/>
        </p:xfrm>
        <a:graphic>
          <a:graphicData uri="http://schemas.openxmlformats.org/presentationml/2006/ole">
            <mc:AlternateContent xmlns:mc="http://schemas.openxmlformats.org/markup-compatibility/2006">
              <mc:Choice xmlns:v="urn:schemas-microsoft-com:vml" Requires="v">
                <p:oleObj spid="_x0000_s7226" r:id="rId3" imgW="215713" imgH="241091" progId="">
                  <p:embed/>
                </p:oleObj>
              </mc:Choice>
              <mc:Fallback>
                <p:oleObj r:id="rId3" imgW="215713" imgH="241091" progId="">
                  <p:embed/>
                  <p:pic>
                    <p:nvPicPr>
                      <p:cNvPr id="0" name="Picture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4419600"/>
                        <a:ext cx="28067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ctangle 6"/>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latin typeface="+mn-lt"/>
            </a:endParaRPr>
          </a:p>
        </p:txBody>
      </p:sp>
      <p:graphicFrame>
        <p:nvGraphicFramePr>
          <p:cNvPr id="3" name="Object 5"/>
          <p:cNvGraphicFramePr>
            <a:graphicFrameLocks noChangeAspect="1"/>
          </p:cNvGraphicFramePr>
          <p:nvPr>
            <p:extLst>
              <p:ext uri="{D42A27DB-BD31-4B8C-83A1-F6EECF244321}">
                <p14:modId xmlns:p14="http://schemas.microsoft.com/office/powerpoint/2010/main" val="1067603345"/>
              </p:ext>
            </p:extLst>
          </p:nvPr>
        </p:nvGraphicFramePr>
        <p:xfrm>
          <a:off x="2419350" y="4876800"/>
          <a:ext cx="3619500" cy="914400"/>
        </p:xfrm>
        <a:graphic>
          <a:graphicData uri="http://schemas.openxmlformats.org/presentationml/2006/ole">
            <mc:AlternateContent xmlns:mc="http://schemas.openxmlformats.org/markup-compatibility/2006">
              <mc:Choice xmlns:v="urn:schemas-microsoft-com:vml" Requires="v">
                <p:oleObj spid="_x0000_s7227" name="Equation" r:id="rId5" imgW="2006280" imgH="520560" progId="Equation.3">
                  <p:embed/>
                </p:oleObj>
              </mc:Choice>
              <mc:Fallback>
                <p:oleObj name="Equation" r:id="rId5" imgW="2006280" imgH="520560" progId="Equation.3">
                  <p:embed/>
                  <p:pic>
                    <p:nvPicPr>
                      <p:cNvPr id="0" name="Picture 5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9350" y="4876800"/>
                        <a:ext cx="36195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1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228" name="Rectangle 6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229" name="Rectangle 61"/>
          <p:cNvSpPr>
            <a:spLocks noChangeArrowheads="1"/>
          </p:cNvSpPr>
          <p:nvPr/>
        </p:nvSpPr>
        <p:spPr bwMode="auto">
          <a:xfrm>
            <a:off x="0" y="2381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Correlation in Preferences</a:t>
            </a:r>
            <a:endParaRPr lang="en-US" dirty="0"/>
          </a:p>
        </p:txBody>
      </p:sp>
      <p:sp>
        <p:nvSpPr>
          <p:cNvPr id="3" name="Content Placeholder 2"/>
          <p:cNvSpPr>
            <a:spLocks noGrp="1"/>
          </p:cNvSpPr>
          <p:nvPr>
            <p:ph idx="1"/>
          </p:nvPr>
        </p:nvSpPr>
        <p:spPr/>
        <p:txBody>
          <a:bodyPr/>
          <a:lstStyle/>
          <a:p>
            <a:pPr algn="just"/>
            <a:r>
              <a:rPr lang="en-US" dirty="0" smtClean="0">
                <a:latin typeface="Arial"/>
              </a:rPr>
              <a:t>An important feature of this specification is that it allows a consumer’s demand for a word processor to be correlated with the consumer’s demand for a spreadsheet.  </a:t>
            </a:r>
          </a:p>
          <a:p>
            <a:pPr algn="just"/>
            <a:r>
              <a:rPr lang="en-US" dirty="0" smtClean="0">
                <a:latin typeface="Arial"/>
              </a:rPr>
              <a:t>The correlation in consumer preferences between spreadsheet and arbitrary word processor (CWPSS) is   .  </a:t>
            </a:r>
            <a:endParaRPr lang="he-IL" dirty="0" smtClean="0">
              <a:latin typeface="Arial"/>
            </a:endParaRPr>
          </a:p>
          <a:p>
            <a:endParaRPr lang="en-US" dirty="0"/>
          </a:p>
        </p:txBody>
      </p:sp>
      <p:sp>
        <p:nvSpPr>
          <p:cNvPr id="757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75780" name="Picture 4"/>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276600" y="4343400"/>
            <a:ext cx="2438400" cy="838200"/>
          </a:xfrm>
          <a:prstGeom prst="rect">
            <a:avLst/>
          </a:prstGeom>
          <a:noFill/>
        </p:spPr>
      </p:pic>
      <p:sp>
        <p:nvSpPr>
          <p:cNvPr id="6" name="TextBox 5"/>
          <p:cNvSpPr txBox="1"/>
          <p:nvPr/>
        </p:nvSpPr>
        <p:spPr>
          <a:xfrm>
            <a:off x="4267200" y="4572000"/>
            <a:ext cx="533400" cy="276999"/>
          </a:xfrm>
          <a:prstGeom prst="rect">
            <a:avLst/>
          </a:prstGeom>
          <a:noFill/>
        </p:spPr>
        <p:txBody>
          <a:bodyPr wrap="square" rtlCol="0">
            <a:spAutoFit/>
          </a:bodyPr>
          <a:lstStyle/>
          <a:p>
            <a:r>
              <a:rPr lang="en-US" sz="1200" dirty="0" smtClean="0"/>
              <a:t>1/2</a:t>
            </a:r>
            <a:endParaRPr lang="en-US" sz="1200" dirty="0"/>
          </a:p>
        </p:txBody>
      </p:sp>
      <p:sp>
        <p:nvSpPr>
          <p:cNvPr id="7" name="TextBox 6"/>
          <p:cNvSpPr txBox="1"/>
          <p:nvPr/>
        </p:nvSpPr>
        <p:spPr>
          <a:xfrm>
            <a:off x="5562600" y="4572000"/>
            <a:ext cx="533400" cy="276999"/>
          </a:xfrm>
          <a:prstGeom prst="rect">
            <a:avLst/>
          </a:prstGeom>
          <a:noFill/>
        </p:spPr>
        <p:txBody>
          <a:bodyPr wrap="square" rtlCol="0">
            <a:spAutoFit/>
          </a:bodyPr>
          <a:lstStyle/>
          <a:p>
            <a:r>
              <a:rPr lang="en-US" sz="1200" dirty="0" smtClean="0"/>
              <a:t>1/2</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0"/>
            <a:ext cx="8183880" cy="4187952"/>
          </a:xfrm>
        </p:spPr>
        <p:txBody>
          <a:bodyPr>
            <a:normAutofit fontScale="85000" lnSpcReduction="20000"/>
          </a:bodyPr>
          <a:lstStyle/>
          <a:p>
            <a:r>
              <a:rPr lang="en-US" dirty="0" smtClean="0">
                <a:cs typeface="Times New Roman" pitchFamily="18" charset="0"/>
              </a:rPr>
              <a:t>Instrument for price. </a:t>
            </a:r>
            <a:r>
              <a:rPr lang="en-US" smtClean="0">
                <a:cs typeface="Times New Roman" pitchFamily="18" charset="0"/>
              </a:rPr>
              <a:t>We have four </a:t>
            </a:r>
            <a:r>
              <a:rPr lang="en-US" dirty="0">
                <a:cs typeface="Times New Roman" pitchFamily="18" charset="0"/>
              </a:rPr>
              <a:t>IVs:</a:t>
            </a:r>
          </a:p>
          <a:p>
            <a:pPr>
              <a:buFontTx/>
              <a:buChar char="•"/>
            </a:pPr>
            <a:endParaRPr lang="en-US" dirty="0">
              <a:cs typeface="Times New Roman" pitchFamily="18" charset="0"/>
            </a:endParaRPr>
          </a:p>
          <a:p>
            <a:pPr lvl="1">
              <a:buFont typeface="Arial" pitchFamily="34" charset="0"/>
              <a:buChar char="•"/>
            </a:pPr>
            <a:r>
              <a:rPr lang="en-US" dirty="0">
                <a:cs typeface="Times New Roman" pitchFamily="18" charset="0"/>
              </a:rPr>
              <a:t>Relative quality of best rival product in the same category</a:t>
            </a:r>
          </a:p>
          <a:p>
            <a:pPr>
              <a:buFont typeface="Arial" pitchFamily="34" charset="0"/>
              <a:buChar char="•"/>
            </a:pPr>
            <a:endParaRPr lang="en-US" dirty="0">
              <a:cs typeface="Times New Roman" pitchFamily="18" charset="0"/>
            </a:endParaRPr>
          </a:p>
          <a:p>
            <a:pPr lvl="1">
              <a:buFont typeface="Arial" pitchFamily="34" charset="0"/>
              <a:buChar char="•"/>
            </a:pPr>
            <a:r>
              <a:rPr lang="en-US" dirty="0">
                <a:cs typeface="Times New Roman" pitchFamily="18" charset="0"/>
              </a:rPr>
              <a:t>Relative quality of best rival suite (for spreadsheets or word processors); best rival constituent product (for </a:t>
            </a:r>
            <a:r>
              <a:rPr lang="en-US" dirty="0" smtClean="0">
                <a:cs typeface="Times New Roman" pitchFamily="18" charset="0"/>
              </a:rPr>
              <a:t>suites)</a:t>
            </a:r>
          </a:p>
          <a:p>
            <a:pPr>
              <a:buFont typeface="Arial" pitchFamily="34" charset="0"/>
              <a:buChar char="•"/>
            </a:pPr>
            <a:endParaRPr lang="en-US" dirty="0">
              <a:solidFill>
                <a:srgbClr val="000000"/>
              </a:solidFill>
              <a:cs typeface="Times New Roman" pitchFamily="18" charset="0"/>
            </a:endParaRPr>
          </a:p>
          <a:p>
            <a:pPr lvl="1">
              <a:buFont typeface="Arial" pitchFamily="34" charset="0"/>
              <a:buChar char="•"/>
            </a:pPr>
            <a:r>
              <a:rPr lang="en-US" dirty="0" smtClean="0">
                <a:solidFill>
                  <a:srgbClr val="000000"/>
                </a:solidFill>
              </a:rPr>
              <a:t>Relative </a:t>
            </a:r>
            <a:r>
              <a:rPr lang="en-US" dirty="0">
                <a:solidFill>
                  <a:srgbClr val="000000"/>
                </a:solidFill>
              </a:rPr>
              <a:t>quality of firm’s own other constituent product (for spreadsheets or word processors); relative quality of ‘best’ own constituent product (for suites)</a:t>
            </a:r>
          </a:p>
          <a:p>
            <a:endParaRPr lang="en-US" dirty="0">
              <a:cs typeface="Times New Roman" pitchFamily="18" charset="0"/>
            </a:endParaRPr>
          </a:p>
          <a:p>
            <a:pPr lvl="1">
              <a:buFont typeface="Arial" pitchFamily="34" charset="0"/>
              <a:buChar char="•"/>
            </a:pPr>
            <a:r>
              <a:rPr lang="en-US" dirty="0">
                <a:cs typeface="Times New Roman" pitchFamily="18" charset="0"/>
              </a:rPr>
              <a:t>Dummy Variable for Year 95-98 –Prices declined beginning in 1995 due to the exogenous technological change in OS to Windows95, which made it easier (cheaper) to produce office software</a:t>
            </a:r>
          </a:p>
          <a:p>
            <a:pPr>
              <a:buFont typeface="Arial" pitchFamily="34" charset="0"/>
              <a:buChar char="•"/>
            </a:pPr>
            <a:endParaRPr lang="en-US" dirty="0">
              <a:cs typeface="Times New Roman" pitchFamily="18" charset="0"/>
            </a:endParaRPr>
          </a:p>
          <a:p>
            <a:pPr>
              <a:buFont typeface="Arial" pitchFamily="34" charset="0"/>
              <a:buChar char="•"/>
            </a:pPr>
            <a:r>
              <a:rPr lang="en-US" dirty="0">
                <a:cs typeface="Times New Roman" pitchFamily="18" charset="0"/>
              </a:rPr>
              <a:t>Reasonably high correlation between IVs and </a:t>
            </a:r>
            <a:r>
              <a:rPr lang="en-US" dirty="0" smtClean="0">
                <a:cs typeface="Times New Roman" pitchFamily="18" charset="0"/>
              </a:rPr>
              <a:t>price</a:t>
            </a:r>
            <a:endParaRPr lang="en-US" sz="2800" dirty="0">
              <a:latin typeface="Times New Roman" pitchFamily="18" charset="0"/>
              <a:cs typeface="Times New Roman" pitchFamily="18" charset="0"/>
            </a:endParaRPr>
          </a:p>
        </p:txBody>
      </p:sp>
      <p:sp>
        <p:nvSpPr>
          <p:cNvPr id="4" name="Title 3"/>
          <p:cNvSpPr>
            <a:spLocks noGrp="1"/>
          </p:cNvSpPr>
          <p:nvPr>
            <p:ph type="title"/>
          </p:nvPr>
        </p:nvSpPr>
        <p:spPr/>
        <p:txBody>
          <a:bodyPr/>
          <a:lstStyle/>
          <a:p>
            <a:r>
              <a:rPr lang="en-US" dirty="0" smtClean="0"/>
              <a:t>Instrumental Variables</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idx="1"/>
          </p:nvPr>
        </p:nvSpPr>
        <p:spPr>
          <a:xfrm>
            <a:off x="457200" y="1371600"/>
            <a:ext cx="8183880" cy="4495800"/>
          </a:xfrm>
        </p:spPr>
        <p:txBody>
          <a:bodyPr>
            <a:normAutofit fontScale="85000" lnSpcReduction="10000"/>
          </a:bodyPr>
          <a:lstStyle/>
          <a:p>
            <a:pPr algn="ctr">
              <a:lnSpc>
                <a:spcPct val="80000"/>
              </a:lnSpc>
              <a:buNone/>
            </a:pPr>
            <a:endParaRPr lang="en-US" sz="2800" b="1" dirty="0" smtClean="0">
              <a:latin typeface="Times New Roman" pitchFamily="18" charset="0"/>
              <a:cs typeface="Times New Roman" pitchFamily="18" charset="0"/>
            </a:endParaRPr>
          </a:p>
          <a:p>
            <a:pPr>
              <a:lnSpc>
                <a:spcPct val="120000"/>
              </a:lnSpc>
            </a:pPr>
            <a:r>
              <a:rPr lang="en-US" sz="2000" dirty="0" smtClean="0">
                <a:cs typeface="Times New Roman" pitchFamily="18" charset="0"/>
              </a:rPr>
              <a:t>Our data set contains sales and shipments by products and by year.</a:t>
            </a:r>
          </a:p>
          <a:p>
            <a:pPr lvl="1">
              <a:lnSpc>
                <a:spcPct val="120000"/>
              </a:lnSpc>
            </a:pPr>
            <a:r>
              <a:rPr lang="en-US" sz="1600" dirty="0" smtClean="0">
                <a:cs typeface="Times New Roman" pitchFamily="18" charset="0"/>
              </a:rPr>
              <a:t>Variation across products and time </a:t>
            </a:r>
          </a:p>
          <a:p>
            <a:pPr>
              <a:lnSpc>
                <a:spcPct val="120000"/>
              </a:lnSpc>
            </a:pPr>
            <a:endParaRPr lang="en-US" sz="2000" dirty="0" smtClean="0">
              <a:cs typeface="Times New Roman" pitchFamily="18" charset="0"/>
            </a:endParaRPr>
          </a:p>
          <a:p>
            <a:pPr>
              <a:lnSpc>
                <a:spcPct val="120000"/>
              </a:lnSpc>
            </a:pPr>
            <a:r>
              <a:rPr lang="en-US" sz="2000" dirty="0" smtClean="0">
                <a:cs typeface="Times New Roman" pitchFamily="18" charset="0"/>
              </a:rPr>
              <a:t>Year dummies: Variation in the share of potential consumers who elect the outside good.  </a:t>
            </a:r>
          </a:p>
          <a:p>
            <a:pPr>
              <a:lnSpc>
                <a:spcPct val="120000"/>
              </a:lnSpc>
            </a:pPr>
            <a:endParaRPr lang="en-US" sz="2000" dirty="0" smtClean="0">
              <a:cs typeface="Times New Roman" pitchFamily="18" charset="0"/>
            </a:endParaRPr>
          </a:p>
          <a:p>
            <a:pPr>
              <a:lnSpc>
                <a:spcPct val="120000"/>
              </a:lnSpc>
            </a:pPr>
            <a:r>
              <a:rPr lang="en-US" sz="2000" dirty="0" smtClean="0">
                <a:cs typeface="Times New Roman" pitchFamily="18" charset="0"/>
              </a:rPr>
              <a:t>Microsoft dummy: varies across products, but not over time. Variations of shares of Microsoft products relative to other products.   </a:t>
            </a:r>
          </a:p>
          <a:p>
            <a:pPr>
              <a:lnSpc>
                <a:spcPct val="120000"/>
              </a:lnSpc>
            </a:pPr>
            <a:endParaRPr lang="en-US" sz="2000" dirty="0" smtClean="0">
              <a:cs typeface="Times New Roman" pitchFamily="18" charset="0"/>
            </a:endParaRPr>
          </a:p>
          <a:p>
            <a:pPr>
              <a:lnSpc>
                <a:spcPct val="120000"/>
              </a:lnSpc>
            </a:pPr>
            <a:r>
              <a:rPr lang="en-US" sz="2000" dirty="0" smtClean="0">
                <a:cs typeface="Times New Roman" pitchFamily="18" charset="0"/>
              </a:rPr>
              <a:t>Suite dummy: variation in market </a:t>
            </a:r>
            <a:r>
              <a:rPr lang="en-US" sz="2000" dirty="0">
                <a:cs typeface="Times New Roman" pitchFamily="18" charset="0"/>
              </a:rPr>
              <a:t>share of </a:t>
            </a:r>
            <a:r>
              <a:rPr lang="en-US" sz="2000" dirty="0" smtClean="0">
                <a:cs typeface="Times New Roman" pitchFamily="18" charset="0"/>
              </a:rPr>
              <a:t>suites.</a:t>
            </a:r>
            <a:endParaRPr lang="en-US" sz="2000" dirty="0">
              <a:cs typeface="Times New Roman" pitchFamily="18" charset="0"/>
            </a:endParaRPr>
          </a:p>
          <a:p>
            <a:pPr>
              <a:lnSpc>
                <a:spcPct val="120000"/>
              </a:lnSpc>
            </a:pPr>
            <a:endParaRPr lang="en-US" sz="2000" dirty="0" smtClean="0">
              <a:cs typeface="Times New Roman" pitchFamily="18" charset="0"/>
            </a:endParaRPr>
          </a:p>
          <a:p>
            <a:pPr>
              <a:lnSpc>
                <a:spcPct val="120000"/>
              </a:lnSpc>
            </a:pPr>
            <a:r>
              <a:rPr lang="en-US" sz="2000" dirty="0" smtClean="0">
                <a:cs typeface="Times New Roman" pitchFamily="18" charset="0"/>
              </a:rPr>
              <a:t>Price &amp; Quality: shifts in market shares of products over</a:t>
            </a:r>
          </a:p>
          <a:p>
            <a:pPr>
              <a:lnSpc>
                <a:spcPct val="120000"/>
              </a:lnSpc>
            </a:pPr>
            <a:endParaRPr lang="en-US" sz="2000" dirty="0" smtClean="0">
              <a:cs typeface="Times New Roman" pitchFamily="18" charset="0"/>
            </a:endParaRPr>
          </a:p>
        </p:txBody>
      </p:sp>
      <p:sp>
        <p:nvSpPr>
          <p:cNvPr id="2" name="Title 1"/>
          <p:cNvSpPr>
            <a:spLocks noGrp="1"/>
          </p:cNvSpPr>
          <p:nvPr>
            <p:ph type="title"/>
          </p:nvPr>
        </p:nvSpPr>
        <p:spPr>
          <a:xfrm>
            <a:off x="533400" y="396240"/>
            <a:ext cx="6781800" cy="1051560"/>
          </a:xfrm>
        </p:spPr>
        <p:txBody>
          <a:bodyPr>
            <a:normAutofit/>
          </a:bodyPr>
          <a:lstStyle/>
          <a:p>
            <a:r>
              <a:rPr lang="en-US" sz="2800" dirty="0">
                <a:cs typeface="Times New Roman" pitchFamily="18" charset="0"/>
              </a:rPr>
              <a:t>Intuition for Identification: Linear Parameters</a:t>
            </a:r>
            <a:endParaRPr lang="en-US" sz="28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1676400"/>
            <a:ext cx="8183880" cy="4419600"/>
          </a:xfrm>
        </p:spPr>
        <p:txBody>
          <a:bodyPr>
            <a:normAutofit/>
          </a:bodyPr>
          <a:lstStyle/>
          <a:p>
            <a:pPr lvl="2"/>
            <a:endParaRPr lang="en-US" dirty="0"/>
          </a:p>
          <a:p>
            <a:r>
              <a:rPr lang="en-US" dirty="0"/>
              <a:t>σ </a:t>
            </a:r>
            <a:r>
              <a:rPr lang="en-US" dirty="0" smtClean="0"/>
              <a:t> - an </a:t>
            </a:r>
            <a:r>
              <a:rPr lang="en-US" dirty="0"/>
              <a:t>increase in σ increases the sales of the relevant class of products (spreadsheets and word </a:t>
            </a:r>
            <a:r>
              <a:rPr lang="en-US" dirty="0" smtClean="0"/>
              <a:t>processors). </a:t>
            </a:r>
          </a:p>
          <a:p>
            <a:r>
              <a:rPr lang="en-US" dirty="0" smtClean="0"/>
              <a:t>High </a:t>
            </a:r>
            <a:r>
              <a:rPr lang="en-US" dirty="0"/>
              <a:t>σ </a:t>
            </a:r>
            <a:r>
              <a:rPr lang="en-US" dirty="0" smtClean="0"/>
              <a:t>(</a:t>
            </a:r>
            <a:r>
              <a:rPr lang="en-US" dirty="0"/>
              <a:t>say word processors</a:t>
            </a:r>
            <a:r>
              <a:rPr lang="en-US" dirty="0" smtClean="0"/>
              <a:t>):an increase in (say) WordPerfect’s price leads more </a:t>
            </a:r>
            <a:r>
              <a:rPr lang="en-US" dirty="0"/>
              <a:t>consumers to substitute </a:t>
            </a:r>
            <a:r>
              <a:rPr lang="en-US" i="1" dirty="0"/>
              <a:t>within</a:t>
            </a:r>
            <a:r>
              <a:rPr lang="en-US" dirty="0"/>
              <a:t> the class, i.e., to another word processor. </a:t>
            </a:r>
            <a:endParaRPr lang="en-US" dirty="0" smtClean="0"/>
          </a:p>
          <a:p>
            <a:r>
              <a:rPr lang="en-US" dirty="0" smtClean="0"/>
              <a:t>When </a:t>
            </a:r>
            <a:r>
              <a:rPr lang="en-US" dirty="0"/>
              <a:t>σ is low, more consumers will substitute away from that component, rather than purchase another product in the class when price rises</a:t>
            </a:r>
            <a:r>
              <a:rPr lang="en-US" dirty="0" smtClean="0"/>
              <a:t>.</a:t>
            </a:r>
            <a:endParaRPr lang="en-US" dirty="0"/>
          </a:p>
        </p:txBody>
      </p:sp>
      <p:sp>
        <p:nvSpPr>
          <p:cNvPr id="6" name="Title 1"/>
          <p:cNvSpPr>
            <a:spLocks noGrp="1"/>
          </p:cNvSpPr>
          <p:nvPr>
            <p:ph type="title"/>
          </p:nvPr>
        </p:nvSpPr>
        <p:spPr>
          <a:xfrm>
            <a:off x="533400" y="396240"/>
            <a:ext cx="6400800" cy="1051560"/>
          </a:xfrm>
        </p:spPr>
        <p:txBody>
          <a:bodyPr>
            <a:normAutofit/>
          </a:bodyPr>
          <a:lstStyle/>
          <a:p>
            <a:r>
              <a:rPr lang="en-US" sz="2800" dirty="0">
                <a:cs typeface="Times New Roman" pitchFamily="18" charset="0"/>
              </a:rPr>
              <a:t>Intuition for Identification: </a:t>
            </a:r>
            <a:r>
              <a:rPr lang="en-US" sz="2800" dirty="0" smtClean="0">
                <a:cs typeface="Times New Roman" pitchFamily="18" charset="0"/>
              </a:rPr>
              <a:t>Non-Linear </a:t>
            </a:r>
            <a:r>
              <a:rPr lang="en-US" sz="2800" dirty="0">
                <a:cs typeface="Times New Roman" pitchFamily="18" charset="0"/>
              </a:rPr>
              <a:t>Parameters</a:t>
            </a:r>
            <a:endParaRPr lang="en-US" sz="28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Estimation Algorithm</a:t>
            </a:r>
            <a:endParaRPr lang="en-US" dirty="0"/>
          </a:p>
        </p:txBody>
      </p:sp>
      <p:sp>
        <p:nvSpPr>
          <p:cNvPr id="8201" name="Rectangle 3"/>
          <p:cNvSpPr>
            <a:spLocks noGrp="1" noChangeArrowheads="1"/>
          </p:cNvSpPr>
          <p:nvPr>
            <p:ph idx="1"/>
          </p:nvPr>
        </p:nvSpPr>
        <p:spPr/>
        <p:txBody>
          <a:bodyPr>
            <a:normAutofit fontScale="92500" lnSpcReduction="10000"/>
          </a:bodyPr>
          <a:lstStyle/>
          <a:p>
            <a:pPr eaLnBrk="1" hangingPunct="1">
              <a:lnSpc>
                <a:spcPct val="80000"/>
              </a:lnSpc>
            </a:pPr>
            <a:r>
              <a:rPr lang="en-US" sz="2400" u="sng" dirty="0" smtClean="0">
                <a:latin typeface="Times New Roman" pitchFamily="18" charset="0"/>
                <a:cs typeface="Times New Roman" pitchFamily="18" charset="0"/>
              </a:rPr>
              <a:t>Step 1</a:t>
            </a:r>
            <a:r>
              <a:rPr lang="en-US" sz="2400" dirty="0" smtClean="0">
                <a:latin typeface="Times New Roman" pitchFamily="18" charset="0"/>
                <a:cs typeface="Times New Roman" pitchFamily="18" charset="0"/>
              </a:rPr>
              <a:t>: Take random draws of (Y</a:t>
            </a:r>
            <a:r>
              <a:rPr lang="en-US" sz="2400" baseline="-25000" dirty="0" smtClean="0">
                <a:latin typeface="Times New Roman" pitchFamily="18" charset="0"/>
                <a:cs typeface="Times New Roman" pitchFamily="18" charset="0"/>
              </a:rPr>
              <a:t>1k</a:t>
            </a:r>
            <a:r>
              <a:rPr lang="en-US" sz="2400" dirty="0" smtClean="0">
                <a:latin typeface="Times New Roman" pitchFamily="18" charset="0"/>
                <a:cs typeface="Times New Roman" pitchFamily="18" charset="0"/>
              </a:rPr>
              <a:t>) for 100,000 consumers per year</a:t>
            </a:r>
            <a:r>
              <a:rPr lang="en-US" sz="240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eaLnBrk="1" hangingPunct="1">
              <a:lnSpc>
                <a:spcPct val="80000"/>
              </a:lnSpc>
            </a:pPr>
            <a:endParaRPr lang="en-US" sz="800" u="sng" dirty="0" smtClean="0">
              <a:latin typeface="Times New Roman" pitchFamily="18" charset="0"/>
              <a:cs typeface="Times New Roman" pitchFamily="18" charset="0"/>
            </a:endParaRPr>
          </a:p>
          <a:p>
            <a:pPr eaLnBrk="1" hangingPunct="1">
              <a:lnSpc>
                <a:spcPct val="80000"/>
              </a:lnSpc>
            </a:pPr>
            <a:r>
              <a:rPr lang="en-US" sz="2400" u="sng" dirty="0" smtClean="0">
                <a:latin typeface="Times New Roman" pitchFamily="18" charset="0"/>
                <a:cs typeface="Times New Roman" pitchFamily="18" charset="0"/>
              </a:rPr>
              <a:t>Step 2</a:t>
            </a:r>
            <a:r>
              <a:rPr lang="en-US" sz="2400" dirty="0" smtClean="0">
                <a:latin typeface="Times New Roman" pitchFamily="18" charset="0"/>
                <a:cs typeface="Times New Roman" pitchFamily="18" charset="0"/>
              </a:rPr>
              <a:t>: </a:t>
            </a:r>
            <a:r>
              <a:rPr lang="en-US" sz="2400" dirty="0" smtClean="0">
                <a:latin typeface="Times New Roman" pitchFamily="18" charset="0"/>
              </a:rPr>
              <a:t>Assume initial values for </a:t>
            </a:r>
            <a:r>
              <a:rPr lang="en-US" sz="2400" i="1" dirty="0" smtClean="0">
                <a:latin typeface="Times New Roman" pitchFamily="18" charset="0"/>
                <a:sym typeface="Symbol" pitchFamily="18" charset="2"/>
              </a:rPr>
              <a:t></a:t>
            </a:r>
            <a:r>
              <a:rPr lang="en-US" sz="2400" i="1" baseline="-25000" dirty="0" smtClean="0">
                <a:latin typeface="Times New Roman" pitchFamily="18" charset="0"/>
              </a:rPr>
              <a:t>1 </a:t>
            </a:r>
            <a:r>
              <a:rPr lang="en-US" sz="2400" dirty="0" smtClean="0">
                <a:latin typeface="Times New Roman" pitchFamily="18" charset="0"/>
              </a:rPr>
              <a:t>and</a:t>
            </a:r>
            <a:r>
              <a:rPr lang="en-US" sz="2400" i="1" dirty="0" smtClean="0">
                <a:latin typeface="Times New Roman" pitchFamily="18" charset="0"/>
              </a:rPr>
              <a:t> </a:t>
            </a:r>
            <a:r>
              <a:rPr lang="en-US" sz="2400" i="1" dirty="0" smtClean="0">
                <a:latin typeface="Times New Roman" pitchFamily="18" charset="0"/>
                <a:sym typeface="Symbol" pitchFamily="18" charset="2"/>
              </a:rPr>
              <a:t></a:t>
            </a:r>
            <a:r>
              <a:rPr lang="en-US" sz="2400" i="1" baseline="-25000" dirty="0" smtClean="0">
                <a:latin typeface="Times New Roman" pitchFamily="18" charset="0"/>
              </a:rPr>
              <a:t>2</a:t>
            </a:r>
            <a:r>
              <a:rPr lang="en-US" sz="2400" dirty="0" smtClean="0">
                <a:latin typeface="Times New Roman" pitchFamily="18" charset="0"/>
              </a:rPr>
              <a:t> and find </a:t>
            </a:r>
            <a:r>
              <a:rPr lang="en-US" sz="2400" dirty="0" smtClean="0">
                <a:latin typeface="Times New Roman" pitchFamily="18" charset="0"/>
                <a:sym typeface="Symbol" pitchFamily="18" charset="2"/>
              </a:rPr>
              <a:t></a:t>
            </a:r>
            <a:r>
              <a:rPr lang="en-US" sz="2400" dirty="0" smtClean="0">
                <a:latin typeface="Times New Roman" pitchFamily="18" charset="0"/>
              </a:rPr>
              <a:t> using the following contraction mapping until convergence      obtained</a:t>
            </a:r>
          </a:p>
          <a:p>
            <a:pPr eaLnBrk="1" hangingPunct="1">
              <a:lnSpc>
                <a:spcPct val="80000"/>
              </a:lnSpc>
              <a:buFontTx/>
              <a:buNone/>
            </a:pPr>
            <a:r>
              <a:rPr lang="en-US" sz="2400" dirty="0" smtClean="0"/>
              <a:t> </a:t>
            </a:r>
          </a:p>
          <a:p>
            <a:pPr eaLnBrk="1" hangingPunct="1">
              <a:lnSpc>
                <a:spcPct val="80000"/>
              </a:lnSpc>
              <a:buFontTx/>
              <a:buNone/>
            </a:pPr>
            <a:endParaRPr lang="en-US" sz="800" dirty="0" smtClean="0"/>
          </a:p>
          <a:p>
            <a:pPr eaLnBrk="1" hangingPunct="1">
              <a:lnSpc>
                <a:spcPct val="80000"/>
              </a:lnSpc>
            </a:pPr>
            <a:r>
              <a:rPr lang="en-US" sz="2400" u="sng" dirty="0" smtClean="0">
                <a:latin typeface="Times New Roman" pitchFamily="18" charset="0"/>
                <a:cs typeface="Times New Roman" pitchFamily="18" charset="0"/>
              </a:rPr>
              <a:t>Step 3</a:t>
            </a:r>
            <a:r>
              <a:rPr lang="en-US" sz="2400"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sym typeface="Symbol" pitchFamily="18" charset="2"/>
              </a:rPr>
              <a:t>Run the GMM regression    =X+.  Obtain estimates</a:t>
            </a:r>
          </a:p>
          <a:p>
            <a:pPr eaLnBrk="1" hangingPunct="1">
              <a:lnSpc>
                <a:spcPct val="80000"/>
              </a:lnSpc>
            </a:pPr>
            <a:endParaRPr lang="en-US" sz="2400" dirty="0" smtClean="0">
              <a:latin typeface="Times New Roman" pitchFamily="18" charset="0"/>
              <a:cs typeface="Times New Roman" pitchFamily="18" charset="0"/>
              <a:sym typeface="Symbol" pitchFamily="18" charset="2"/>
            </a:endParaRPr>
          </a:p>
          <a:p>
            <a:pPr eaLnBrk="1" hangingPunct="1">
              <a:lnSpc>
                <a:spcPct val="80000"/>
              </a:lnSpc>
              <a:buFontTx/>
              <a:buNone/>
            </a:pPr>
            <a:r>
              <a:rPr lang="en-US" sz="2400" dirty="0" smtClean="0">
                <a:latin typeface="Times New Roman" pitchFamily="18" charset="0"/>
                <a:cs typeface="Times New Roman" pitchFamily="18" charset="0"/>
                <a:sym typeface="Symbol" pitchFamily="18" charset="2"/>
              </a:rPr>
              <a:t>	where </a:t>
            </a:r>
            <a:r>
              <a:rPr lang="en-US" sz="2400" i="1" dirty="0" smtClean="0">
                <a:latin typeface="Times New Roman" pitchFamily="18" charset="0"/>
                <a:cs typeface="Times New Roman" pitchFamily="18" charset="0"/>
                <a:sym typeface="Symbol" pitchFamily="18" charset="2"/>
              </a:rPr>
              <a:t>X</a:t>
            </a:r>
            <a:r>
              <a:rPr lang="en-US" sz="2400" dirty="0" smtClean="0">
                <a:latin typeface="Times New Roman" pitchFamily="18" charset="0"/>
                <a:cs typeface="Times New Roman" pitchFamily="18" charset="0"/>
                <a:sym typeface="Symbol" pitchFamily="18" charset="2"/>
              </a:rPr>
              <a:t> is the matrix of right hand side variables, </a:t>
            </a:r>
            <a:r>
              <a:rPr lang="en-US" sz="2400" i="1" dirty="0" smtClean="0">
                <a:latin typeface="Times New Roman" pitchFamily="18" charset="0"/>
                <a:cs typeface="Times New Roman" pitchFamily="18" charset="0"/>
                <a:sym typeface="Symbol" pitchFamily="18" charset="2"/>
              </a:rPr>
              <a:t>Z</a:t>
            </a:r>
            <a:r>
              <a:rPr lang="en-US" sz="2400" dirty="0" smtClean="0">
                <a:latin typeface="Times New Roman" pitchFamily="18" charset="0"/>
                <a:cs typeface="Times New Roman" pitchFamily="18" charset="0"/>
                <a:sym typeface="Symbol" pitchFamily="18" charset="2"/>
              </a:rPr>
              <a:t> is the matrix of exogenous right hand side variables and instrumental variables, and the weighting matrix W=(Z’Z)</a:t>
            </a:r>
            <a:r>
              <a:rPr lang="en-US" sz="2400" baseline="30000" dirty="0" smtClean="0">
                <a:latin typeface="Times New Roman" pitchFamily="18" charset="0"/>
                <a:cs typeface="Times New Roman" pitchFamily="18" charset="0"/>
                <a:sym typeface="Symbol" pitchFamily="18" charset="2"/>
              </a:rPr>
              <a:t>-1</a:t>
            </a:r>
            <a:endParaRPr lang="en-US" sz="2400" dirty="0" smtClean="0">
              <a:latin typeface="Times New Roman" pitchFamily="18" charset="0"/>
              <a:cs typeface="Times New Roman" pitchFamily="18" charset="0"/>
              <a:sym typeface="Symbol" pitchFamily="18" charset="2"/>
            </a:endParaRPr>
          </a:p>
          <a:p>
            <a:pPr eaLnBrk="1" hangingPunct="1">
              <a:lnSpc>
                <a:spcPct val="80000"/>
              </a:lnSpc>
            </a:pPr>
            <a:endParaRPr lang="en-US" sz="800" dirty="0" smtClean="0">
              <a:latin typeface="Times New Roman" pitchFamily="18" charset="0"/>
              <a:cs typeface="Times New Roman" pitchFamily="18" charset="0"/>
              <a:sym typeface="Symbol" pitchFamily="18" charset="2"/>
            </a:endParaRPr>
          </a:p>
          <a:p>
            <a:pPr eaLnBrk="1" hangingPunct="1">
              <a:lnSpc>
                <a:spcPct val="80000"/>
              </a:lnSpc>
            </a:pPr>
            <a:r>
              <a:rPr lang="en-US" sz="2400" u="sng" dirty="0" smtClean="0">
                <a:latin typeface="Times New Roman" pitchFamily="18" charset="0"/>
                <a:cs typeface="Times New Roman" pitchFamily="18" charset="0"/>
              </a:rPr>
              <a:t>Step 4</a:t>
            </a: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sym typeface="Symbol" pitchFamily="18" charset="2"/>
              </a:rPr>
              <a:t>Compute the implied values of the </a:t>
            </a:r>
            <a:r>
              <a:rPr lang="en-US" sz="2400" dirty="0" err="1" smtClean="0">
                <a:latin typeface="Times New Roman" pitchFamily="18" charset="0"/>
                <a:cs typeface="Times New Roman" pitchFamily="18" charset="0"/>
                <a:sym typeface="Symbol" pitchFamily="18" charset="2"/>
              </a:rPr>
              <a:t>unobservables</a:t>
            </a:r>
            <a:endParaRPr lang="en-US" sz="2400" dirty="0" smtClean="0">
              <a:latin typeface="Times New Roman" pitchFamily="18" charset="0"/>
              <a:cs typeface="Times New Roman" pitchFamily="18" charset="0"/>
              <a:sym typeface="Symbol" pitchFamily="18" charset="2"/>
            </a:endParaRPr>
          </a:p>
          <a:p>
            <a:pPr eaLnBrk="1" hangingPunct="1">
              <a:lnSpc>
                <a:spcPct val="80000"/>
              </a:lnSpc>
              <a:buFontTx/>
              <a:buNone/>
            </a:pPr>
            <a:r>
              <a:rPr lang="en-US" sz="2400" dirty="0" smtClean="0">
                <a:latin typeface="Times New Roman" pitchFamily="18" charset="0"/>
                <a:cs typeface="Times New Roman" pitchFamily="18" charset="0"/>
                <a:sym typeface="Symbol" pitchFamily="18" charset="2"/>
              </a:rPr>
              <a:t>		     and evaluate GMM objective function </a:t>
            </a:r>
          </a:p>
          <a:p>
            <a:pPr eaLnBrk="1" hangingPunct="1">
              <a:lnSpc>
                <a:spcPct val="80000"/>
              </a:lnSpc>
            </a:pPr>
            <a:endParaRPr lang="en-US" sz="800" dirty="0" smtClean="0">
              <a:latin typeface="Times New Roman" pitchFamily="18" charset="0"/>
              <a:cs typeface="Times New Roman" pitchFamily="18" charset="0"/>
            </a:endParaRPr>
          </a:p>
          <a:p>
            <a:pPr eaLnBrk="1" hangingPunct="1">
              <a:lnSpc>
                <a:spcPct val="80000"/>
              </a:lnSpc>
            </a:pPr>
            <a:r>
              <a:rPr lang="en-US" sz="2400" u="sng" dirty="0" smtClean="0">
                <a:latin typeface="Times New Roman" pitchFamily="18" charset="0"/>
                <a:cs typeface="Times New Roman" pitchFamily="18" charset="0"/>
              </a:rPr>
              <a:t>Step 5</a:t>
            </a:r>
            <a:r>
              <a:rPr lang="en-US" sz="2400" dirty="0" smtClean="0">
                <a:latin typeface="Times New Roman" pitchFamily="18" charset="0"/>
                <a:cs typeface="Times New Roman" pitchFamily="18" charset="0"/>
              </a:rPr>
              <a:t>: Update the values of </a:t>
            </a:r>
            <a:r>
              <a:rPr lang="en-US" sz="2400" i="1" dirty="0" smtClean="0">
                <a:latin typeface="Times New Roman" pitchFamily="18" charset="0"/>
                <a:sym typeface="Symbol" pitchFamily="18" charset="2"/>
              </a:rPr>
              <a:t></a:t>
            </a:r>
            <a:r>
              <a:rPr lang="en-US" sz="2400" i="1" baseline="-25000" dirty="0" smtClean="0">
                <a:latin typeface="Times New Roman" pitchFamily="18" charset="0"/>
              </a:rPr>
              <a:t>1</a:t>
            </a:r>
            <a:r>
              <a:rPr lang="en-US" sz="2400" i="1" dirty="0" smtClean="0">
                <a:latin typeface="Times New Roman" pitchFamily="18" charset="0"/>
              </a:rPr>
              <a:t> </a:t>
            </a:r>
            <a:r>
              <a:rPr lang="en-US" sz="2400" dirty="0" smtClean="0">
                <a:latin typeface="Times New Roman" pitchFamily="18" charset="0"/>
              </a:rPr>
              <a:t>and</a:t>
            </a:r>
            <a:r>
              <a:rPr lang="en-US" sz="2400" i="1" dirty="0" smtClean="0">
                <a:latin typeface="Times New Roman" pitchFamily="18" charset="0"/>
              </a:rPr>
              <a:t> </a:t>
            </a:r>
            <a:r>
              <a:rPr lang="en-US" sz="2400" i="1" dirty="0" smtClean="0">
                <a:latin typeface="Times New Roman" pitchFamily="18" charset="0"/>
                <a:sym typeface="Symbol" pitchFamily="18" charset="2"/>
              </a:rPr>
              <a:t></a:t>
            </a:r>
            <a:r>
              <a:rPr lang="en-US" sz="2400" i="1" baseline="-25000" dirty="0" smtClean="0">
                <a:latin typeface="Times New Roman" pitchFamily="18" charset="0"/>
              </a:rPr>
              <a:t>2</a:t>
            </a:r>
            <a:r>
              <a:rPr lang="en-US" sz="2400" dirty="0" smtClean="0">
                <a:latin typeface="Times New Roman" pitchFamily="18" charset="0"/>
              </a:rPr>
              <a:t> </a:t>
            </a:r>
            <a:r>
              <a:rPr lang="en-US" sz="2400" dirty="0" smtClean="0">
                <a:latin typeface="Times New Roman" pitchFamily="18" charset="0"/>
                <a:cs typeface="Times New Roman" pitchFamily="18" charset="0"/>
              </a:rPr>
              <a:t>&amp; return to step 2.</a:t>
            </a:r>
          </a:p>
        </p:txBody>
      </p:sp>
      <p:sp>
        <p:nvSpPr>
          <p:cNvPr id="8202" name="Rectangle 2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he-IL"/>
          </a:p>
        </p:txBody>
      </p:sp>
      <p:graphicFrame>
        <p:nvGraphicFramePr>
          <p:cNvPr id="8194" name="Object 22"/>
          <p:cNvGraphicFramePr>
            <a:graphicFrameLocks noChangeAspect="1"/>
          </p:cNvGraphicFramePr>
          <p:nvPr>
            <p:extLst>
              <p:ext uri="{D42A27DB-BD31-4B8C-83A1-F6EECF244321}">
                <p14:modId xmlns:p14="http://schemas.microsoft.com/office/powerpoint/2010/main" val="1205656159"/>
              </p:ext>
            </p:extLst>
          </p:nvPr>
        </p:nvGraphicFramePr>
        <p:xfrm>
          <a:off x="1447800" y="2895600"/>
          <a:ext cx="5486400" cy="381000"/>
        </p:xfrm>
        <a:graphic>
          <a:graphicData uri="http://schemas.openxmlformats.org/presentationml/2006/ole">
            <mc:AlternateContent xmlns:mc="http://schemas.openxmlformats.org/markup-compatibility/2006">
              <mc:Choice xmlns:v="urn:schemas-microsoft-com:vml" Requires="v">
                <p:oleObj spid="_x0000_s8314" r:id="rId3" imgW="4381500" imgH="241300" progId="">
                  <p:embed/>
                </p:oleObj>
              </mc:Choice>
              <mc:Fallback>
                <p:oleObj r:id="rId3" imgW="4381500" imgH="241300" progId="">
                  <p:embed/>
                  <p:pic>
                    <p:nvPicPr>
                      <p:cNvPr id="0" name="Picture 1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895600"/>
                        <a:ext cx="5486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3" name="Rectangle 2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he-IL"/>
          </a:p>
        </p:txBody>
      </p:sp>
      <p:sp>
        <p:nvSpPr>
          <p:cNvPr id="8204" name="Rectangle 2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he-IL"/>
          </a:p>
        </p:txBody>
      </p:sp>
      <p:graphicFrame>
        <p:nvGraphicFramePr>
          <p:cNvPr id="8196" name="Object 26"/>
          <p:cNvGraphicFramePr>
            <a:graphicFrameLocks noChangeAspect="1"/>
          </p:cNvGraphicFramePr>
          <p:nvPr>
            <p:extLst>
              <p:ext uri="{D42A27DB-BD31-4B8C-83A1-F6EECF244321}">
                <p14:modId xmlns:p14="http://schemas.microsoft.com/office/powerpoint/2010/main" val="1195024174"/>
              </p:ext>
            </p:extLst>
          </p:nvPr>
        </p:nvGraphicFramePr>
        <p:xfrm>
          <a:off x="4657725" y="3200400"/>
          <a:ext cx="142875" cy="276225"/>
        </p:xfrm>
        <a:graphic>
          <a:graphicData uri="http://schemas.openxmlformats.org/presentationml/2006/ole">
            <mc:AlternateContent xmlns:mc="http://schemas.openxmlformats.org/markup-compatibility/2006">
              <mc:Choice xmlns:v="urn:schemas-microsoft-com:vml" Requires="v">
                <p:oleObj spid="_x0000_s8315" name="משוואה" r:id="rId5" imgW="139700" imgH="279400" progId="Equation.3">
                  <p:embed/>
                </p:oleObj>
              </mc:Choice>
              <mc:Fallback>
                <p:oleObj name="משוואה" r:id="rId5" imgW="139700" imgH="279400" progId="Equation.3">
                  <p:embed/>
                  <p:pic>
                    <p:nvPicPr>
                      <p:cNvPr id="0" name="Picture 1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57725" y="3200400"/>
                        <a:ext cx="142875" cy="276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5" name="Rectangle 47"/>
          <p:cNvSpPr>
            <a:spLocks noChangeArrowheads="1"/>
          </p:cNvSpPr>
          <p:nvPr/>
        </p:nvSpPr>
        <p:spPr bwMode="auto">
          <a:xfrm>
            <a:off x="0" y="3094038"/>
            <a:ext cx="184150" cy="366712"/>
          </a:xfrm>
          <a:prstGeom prst="rect">
            <a:avLst/>
          </a:prstGeom>
          <a:noFill/>
          <a:ln w="9525">
            <a:noFill/>
            <a:miter lim="800000"/>
            <a:headEnd/>
            <a:tailEnd/>
          </a:ln>
        </p:spPr>
        <p:txBody>
          <a:bodyPr wrap="none" anchor="ctr">
            <a:spAutoFit/>
          </a:bodyPr>
          <a:lstStyle/>
          <a:p>
            <a:endParaRPr lang="he-IL"/>
          </a:p>
        </p:txBody>
      </p:sp>
      <p:graphicFrame>
        <p:nvGraphicFramePr>
          <p:cNvPr id="8197" name="Object 46"/>
          <p:cNvGraphicFramePr>
            <a:graphicFrameLocks noChangeAspect="1"/>
          </p:cNvGraphicFramePr>
          <p:nvPr>
            <p:extLst>
              <p:ext uri="{D42A27DB-BD31-4B8C-83A1-F6EECF244321}">
                <p14:modId xmlns:p14="http://schemas.microsoft.com/office/powerpoint/2010/main" val="553988214"/>
              </p:ext>
            </p:extLst>
          </p:nvPr>
        </p:nvGraphicFramePr>
        <p:xfrm>
          <a:off x="2819399" y="3505200"/>
          <a:ext cx="2102069" cy="304800"/>
        </p:xfrm>
        <a:graphic>
          <a:graphicData uri="http://schemas.openxmlformats.org/presentationml/2006/ole">
            <mc:AlternateContent xmlns:mc="http://schemas.openxmlformats.org/markup-compatibility/2006">
              <mc:Choice xmlns:v="urn:schemas-microsoft-com:vml" Requires="v">
                <p:oleObj spid="_x0000_s8316" r:id="rId7" imgW="1905000" imgH="279400" progId="">
                  <p:embed/>
                </p:oleObj>
              </mc:Choice>
              <mc:Fallback>
                <p:oleObj r:id="rId7" imgW="1905000" imgH="279400" progId="">
                  <p:embed/>
                  <p:pic>
                    <p:nvPicPr>
                      <p:cNvPr id="0" name="Picture 1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9399" y="3505200"/>
                        <a:ext cx="2102069"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6" name="Rectangle 49"/>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he-IL"/>
          </a:p>
        </p:txBody>
      </p:sp>
      <p:graphicFrame>
        <p:nvGraphicFramePr>
          <p:cNvPr id="8198" name="Object 48"/>
          <p:cNvGraphicFramePr>
            <a:graphicFrameLocks noChangeAspect="1"/>
          </p:cNvGraphicFramePr>
          <p:nvPr>
            <p:extLst>
              <p:ext uri="{D42A27DB-BD31-4B8C-83A1-F6EECF244321}">
                <p14:modId xmlns:p14="http://schemas.microsoft.com/office/powerpoint/2010/main" val="1496780476"/>
              </p:ext>
            </p:extLst>
          </p:nvPr>
        </p:nvGraphicFramePr>
        <p:xfrm>
          <a:off x="7315200" y="4648200"/>
          <a:ext cx="993267" cy="314325"/>
        </p:xfrm>
        <a:graphic>
          <a:graphicData uri="http://schemas.openxmlformats.org/presentationml/2006/ole">
            <mc:AlternateContent xmlns:mc="http://schemas.openxmlformats.org/markup-compatibility/2006">
              <mc:Choice xmlns:v="urn:schemas-microsoft-com:vml" Requires="v">
                <p:oleObj spid="_x0000_s8317" r:id="rId9" imgW="748975" imgH="241195" progId="">
                  <p:embed/>
                </p:oleObj>
              </mc:Choice>
              <mc:Fallback>
                <p:oleObj r:id="rId9" imgW="748975" imgH="241195" progId="">
                  <p:embed/>
                  <p:pic>
                    <p:nvPicPr>
                      <p:cNvPr id="0" name="Picture 1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15200" y="4648200"/>
                        <a:ext cx="993267" cy="314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7" name="Rectangle 51"/>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he-IL"/>
          </a:p>
        </p:txBody>
      </p:sp>
      <p:graphicFrame>
        <p:nvGraphicFramePr>
          <p:cNvPr id="8199" name="Object 50"/>
          <p:cNvGraphicFramePr>
            <a:graphicFrameLocks noChangeAspect="1"/>
          </p:cNvGraphicFramePr>
          <p:nvPr>
            <p:extLst>
              <p:ext uri="{D42A27DB-BD31-4B8C-83A1-F6EECF244321}">
                <p14:modId xmlns:p14="http://schemas.microsoft.com/office/powerpoint/2010/main" val="221819546"/>
              </p:ext>
            </p:extLst>
          </p:nvPr>
        </p:nvGraphicFramePr>
        <p:xfrm>
          <a:off x="6181344" y="4924985"/>
          <a:ext cx="905256" cy="332815"/>
        </p:xfrm>
        <a:graphic>
          <a:graphicData uri="http://schemas.openxmlformats.org/presentationml/2006/ole">
            <mc:AlternateContent xmlns:mc="http://schemas.openxmlformats.org/markup-compatibility/2006">
              <mc:Choice xmlns:v="urn:schemas-microsoft-com:vml" Requires="v">
                <p:oleObj spid="_x0000_s8318" r:id="rId11" imgW="647700" imgH="241300" progId="">
                  <p:embed/>
                </p:oleObj>
              </mc:Choice>
              <mc:Fallback>
                <p:oleObj r:id="rId11" imgW="647700" imgH="241300" progId="">
                  <p:embed/>
                  <p:pic>
                    <p:nvPicPr>
                      <p:cNvPr id="0" name="Picture 1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81344" y="4924985"/>
                        <a:ext cx="905256" cy="3328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8183880" cy="1051560"/>
          </a:xfrm>
        </p:spPr>
        <p:txBody>
          <a:bodyPr>
            <a:normAutofit fontScale="90000"/>
          </a:bodyPr>
          <a:lstStyle/>
          <a:p>
            <a:r>
              <a:rPr lang="en-US" dirty="0" smtClean="0"/>
              <a:t>Empirical Results</a:t>
            </a:r>
            <a:br>
              <a:rPr lang="en-US" dirty="0" smtClean="0"/>
            </a:br>
            <a:r>
              <a:rPr lang="en-US" sz="1800" dirty="0"/>
              <a:t>OLS, Linear IV and Non-Linear Instrumental Variable </a:t>
            </a:r>
            <a:r>
              <a:rPr lang="en-US" sz="1800" dirty="0" smtClean="0"/>
              <a:t>Estimates</a:t>
            </a:r>
            <a:endParaRPr lang="en-US" sz="1800" dirty="0"/>
          </a:p>
        </p:txBody>
      </p:sp>
      <p:graphicFrame>
        <p:nvGraphicFramePr>
          <p:cNvPr id="3" name="Table 2"/>
          <p:cNvGraphicFramePr>
            <a:graphicFrameLocks noGrp="1"/>
          </p:cNvGraphicFramePr>
          <p:nvPr>
            <p:extLst>
              <p:ext uri="{D42A27DB-BD31-4B8C-83A1-F6EECF244321}">
                <p14:modId xmlns:p14="http://schemas.microsoft.com/office/powerpoint/2010/main" val="1533135548"/>
              </p:ext>
            </p:extLst>
          </p:nvPr>
        </p:nvGraphicFramePr>
        <p:xfrm>
          <a:off x="533400" y="2057400"/>
          <a:ext cx="8001000" cy="3630930"/>
        </p:xfrm>
        <a:graphic>
          <a:graphicData uri="http://schemas.openxmlformats.org/drawingml/2006/table">
            <a:tbl>
              <a:tblPr firstRow="1" firstCol="1" bandRow="1">
                <a:tableStyleId>{5C22544A-7EE6-4342-B048-85BDC9FD1C3A}</a:tableStyleId>
              </a:tblPr>
              <a:tblGrid>
                <a:gridCol w="1143000"/>
                <a:gridCol w="457200"/>
                <a:gridCol w="800100"/>
                <a:gridCol w="800100"/>
                <a:gridCol w="800100"/>
                <a:gridCol w="800100"/>
                <a:gridCol w="800100"/>
                <a:gridCol w="800100"/>
                <a:gridCol w="800100"/>
                <a:gridCol w="800100"/>
              </a:tblGrid>
              <a:tr h="142875">
                <a:tc>
                  <a:txBody>
                    <a:bodyPr/>
                    <a:lstStyle/>
                    <a:p>
                      <a:pPr marL="0" marR="0" algn="ctr">
                        <a:spcBef>
                          <a:spcPts val="0"/>
                        </a:spcBef>
                        <a:spcAft>
                          <a:spcPts val="0"/>
                        </a:spcAft>
                      </a:pPr>
                      <a:r>
                        <a:rPr lang="en-US" sz="800" dirty="0">
                          <a:effectLst/>
                        </a:rPr>
                        <a:t> </a:t>
                      </a:r>
                      <a:endParaRPr lang="en-US" sz="1200" dirty="0">
                        <a:effectLst/>
                        <a:latin typeface="Times New Roman"/>
                        <a:ea typeface="Times New Roman"/>
                      </a:endParaRPr>
                    </a:p>
                  </a:txBody>
                  <a:tcPr marL="68580" marR="68580" marT="0" marB="0" anchor="ctr"/>
                </a:tc>
                <a:tc gridSpan="3">
                  <a:txBody>
                    <a:bodyPr/>
                    <a:lstStyle/>
                    <a:p>
                      <a:pPr marL="0" marR="0" algn="ctr">
                        <a:spcBef>
                          <a:spcPts val="0"/>
                        </a:spcBef>
                        <a:spcAft>
                          <a:spcPts val="0"/>
                        </a:spcAft>
                      </a:pPr>
                      <a:r>
                        <a:rPr lang="en-US" sz="800" dirty="0" smtClean="0">
                          <a:effectLst/>
                        </a:rPr>
                        <a:t>Logit (OLS)</a:t>
                      </a:r>
                      <a:endParaRPr lang="en-US" sz="1200" dirty="0">
                        <a:effectLst/>
                        <a:latin typeface="Times New Roman"/>
                        <a:ea typeface="Times New Roman"/>
                      </a:endParaRPr>
                    </a:p>
                  </a:txBody>
                  <a:tcPr marL="68580" marR="68580" marT="0" marB="0" anchor="ctr"/>
                </a:tc>
                <a:tc hMerge="1">
                  <a:txBody>
                    <a:bodyPr/>
                    <a:lstStyle/>
                    <a:p>
                      <a:endParaRPr lang="en-US"/>
                    </a:p>
                  </a:txBody>
                  <a:tcPr/>
                </a:tc>
                <a:tc hMerge="1">
                  <a:txBody>
                    <a:bodyPr/>
                    <a:lstStyle/>
                    <a:p>
                      <a:endParaRPr lang="en-US"/>
                    </a:p>
                  </a:txBody>
                  <a:tcPr/>
                </a:tc>
                <a:tc gridSpan="3">
                  <a:txBody>
                    <a:bodyPr/>
                    <a:lstStyle/>
                    <a:p>
                      <a:pPr marL="0" marR="0" algn="ctr">
                        <a:spcBef>
                          <a:spcPts val="0"/>
                        </a:spcBef>
                        <a:spcAft>
                          <a:spcPts val="0"/>
                        </a:spcAft>
                      </a:pPr>
                      <a:r>
                        <a:rPr lang="en-US" sz="800" dirty="0" smtClean="0">
                          <a:effectLst/>
                        </a:rPr>
                        <a:t>Logit (IV )</a:t>
                      </a:r>
                      <a:endParaRPr lang="en-US" sz="1200" dirty="0">
                        <a:effectLst/>
                        <a:latin typeface="Times New Roman"/>
                        <a:ea typeface="Times New Roman"/>
                      </a:endParaRPr>
                    </a:p>
                  </a:txBody>
                  <a:tcPr marL="68580" marR="68580" marT="0" marB="0" anchor="ctr"/>
                </a:tc>
                <a:tc hMerge="1">
                  <a:txBody>
                    <a:bodyPr/>
                    <a:lstStyle/>
                    <a:p>
                      <a:endParaRPr lang="en-US"/>
                    </a:p>
                  </a:txBody>
                  <a:tcPr/>
                </a:tc>
                <a:tc hMerge="1">
                  <a:txBody>
                    <a:bodyPr/>
                    <a:lstStyle/>
                    <a:p>
                      <a:endParaRPr lang="en-US"/>
                    </a:p>
                  </a:txBody>
                  <a:tcPr/>
                </a:tc>
                <a:tc gridSpan="3">
                  <a:txBody>
                    <a:bodyPr/>
                    <a:lstStyle/>
                    <a:p>
                      <a:pPr marL="0" marR="0" algn="ctr">
                        <a:spcBef>
                          <a:spcPts val="0"/>
                        </a:spcBef>
                        <a:spcAft>
                          <a:spcPts val="0"/>
                        </a:spcAft>
                      </a:pPr>
                      <a:r>
                        <a:rPr lang="en-US" sz="800" dirty="0" smtClean="0">
                          <a:effectLst/>
                        </a:rPr>
                        <a:t>Random Coefficients</a:t>
                      </a:r>
                      <a:r>
                        <a:rPr lang="en-US" sz="800" baseline="0" dirty="0" smtClean="0">
                          <a:effectLst/>
                        </a:rPr>
                        <a:t> Model </a:t>
                      </a:r>
                      <a:r>
                        <a:rPr lang="en-US" sz="800" dirty="0" smtClean="0">
                          <a:effectLst/>
                        </a:rPr>
                        <a:t> (IV)</a:t>
                      </a:r>
                      <a:endParaRPr lang="en-US" sz="1200" dirty="0">
                        <a:effectLst/>
                        <a:latin typeface="Times New Roman"/>
                        <a:ea typeface="Times New Roman"/>
                      </a:endParaRPr>
                    </a:p>
                  </a:txBody>
                  <a:tcPr marL="68580" marR="68580" marT="0" marB="0" anchor="ctr"/>
                </a:tc>
                <a:tc hMerge="1">
                  <a:txBody>
                    <a:bodyPr/>
                    <a:lstStyle/>
                    <a:p>
                      <a:endParaRPr lang="en-US"/>
                    </a:p>
                  </a:txBody>
                  <a:tcPr/>
                </a:tc>
                <a:tc hMerge="1">
                  <a:txBody>
                    <a:bodyPr/>
                    <a:lstStyle/>
                    <a:p>
                      <a:endParaRPr lang="en-US"/>
                    </a:p>
                  </a:txBody>
                  <a:tcPr/>
                </a:tc>
              </a:tr>
              <a:tr h="142875">
                <a:tc>
                  <a:txBody>
                    <a:bodyPr/>
                    <a:lstStyle/>
                    <a:p>
                      <a:pPr marL="0" marR="0" algn="ctr">
                        <a:spcBef>
                          <a:spcPts val="0"/>
                        </a:spcBef>
                        <a:spcAft>
                          <a:spcPts val="0"/>
                        </a:spcAft>
                      </a:pPr>
                      <a:r>
                        <a:rPr lang="en-US" sz="800">
                          <a:effectLst/>
                        </a:rPr>
                        <a:t>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Coef.</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SE</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700">
                          <a:effectLst/>
                        </a:rPr>
                        <a:t>T-Statistic</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Coef.</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SE</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700">
                          <a:effectLst/>
                        </a:rPr>
                        <a:t>T-Statistic</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err="1">
                          <a:effectLst/>
                        </a:rPr>
                        <a:t>Coef</a:t>
                      </a:r>
                      <a:r>
                        <a:rPr lang="en-US" sz="800" dirty="0">
                          <a:effectLst/>
                        </a:rPr>
                        <a:t>.</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SE</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700">
                          <a:effectLst/>
                        </a:rPr>
                        <a:t>T-Statistic</a:t>
                      </a:r>
                      <a:endParaRPr lang="en-US" sz="1200">
                        <a:effectLst/>
                        <a:latin typeface="Times New Roman"/>
                        <a:ea typeface="Times New Roman"/>
                      </a:endParaRPr>
                    </a:p>
                  </a:txBody>
                  <a:tcPr marL="68580" marR="68580" marT="0" marB="0" anchor="ctr"/>
                </a:tc>
              </a:tr>
              <a:tr h="142875">
                <a:tc>
                  <a:txBody>
                    <a:bodyPr/>
                    <a:lstStyle/>
                    <a:p>
                      <a:pPr marL="0" marR="0">
                        <a:spcBef>
                          <a:spcPts val="0"/>
                        </a:spcBef>
                        <a:spcAft>
                          <a:spcPts val="0"/>
                        </a:spcAft>
                        <a:tabLst>
                          <a:tab pos="485775" algn="ctr"/>
                        </a:tabLst>
                      </a:pPr>
                      <a:r>
                        <a:rPr lang="en-US" sz="800">
                          <a:effectLst/>
                        </a:rPr>
                        <a:t>σ</a:t>
                      </a:r>
                      <a:r>
                        <a:rPr lang="en-US" sz="800" baseline="-25000">
                          <a:effectLst/>
                        </a:rPr>
                        <a:t>1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0.87</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1.42</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0.62</a:t>
                      </a:r>
                      <a:endParaRPr lang="en-US" sz="1200" dirty="0">
                        <a:effectLst/>
                        <a:latin typeface="Times New Roman"/>
                        <a:ea typeface="Times New Roman"/>
                      </a:endParaRPr>
                    </a:p>
                  </a:txBody>
                  <a:tcPr marL="68580" marR="68580" marT="0" marB="0" anchor="ctr"/>
                </a:tc>
              </a:tr>
              <a:tr h="142875">
                <a:tc>
                  <a:txBody>
                    <a:bodyPr/>
                    <a:lstStyle/>
                    <a:p>
                      <a:pPr marL="0" marR="0">
                        <a:spcBef>
                          <a:spcPts val="0"/>
                        </a:spcBef>
                        <a:spcAft>
                          <a:spcPts val="0"/>
                        </a:spcAft>
                      </a:pPr>
                      <a:r>
                        <a:rPr lang="en-US" sz="800">
                          <a:effectLst/>
                        </a:rPr>
                        <a:t>σ</a:t>
                      </a:r>
                      <a:r>
                        <a:rPr lang="en-US" sz="800" baseline="-25000">
                          <a:effectLst/>
                        </a:rPr>
                        <a:t>2</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1.82</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2.52</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0.72</a:t>
                      </a:r>
                      <a:endParaRPr lang="en-US" sz="1200" dirty="0">
                        <a:effectLst/>
                        <a:latin typeface="Times New Roman"/>
                        <a:ea typeface="Times New Roman"/>
                      </a:endParaRPr>
                    </a:p>
                  </a:txBody>
                  <a:tcPr marL="68580" marR="68580" marT="0" marB="0" anchor="ctr"/>
                </a:tc>
              </a:tr>
              <a:tr h="142875">
                <a:tc>
                  <a:txBody>
                    <a:bodyPr/>
                    <a:lstStyle/>
                    <a:p>
                      <a:pPr marL="0" marR="0">
                        <a:spcBef>
                          <a:spcPts val="0"/>
                        </a:spcBef>
                        <a:spcAft>
                          <a:spcPts val="0"/>
                        </a:spcAft>
                      </a:pP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endParaRPr lang="en-US" sz="1200" dirty="0">
                        <a:effectLst/>
                        <a:latin typeface="Times New Roman"/>
                        <a:ea typeface="Times New Roman"/>
                      </a:endParaRPr>
                    </a:p>
                  </a:txBody>
                  <a:tcPr marL="68580" marR="68580" marT="0" marB="0" anchor="ctr"/>
                </a:tc>
              </a:tr>
              <a:tr h="142875">
                <a:tc>
                  <a:txBody>
                    <a:bodyPr/>
                    <a:lstStyle/>
                    <a:p>
                      <a:pPr marL="0" marR="0">
                        <a:spcBef>
                          <a:spcPts val="0"/>
                        </a:spcBef>
                        <a:spcAft>
                          <a:spcPts val="0"/>
                        </a:spcAft>
                      </a:pPr>
                      <a:r>
                        <a:rPr lang="en-US" sz="800">
                          <a:effectLst/>
                        </a:rPr>
                        <a:t>Price</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-0.01</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0.01</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-1.57</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a:effectLst/>
                        </a:rPr>
                        <a:t>-</a:t>
                      </a:r>
                      <a:r>
                        <a:rPr lang="en-US" sz="800" dirty="0" smtClean="0">
                          <a:effectLst/>
                        </a:rPr>
                        <a:t>0.14</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0.11</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a:effectLst/>
                        </a:rPr>
                        <a:t>-</a:t>
                      </a:r>
                      <a:r>
                        <a:rPr lang="en-US" sz="800" dirty="0" smtClean="0">
                          <a:effectLst/>
                        </a:rPr>
                        <a:t>1.25</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a:effectLst/>
                        </a:rPr>
                        <a:t>-</a:t>
                      </a:r>
                      <a:r>
                        <a:rPr lang="en-US" sz="800" dirty="0" smtClean="0">
                          <a:effectLst/>
                        </a:rPr>
                        <a:t>0.11</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0.13</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-0.83</a:t>
                      </a:r>
                      <a:endParaRPr lang="en-US" sz="1200" dirty="0">
                        <a:effectLst/>
                        <a:latin typeface="Times New Roman"/>
                        <a:ea typeface="Times New Roman"/>
                      </a:endParaRPr>
                    </a:p>
                  </a:txBody>
                  <a:tcPr marL="68580" marR="68580" marT="0" marB="0" anchor="ctr"/>
                </a:tc>
              </a:tr>
              <a:tr h="142875">
                <a:tc>
                  <a:txBody>
                    <a:bodyPr/>
                    <a:lstStyle/>
                    <a:p>
                      <a:pPr marL="0" marR="0">
                        <a:spcBef>
                          <a:spcPts val="0"/>
                        </a:spcBef>
                        <a:spcAft>
                          <a:spcPts val="0"/>
                        </a:spcAft>
                      </a:pPr>
                      <a:r>
                        <a:rPr lang="en-US" sz="800">
                          <a:effectLst/>
                        </a:rPr>
                        <a:t>YEAR94</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a:effectLst/>
                        </a:rPr>
                        <a:t>-0.72</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0.49</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-1.46</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-3.18</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mn-lt"/>
                          <a:ea typeface="+mn-ea"/>
                        </a:rPr>
                        <a:t>2.63</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a:effectLst/>
                        </a:rPr>
                        <a:t>-</a:t>
                      </a:r>
                      <a:r>
                        <a:rPr lang="en-US" sz="800" dirty="0" smtClean="0">
                          <a:effectLst/>
                        </a:rPr>
                        <a:t>1.21</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a:effectLst/>
                        </a:rPr>
                        <a:t>-</a:t>
                      </a:r>
                      <a:r>
                        <a:rPr lang="en-US" sz="800" dirty="0" smtClean="0">
                          <a:effectLst/>
                        </a:rPr>
                        <a:t>2.45</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2.67</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a:effectLst/>
                        </a:rPr>
                        <a:t>-</a:t>
                      </a:r>
                      <a:r>
                        <a:rPr lang="en-US" sz="800" dirty="0" smtClean="0">
                          <a:effectLst/>
                        </a:rPr>
                        <a:t>0.92</a:t>
                      </a:r>
                      <a:endParaRPr lang="en-US" sz="1200" dirty="0">
                        <a:effectLst/>
                        <a:latin typeface="Times New Roman"/>
                        <a:ea typeface="Times New Roman"/>
                      </a:endParaRPr>
                    </a:p>
                  </a:txBody>
                  <a:tcPr marL="68580" marR="68580" marT="0" marB="0" anchor="ctr"/>
                </a:tc>
              </a:tr>
              <a:tr h="142875">
                <a:tc>
                  <a:txBody>
                    <a:bodyPr/>
                    <a:lstStyle/>
                    <a:p>
                      <a:pPr marL="0" marR="0">
                        <a:spcBef>
                          <a:spcPts val="0"/>
                        </a:spcBef>
                        <a:spcAft>
                          <a:spcPts val="0"/>
                        </a:spcAft>
                      </a:pPr>
                      <a:r>
                        <a:rPr lang="en-US" sz="800">
                          <a:effectLst/>
                        </a:rPr>
                        <a:t>YEAR95</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-1.3</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a:effectLst/>
                        </a:rPr>
                        <a:t>0.5</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-2.58</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-7.46</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mn-lt"/>
                          <a:ea typeface="+mn-ea"/>
                        </a:rPr>
                        <a:t>5.34</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-1.40</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-6.07</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15.45</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-0.39</a:t>
                      </a:r>
                      <a:endParaRPr lang="en-US" sz="1200" dirty="0">
                        <a:effectLst/>
                        <a:latin typeface="Times New Roman"/>
                        <a:ea typeface="Times New Roman"/>
                      </a:endParaRPr>
                    </a:p>
                  </a:txBody>
                  <a:tcPr marL="68580" marR="68580" marT="0" marB="0" anchor="ctr"/>
                </a:tc>
              </a:tr>
              <a:tr h="142875">
                <a:tc>
                  <a:txBody>
                    <a:bodyPr/>
                    <a:lstStyle/>
                    <a:p>
                      <a:pPr marL="0" marR="0">
                        <a:spcBef>
                          <a:spcPts val="0"/>
                        </a:spcBef>
                        <a:spcAft>
                          <a:spcPts val="0"/>
                        </a:spcAft>
                      </a:pPr>
                      <a:r>
                        <a:rPr lang="en-US" sz="800">
                          <a:effectLst/>
                        </a:rPr>
                        <a:t>YEAR96-98</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-1.81</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0.68</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-2.66</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-14.18</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10.56</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-1.34</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-11.24</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13.02</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-0.86</a:t>
                      </a:r>
                      <a:endParaRPr lang="en-US" sz="1200" dirty="0">
                        <a:effectLst/>
                        <a:latin typeface="Times New Roman"/>
                        <a:ea typeface="Times New Roman"/>
                      </a:endParaRPr>
                    </a:p>
                  </a:txBody>
                  <a:tcPr marL="68580" marR="68580" marT="0" marB="0" anchor="ctr"/>
                </a:tc>
              </a:tr>
              <a:tr h="285750">
                <a:tc>
                  <a:txBody>
                    <a:bodyPr/>
                    <a:lstStyle/>
                    <a:p>
                      <a:pPr marL="0" marR="0">
                        <a:spcBef>
                          <a:spcPts val="0"/>
                        </a:spcBef>
                        <a:spcAft>
                          <a:spcPts val="0"/>
                        </a:spcAft>
                      </a:pPr>
                      <a:r>
                        <a:rPr lang="en-US" sz="800">
                          <a:effectLst/>
                        </a:rPr>
                        <a:t>MICROSOFT</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1.31</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0.37</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3.52</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3.73</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mn-lt"/>
                          <a:ea typeface="+mn-ea"/>
                        </a:rPr>
                        <a:t>2.50</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mn-lt"/>
                          <a:ea typeface="Times New Roman"/>
                        </a:rPr>
                        <a:t>1.49</a:t>
                      </a:r>
                      <a:endParaRPr lang="en-US" sz="800" dirty="0">
                        <a:effectLst/>
                        <a:latin typeface="+mn-lt"/>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3.23</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3.07</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1.05</a:t>
                      </a:r>
                      <a:endParaRPr lang="en-US" sz="1200" dirty="0">
                        <a:effectLst/>
                        <a:latin typeface="Times New Roman"/>
                        <a:ea typeface="Times New Roman"/>
                      </a:endParaRPr>
                    </a:p>
                  </a:txBody>
                  <a:tcPr marL="68580" marR="68580" marT="0" marB="0" anchor="ctr"/>
                </a:tc>
              </a:tr>
              <a:tr h="217170">
                <a:tc>
                  <a:txBody>
                    <a:bodyPr/>
                    <a:lstStyle/>
                    <a:p>
                      <a:pPr marL="0" marR="0">
                        <a:spcBef>
                          <a:spcPts val="0"/>
                        </a:spcBef>
                        <a:spcAft>
                          <a:spcPts val="0"/>
                        </a:spcAft>
                      </a:pPr>
                      <a:r>
                        <a:rPr lang="en-US" sz="800" dirty="0" smtClean="0">
                          <a:effectLst/>
                        </a:rPr>
                        <a:t>SS*RELQUAL_SS</a:t>
                      </a:r>
                    </a:p>
                    <a:p>
                      <a:pPr marL="0" marR="0">
                        <a:spcBef>
                          <a:spcPts val="0"/>
                        </a:spcBef>
                        <a:spcAft>
                          <a:spcPts val="0"/>
                        </a:spcAft>
                      </a:pP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-1.27</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2.12</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-0.6</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-7.45</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mn-lt"/>
                          <a:ea typeface="Times New Roman"/>
                        </a:rPr>
                        <a:t>9.18</a:t>
                      </a:r>
                      <a:endParaRPr lang="en-US" sz="800" dirty="0">
                        <a:effectLst/>
                        <a:latin typeface="+mn-lt"/>
                        <a:ea typeface="Times New Roman"/>
                      </a:endParaRPr>
                    </a:p>
                  </a:txBody>
                  <a:tcPr marL="68580" marR="68580" marT="0" marB="0" anchor="ctr"/>
                </a:tc>
                <a:tc>
                  <a:txBody>
                    <a:bodyPr/>
                    <a:lstStyle/>
                    <a:p>
                      <a:pPr marL="0" marR="0" algn="ctr">
                        <a:spcBef>
                          <a:spcPts val="0"/>
                        </a:spcBef>
                        <a:spcAft>
                          <a:spcPts val="0"/>
                        </a:spcAft>
                      </a:pPr>
                      <a:r>
                        <a:rPr lang="en-US" sz="800" dirty="0">
                          <a:effectLst/>
                          <a:latin typeface="+mn-lt"/>
                        </a:rPr>
                        <a:t>-</a:t>
                      </a:r>
                      <a:r>
                        <a:rPr lang="en-US" sz="800" dirty="0" smtClean="0">
                          <a:effectLst/>
                          <a:latin typeface="+mn-lt"/>
                        </a:rPr>
                        <a:t>0.81</a:t>
                      </a:r>
                      <a:endParaRPr lang="en-US" sz="800" dirty="0">
                        <a:effectLst/>
                        <a:latin typeface="+mn-lt"/>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mn-lt"/>
                        </a:rPr>
                        <a:t>-6.73</a:t>
                      </a:r>
                      <a:endParaRPr lang="en-US" sz="800" dirty="0">
                        <a:effectLst/>
                        <a:latin typeface="+mn-lt"/>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8.57</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a:effectLst/>
                        </a:rPr>
                        <a:t>-</a:t>
                      </a:r>
                      <a:r>
                        <a:rPr lang="en-US" sz="800" dirty="0" smtClean="0">
                          <a:effectLst/>
                        </a:rPr>
                        <a:t>0.78</a:t>
                      </a:r>
                      <a:endParaRPr lang="en-US" sz="1200" dirty="0">
                        <a:effectLst/>
                        <a:latin typeface="Times New Roman"/>
                        <a:ea typeface="Times New Roman"/>
                      </a:endParaRPr>
                    </a:p>
                  </a:txBody>
                  <a:tcPr marL="68580" marR="68580" marT="0" marB="0" anchor="ctr"/>
                </a:tc>
              </a:tr>
              <a:tr h="142875">
                <a:tc>
                  <a:txBody>
                    <a:bodyPr/>
                    <a:lstStyle/>
                    <a:p>
                      <a:pPr marL="0" marR="0">
                        <a:spcBef>
                          <a:spcPts val="0"/>
                        </a:spcBef>
                        <a:spcAft>
                          <a:spcPts val="0"/>
                        </a:spcAft>
                      </a:pPr>
                      <a:r>
                        <a:rPr lang="en-US" sz="700" dirty="0" smtClean="0">
                          <a:effectLst/>
                        </a:rPr>
                        <a:t>WP*RELQUAL_WP</a:t>
                      </a:r>
                      <a:endParaRPr lang="en-US" sz="7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0.12</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4.28</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0.03</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-15.44</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mn-lt"/>
                          <a:ea typeface="+mn-ea"/>
                        </a:rPr>
                        <a:t>17.79</a:t>
                      </a:r>
                      <a:endParaRPr lang="en-US" sz="800" dirty="0">
                        <a:effectLst/>
                        <a:latin typeface="+mn-lt"/>
                        <a:ea typeface="Times New Roman"/>
                      </a:endParaRPr>
                    </a:p>
                  </a:txBody>
                  <a:tcPr marL="68580" marR="68580" marT="0" marB="0" anchor="ctr"/>
                </a:tc>
                <a:tc>
                  <a:txBody>
                    <a:bodyPr/>
                    <a:lstStyle/>
                    <a:p>
                      <a:pPr marL="0" marR="0" algn="ctr">
                        <a:spcBef>
                          <a:spcPts val="0"/>
                        </a:spcBef>
                        <a:spcAft>
                          <a:spcPts val="0"/>
                        </a:spcAft>
                      </a:pPr>
                      <a:r>
                        <a:rPr lang="en-US" sz="800" dirty="0">
                          <a:effectLst/>
                          <a:latin typeface="+mn-lt"/>
                        </a:rPr>
                        <a:t>-</a:t>
                      </a:r>
                      <a:r>
                        <a:rPr lang="en-US" sz="800" dirty="0" smtClean="0">
                          <a:effectLst/>
                          <a:latin typeface="+mn-lt"/>
                        </a:rPr>
                        <a:t>0.87</a:t>
                      </a:r>
                      <a:endParaRPr lang="en-US" sz="800" dirty="0">
                        <a:effectLst/>
                        <a:latin typeface="+mn-lt"/>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mn-lt"/>
                        </a:rPr>
                        <a:t>-12.81</a:t>
                      </a:r>
                      <a:endParaRPr lang="en-US" sz="800" dirty="0">
                        <a:effectLst/>
                        <a:latin typeface="+mn-lt"/>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Verdana" pitchFamily="34" charset="0"/>
                          <a:ea typeface="Verdana" pitchFamily="34" charset="0"/>
                          <a:cs typeface="Verdana" pitchFamily="34" charset="0"/>
                        </a:rPr>
                        <a:t>20.76</a:t>
                      </a:r>
                      <a:endParaRPr lang="en-US" sz="800" dirty="0">
                        <a:effectLst/>
                        <a:latin typeface="Verdana" pitchFamily="34" charset="0"/>
                        <a:ea typeface="Verdana" pitchFamily="34" charset="0"/>
                        <a:cs typeface="Verdana" pitchFamily="34" charset="0"/>
                      </a:endParaRPr>
                    </a:p>
                  </a:txBody>
                  <a:tcPr marL="68580" marR="68580" marT="0" marB="0" anchor="ctr"/>
                </a:tc>
                <a:tc>
                  <a:txBody>
                    <a:bodyPr/>
                    <a:lstStyle/>
                    <a:p>
                      <a:pPr marL="0" marR="0" algn="ctr">
                        <a:spcBef>
                          <a:spcPts val="0"/>
                        </a:spcBef>
                        <a:spcAft>
                          <a:spcPts val="0"/>
                        </a:spcAft>
                      </a:pPr>
                      <a:r>
                        <a:rPr lang="en-US" sz="800" dirty="0" smtClean="0">
                          <a:effectLst/>
                          <a:latin typeface="+mn-lt"/>
                          <a:ea typeface="+mn-ea"/>
                        </a:rPr>
                        <a:t>-0.62</a:t>
                      </a:r>
                      <a:endParaRPr lang="en-US" sz="1200" dirty="0">
                        <a:effectLst/>
                        <a:latin typeface="Times New Roman"/>
                        <a:ea typeface="Times New Roman"/>
                      </a:endParaRPr>
                    </a:p>
                  </a:txBody>
                  <a:tcPr marL="68580" marR="68580" marT="0" marB="0" anchor="ctr"/>
                </a:tc>
              </a:tr>
              <a:tr h="142875">
                <a:tc>
                  <a:txBody>
                    <a:bodyPr/>
                    <a:lstStyle/>
                    <a:p>
                      <a:pPr marL="0" marR="0">
                        <a:spcBef>
                          <a:spcPts val="0"/>
                        </a:spcBef>
                        <a:spcAft>
                          <a:spcPts val="0"/>
                        </a:spcAft>
                      </a:pPr>
                      <a:r>
                        <a:rPr lang="en-US" sz="800" dirty="0">
                          <a:effectLst/>
                        </a:rPr>
                        <a:t>SUITE</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3.19</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0.53</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6.01</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2.36</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mn-lt"/>
                          <a:ea typeface="+mn-ea"/>
                        </a:rPr>
                        <a:t>2.02</a:t>
                      </a:r>
                      <a:endParaRPr lang="en-US" sz="800" dirty="0">
                        <a:effectLst/>
                        <a:latin typeface="+mn-lt"/>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mn-lt"/>
                        </a:rPr>
                        <a:t>1.17</a:t>
                      </a:r>
                      <a:endParaRPr lang="en-US" sz="800" dirty="0">
                        <a:effectLst/>
                        <a:latin typeface="+mn-lt"/>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mn-lt"/>
                        </a:rPr>
                        <a:t>2.59</a:t>
                      </a:r>
                      <a:endParaRPr lang="en-US" sz="800" dirty="0">
                        <a:effectLst/>
                        <a:latin typeface="+mn-lt"/>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2.61</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1.00</a:t>
                      </a:r>
                      <a:endParaRPr lang="en-US" sz="1200" dirty="0">
                        <a:effectLst/>
                        <a:latin typeface="Times New Roman"/>
                        <a:ea typeface="Times New Roman"/>
                      </a:endParaRPr>
                    </a:p>
                  </a:txBody>
                  <a:tcPr marL="68580" marR="68580" marT="0" marB="0" anchor="ctr"/>
                </a:tc>
              </a:tr>
              <a:tr h="285750">
                <a:tc>
                  <a:txBody>
                    <a:bodyPr/>
                    <a:lstStyle/>
                    <a:p>
                      <a:pPr marL="0" marR="0">
                        <a:spcBef>
                          <a:spcPts val="0"/>
                        </a:spcBef>
                        <a:spcAft>
                          <a:spcPts val="0"/>
                        </a:spcAft>
                      </a:pPr>
                      <a:r>
                        <a:rPr lang="en-US" sz="700" dirty="0" smtClean="0">
                          <a:effectLst/>
                        </a:rPr>
                        <a:t>SS*RELQUAL_SS</a:t>
                      </a:r>
                      <a:r>
                        <a:rPr lang="en-US" sz="700" baseline="30000" dirty="0" smtClean="0">
                          <a:effectLst/>
                        </a:rPr>
                        <a:t>2</a:t>
                      </a:r>
                      <a:endParaRPr lang="en-US" sz="700" baseline="300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-0.12</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2.31</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-0.05</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14.75</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mn-lt"/>
                        </a:rPr>
                        <a:t>14.54</a:t>
                      </a:r>
                      <a:endParaRPr lang="en-US" sz="800" dirty="0">
                        <a:effectLst/>
                        <a:latin typeface="+mn-lt"/>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mn-lt"/>
                        </a:rPr>
                        <a:t>1.01</a:t>
                      </a:r>
                      <a:endParaRPr lang="en-US" sz="800" dirty="0">
                        <a:effectLst/>
                        <a:latin typeface="+mn-lt"/>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mn-lt"/>
                          <a:ea typeface="+mn-ea"/>
                        </a:rPr>
                        <a:t>12.15</a:t>
                      </a:r>
                      <a:endParaRPr lang="en-US" sz="800" dirty="0">
                        <a:effectLst/>
                        <a:latin typeface="+mn-lt"/>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Verdana" pitchFamily="34" charset="0"/>
                          <a:ea typeface="Verdana" pitchFamily="34" charset="0"/>
                          <a:cs typeface="Verdana" pitchFamily="34" charset="0"/>
                        </a:rPr>
                        <a:t>15.66</a:t>
                      </a:r>
                      <a:endParaRPr lang="en-US" sz="800" dirty="0">
                        <a:effectLst/>
                        <a:latin typeface="Verdana" pitchFamily="34" charset="0"/>
                        <a:ea typeface="Verdana" pitchFamily="34" charset="0"/>
                        <a:cs typeface="Verdana" pitchFamily="34" charset="0"/>
                      </a:endParaRPr>
                    </a:p>
                  </a:txBody>
                  <a:tcPr marL="68580" marR="68580" marT="0" marB="0" anchor="ctr"/>
                </a:tc>
                <a:tc>
                  <a:txBody>
                    <a:bodyPr/>
                    <a:lstStyle/>
                    <a:p>
                      <a:pPr marL="0" marR="0" algn="ctr">
                        <a:spcBef>
                          <a:spcPts val="0"/>
                        </a:spcBef>
                        <a:spcAft>
                          <a:spcPts val="0"/>
                        </a:spcAft>
                      </a:pPr>
                      <a:r>
                        <a:rPr lang="en-US" sz="800" dirty="0" smtClean="0">
                          <a:effectLst/>
                        </a:rPr>
                        <a:t>0.78</a:t>
                      </a:r>
                      <a:endParaRPr lang="en-US" sz="1200" dirty="0">
                        <a:effectLst/>
                        <a:latin typeface="Times New Roman"/>
                        <a:ea typeface="Times New Roman"/>
                      </a:endParaRPr>
                    </a:p>
                  </a:txBody>
                  <a:tcPr marL="68580" marR="68580" marT="0" marB="0" anchor="ctr"/>
                </a:tc>
              </a:tr>
              <a:tr h="285750">
                <a:tc>
                  <a:txBody>
                    <a:bodyPr/>
                    <a:lstStyle/>
                    <a:p>
                      <a:pPr marL="0" marR="0">
                        <a:spcBef>
                          <a:spcPts val="0"/>
                        </a:spcBef>
                        <a:spcAft>
                          <a:spcPts val="0"/>
                        </a:spcAft>
                      </a:pPr>
                      <a:r>
                        <a:rPr lang="en-US" sz="700" dirty="0" smtClean="0">
                          <a:effectLst/>
                        </a:rPr>
                        <a:t>WP*RELQUAL_WP</a:t>
                      </a:r>
                      <a:r>
                        <a:rPr lang="en-US" sz="700" baseline="30000" dirty="0" smtClean="0">
                          <a:effectLst/>
                        </a:rPr>
                        <a:t>2</a:t>
                      </a:r>
                      <a:endParaRPr lang="en-US" sz="7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-1.64</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4.12</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-0.4</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22.65</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mn-lt"/>
                          <a:ea typeface="+mn-ea"/>
                        </a:rPr>
                        <a:t>2.43</a:t>
                      </a:r>
                      <a:endParaRPr lang="en-US" sz="800" dirty="0">
                        <a:effectLst/>
                        <a:latin typeface="+mn-lt"/>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mn-lt"/>
                        </a:rPr>
                        <a:t>1.01</a:t>
                      </a:r>
                      <a:endParaRPr lang="en-US" sz="800" dirty="0">
                        <a:effectLst/>
                        <a:latin typeface="+mn-lt"/>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mn-lt"/>
                        </a:rPr>
                        <a:t>18.16</a:t>
                      </a:r>
                      <a:endParaRPr lang="en-US" sz="800" dirty="0">
                        <a:effectLst/>
                        <a:latin typeface="+mn-lt"/>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mn-lt"/>
                          <a:ea typeface="Times New Roman"/>
                        </a:rPr>
                        <a:t>26.82</a:t>
                      </a:r>
                      <a:endParaRPr lang="en-US" sz="800" dirty="0">
                        <a:effectLst/>
                        <a:latin typeface="+mn-lt"/>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0.68</a:t>
                      </a:r>
                      <a:endParaRPr lang="en-US" sz="1200" dirty="0">
                        <a:effectLst/>
                        <a:latin typeface="Times New Roman"/>
                        <a:ea typeface="Times New Roman"/>
                      </a:endParaRPr>
                    </a:p>
                  </a:txBody>
                  <a:tcPr marL="68580" marR="68580" marT="0" marB="0" anchor="ctr"/>
                </a:tc>
              </a:tr>
              <a:tr h="428625">
                <a:tc>
                  <a:txBody>
                    <a:bodyPr/>
                    <a:lstStyle/>
                    <a:p>
                      <a:pPr marL="0" marR="0">
                        <a:spcBef>
                          <a:spcPts val="0"/>
                        </a:spcBef>
                        <a:spcAft>
                          <a:spcPts val="0"/>
                        </a:spcAft>
                      </a:pPr>
                      <a:r>
                        <a:rPr lang="en-US" sz="700" dirty="0" smtClean="0">
                          <a:effectLst/>
                        </a:rPr>
                        <a:t>MICROSOFT*SUITE*YEAR96-98</a:t>
                      </a:r>
                      <a:endParaRPr lang="en-US" sz="7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1.66</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1.09</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1.52</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2.75</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mn-lt"/>
                        </a:rPr>
                        <a:t>4.01</a:t>
                      </a:r>
                      <a:endParaRPr lang="en-US" sz="800" dirty="0">
                        <a:effectLst/>
                        <a:latin typeface="+mn-lt"/>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mn-lt"/>
                          <a:ea typeface="Times New Roman"/>
                        </a:rPr>
                        <a:t>0.69</a:t>
                      </a:r>
                      <a:endParaRPr lang="en-US" sz="800" dirty="0">
                        <a:effectLst/>
                        <a:latin typeface="+mn-lt"/>
                        <a:ea typeface="Times New Roman"/>
                      </a:endParaRPr>
                    </a:p>
                  </a:txBody>
                  <a:tcPr marL="68580" marR="68580" marT="0" marB="0" anchor="ctr"/>
                </a:tc>
                <a:tc>
                  <a:txBody>
                    <a:bodyPr/>
                    <a:lstStyle/>
                    <a:p>
                      <a:pPr marL="0" marR="0" algn="ctr">
                        <a:spcBef>
                          <a:spcPts val="0"/>
                        </a:spcBef>
                        <a:spcAft>
                          <a:spcPts val="0"/>
                        </a:spcAft>
                      </a:pPr>
                      <a:r>
                        <a:rPr lang="en-US" sz="800" dirty="0" smtClean="0">
                          <a:effectLst/>
                          <a:latin typeface="+mn-lt"/>
                          <a:ea typeface="Times New Roman"/>
                        </a:rPr>
                        <a:t>2.34</a:t>
                      </a:r>
                      <a:endParaRPr lang="en-US" sz="800" dirty="0">
                        <a:effectLst/>
                        <a:latin typeface="+mn-lt"/>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2.51</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0.93</a:t>
                      </a:r>
                      <a:endParaRPr lang="en-US" sz="1200" dirty="0">
                        <a:effectLst/>
                        <a:latin typeface="Times New Roman"/>
                        <a:ea typeface="Times New Roman"/>
                      </a:endParaRPr>
                    </a:p>
                  </a:txBody>
                  <a:tcPr marL="68580" marR="68580" marT="0" marB="0" anchor="ctr"/>
                </a:tc>
              </a:tr>
              <a:tr h="428625">
                <a:tc>
                  <a:txBody>
                    <a:bodyPr/>
                    <a:lstStyle/>
                    <a:p>
                      <a:pPr marL="0" marR="0">
                        <a:spcBef>
                          <a:spcPts val="0"/>
                        </a:spcBef>
                        <a:spcAft>
                          <a:spcPts val="0"/>
                        </a:spcAft>
                      </a:pPr>
                      <a:r>
                        <a:rPr lang="en-US" sz="800" dirty="0">
                          <a:effectLst/>
                        </a:rPr>
                        <a:t>63 observations</a:t>
                      </a:r>
                      <a:endParaRPr lang="en-US" sz="1200" dirty="0">
                        <a:effectLst/>
                        <a:latin typeface="Times New Roman"/>
                        <a:ea typeface="Times New Roman"/>
                      </a:endParaRPr>
                    </a:p>
                  </a:txBody>
                  <a:tcPr marL="68580" marR="68580" marT="0" marB="0" anchor="ctr"/>
                </a:tc>
                <a:tc gridSpan="2">
                  <a:txBody>
                    <a:bodyPr/>
                    <a:lstStyle/>
                    <a:p>
                      <a:pPr marL="0" marR="0" algn="ctr">
                        <a:spcBef>
                          <a:spcPts val="0"/>
                        </a:spcBef>
                        <a:spcAft>
                          <a:spcPts val="0"/>
                        </a:spcAft>
                      </a:pPr>
                      <a:r>
                        <a:rPr lang="en-US" sz="800">
                          <a:effectLst/>
                        </a:rPr>
                        <a:t>Adj. R</a:t>
                      </a:r>
                      <a:r>
                        <a:rPr lang="en-US" sz="800" baseline="30000">
                          <a:effectLst/>
                        </a:rPr>
                        <a:t>2</a:t>
                      </a:r>
                      <a:r>
                        <a:rPr lang="en-US" sz="800">
                          <a:effectLst/>
                        </a:rPr>
                        <a:t>=0.31</a:t>
                      </a:r>
                      <a:endParaRPr lang="en-US" sz="1200">
                        <a:effectLst/>
                        <a:latin typeface="Times New Roman"/>
                        <a:ea typeface="Times New Roman"/>
                      </a:endParaRPr>
                    </a:p>
                  </a:txBody>
                  <a:tcPr marL="68580" marR="68580" marT="0" marB="0" anchor="ctr"/>
                </a:tc>
                <a:tc hMerge="1">
                  <a:txBody>
                    <a:bodyPr/>
                    <a:lstStyle/>
                    <a:p>
                      <a:endParaRPr lang="en-US"/>
                    </a:p>
                  </a:txBody>
                  <a:tcPr/>
                </a:tc>
                <a:tc>
                  <a:txBody>
                    <a:bodyPr/>
                    <a:lstStyle/>
                    <a:p>
                      <a:pPr marL="0" marR="0" algn="ctr">
                        <a:spcBef>
                          <a:spcPts val="0"/>
                        </a:spcBef>
                        <a:spcAft>
                          <a:spcPts val="0"/>
                        </a:spcAft>
                      </a:pPr>
                      <a:r>
                        <a:rPr lang="en-US" sz="800">
                          <a:effectLst/>
                        </a:rPr>
                        <a:t>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 </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a:effectLst/>
                        </a:rPr>
                        <a:t> </a:t>
                      </a:r>
                      <a:endParaRPr lang="en-US" sz="1200" dirty="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a:effectLst/>
                        </a:rPr>
                        <a:t>GMM</a:t>
                      </a:r>
                      <a:endParaRPr lang="en-US" sz="1200">
                        <a:effectLst/>
                        <a:latin typeface="Times New Roman"/>
                        <a:ea typeface="Times New Roman"/>
                      </a:endParaRPr>
                    </a:p>
                  </a:txBody>
                  <a:tcPr marL="68580" marR="68580" marT="0" marB="0" anchor="ctr"/>
                </a:tc>
                <a:tc>
                  <a:txBody>
                    <a:bodyPr/>
                    <a:lstStyle/>
                    <a:p>
                      <a:pPr marL="0" marR="0" algn="ctr">
                        <a:spcBef>
                          <a:spcPts val="0"/>
                        </a:spcBef>
                        <a:spcAft>
                          <a:spcPts val="0"/>
                        </a:spcAft>
                      </a:pPr>
                      <a:r>
                        <a:rPr lang="en-US" sz="800" dirty="0" smtClean="0">
                          <a:effectLst/>
                        </a:rPr>
                        <a:t>18.45</a:t>
                      </a:r>
                      <a:endParaRPr lang="en-US" sz="800" dirty="0">
                        <a:effectLst/>
                      </a:endParaRPr>
                    </a:p>
                  </a:txBody>
                  <a:tcPr marL="68580" marR="68580" marT="0" marB="0" anchor="ctr"/>
                </a:tc>
                <a:tc>
                  <a:txBody>
                    <a:bodyPr/>
                    <a:lstStyle/>
                    <a:p>
                      <a:pPr marL="0" marR="0" algn="ctr">
                        <a:spcBef>
                          <a:spcPts val="0"/>
                        </a:spcBef>
                        <a:spcAft>
                          <a:spcPts val="0"/>
                        </a:spcAft>
                      </a:pPr>
                      <a:r>
                        <a:rPr lang="en-US" sz="800" dirty="0">
                          <a:effectLst/>
                        </a:rPr>
                        <a:t> </a:t>
                      </a:r>
                      <a:endParaRPr lang="en-US" sz="1200" dirty="0">
                        <a:effectLst/>
                        <a:latin typeface="Times New Roman"/>
                        <a:ea typeface="Times New Roman"/>
                      </a:endParaRPr>
                    </a:p>
                  </a:txBody>
                  <a:tcPr marL="68580" marR="68580" marT="0" marB="0" anchor="ctr"/>
                </a:tc>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pPr>
              <a:buFont typeface="Arial" pitchFamily="34" charset="0"/>
              <a:buChar char="•"/>
            </a:pPr>
            <a:endParaRPr lang="en-US" dirty="0" smtClean="0">
              <a:cs typeface="Times New Roman" pitchFamily="18" charset="0"/>
            </a:endParaRPr>
          </a:p>
          <a:p>
            <a:pPr>
              <a:buFont typeface="Arial" pitchFamily="34" charset="0"/>
              <a:buChar char="•"/>
            </a:pPr>
            <a:r>
              <a:rPr lang="el-GR" dirty="0" smtClean="0">
                <a:cs typeface="Times New Roman" pitchFamily="18" charset="0"/>
              </a:rPr>
              <a:t>σ</a:t>
            </a:r>
            <a:r>
              <a:rPr lang="en-US" baseline="-25000" dirty="0" smtClean="0">
                <a:cs typeface="Times New Roman" pitchFamily="18" charset="0"/>
              </a:rPr>
              <a:t>2,WP</a:t>
            </a:r>
            <a:r>
              <a:rPr lang="en-US" dirty="0" smtClean="0">
                <a:cs typeface="Times New Roman" pitchFamily="18" charset="0"/>
              </a:rPr>
              <a:t> (1.82) </a:t>
            </a:r>
            <a:r>
              <a:rPr lang="en-US" dirty="0">
                <a:cs typeface="Times New Roman" pitchFamily="18" charset="0"/>
              </a:rPr>
              <a:t>is </a:t>
            </a:r>
            <a:r>
              <a:rPr lang="en-US" dirty="0" smtClean="0">
                <a:cs typeface="Times New Roman" pitchFamily="18" charset="0"/>
              </a:rPr>
              <a:t>larger than </a:t>
            </a:r>
            <a:r>
              <a:rPr lang="el-GR" dirty="0" smtClean="0">
                <a:cs typeface="Times New Roman" pitchFamily="18" charset="0"/>
              </a:rPr>
              <a:t>σ</a:t>
            </a:r>
            <a:r>
              <a:rPr lang="en-US" baseline="-25000" dirty="0">
                <a:cs typeface="Times New Roman" pitchFamily="18" charset="0"/>
              </a:rPr>
              <a:t> </a:t>
            </a:r>
            <a:r>
              <a:rPr lang="en-US" baseline="-25000" dirty="0" smtClean="0">
                <a:cs typeface="Times New Roman" pitchFamily="18" charset="0"/>
              </a:rPr>
              <a:t>1,SS </a:t>
            </a:r>
            <a:r>
              <a:rPr lang="en-US" dirty="0" smtClean="0">
                <a:cs typeface="Times New Roman" pitchFamily="18" charset="0"/>
              </a:rPr>
              <a:t>(0.87) : correlation = 0.46</a:t>
            </a:r>
          </a:p>
          <a:p>
            <a:pPr lvl="1">
              <a:buFont typeface="Arial" pitchFamily="34" charset="0"/>
              <a:buChar char="•"/>
            </a:pPr>
            <a:r>
              <a:rPr lang="en-US" dirty="0" smtClean="0">
                <a:cs typeface="Times New Roman" pitchFamily="18" charset="0"/>
              </a:rPr>
              <a:t>Spreadsheet </a:t>
            </a:r>
            <a:r>
              <a:rPr lang="en-US" dirty="0">
                <a:cs typeface="Times New Roman" pitchFamily="18" charset="0"/>
              </a:rPr>
              <a:t>use during the 1990s was primarily for simple calculations; likely less variance in that value than in the variance of the value placed on word processors. </a:t>
            </a:r>
          </a:p>
          <a:p>
            <a:pPr>
              <a:buFont typeface="Arial" pitchFamily="34" charset="0"/>
              <a:buChar char="•"/>
            </a:pPr>
            <a:endParaRPr lang="en-US" dirty="0">
              <a:cs typeface="Times New Roman" pitchFamily="18" charset="0"/>
            </a:endParaRPr>
          </a:p>
          <a:p>
            <a:pPr>
              <a:buFont typeface="Arial" pitchFamily="34" charset="0"/>
              <a:buChar char="•"/>
            </a:pPr>
            <a:r>
              <a:rPr lang="en-US" dirty="0" smtClean="0">
                <a:cs typeface="Times New Roman" pitchFamily="18" charset="0"/>
              </a:rPr>
              <a:t>Coefficient on Microsoft dummy </a:t>
            </a:r>
            <a:r>
              <a:rPr lang="en-US" dirty="0">
                <a:cs typeface="Times New Roman" pitchFamily="18" charset="0"/>
              </a:rPr>
              <a:t>is positive </a:t>
            </a:r>
            <a:r>
              <a:rPr lang="en-US" dirty="0" smtClean="0">
                <a:cs typeface="Times New Roman" pitchFamily="18" charset="0"/>
              </a:rPr>
              <a:t>but not significant</a:t>
            </a:r>
          </a:p>
          <a:p>
            <a:pPr lvl="1">
              <a:buFont typeface="Arial" pitchFamily="34" charset="0"/>
              <a:buChar char="•"/>
            </a:pPr>
            <a:r>
              <a:rPr lang="en-US" dirty="0" smtClean="0">
                <a:cs typeface="Times New Roman" pitchFamily="18" charset="0"/>
              </a:rPr>
              <a:t>Microsoft </a:t>
            </a:r>
            <a:r>
              <a:rPr lang="en-US" dirty="0">
                <a:cs typeface="Times New Roman" pitchFamily="18" charset="0"/>
              </a:rPr>
              <a:t>benefited from  better reputation, </a:t>
            </a:r>
            <a:r>
              <a:rPr lang="en-US" dirty="0" smtClean="0">
                <a:cs typeface="Times New Roman" pitchFamily="18" charset="0"/>
              </a:rPr>
              <a:t>better service</a:t>
            </a:r>
            <a:r>
              <a:rPr lang="en-US" dirty="0">
                <a:cs typeface="Times New Roman" pitchFamily="18" charset="0"/>
              </a:rPr>
              <a:t>, additional components in the suite, </a:t>
            </a:r>
            <a:r>
              <a:rPr lang="en-US" dirty="0" smtClean="0">
                <a:cs typeface="Times New Roman" pitchFamily="18" charset="0"/>
              </a:rPr>
              <a:t>better </a:t>
            </a:r>
            <a:r>
              <a:rPr lang="en-US" dirty="0">
                <a:cs typeface="Times New Roman" pitchFamily="18" charset="0"/>
              </a:rPr>
              <a:t>integration of </a:t>
            </a:r>
            <a:r>
              <a:rPr lang="en-US" dirty="0" smtClean="0">
                <a:cs typeface="Times New Roman" pitchFamily="18" charset="0"/>
              </a:rPr>
              <a:t>components</a:t>
            </a:r>
            <a:endParaRPr lang="en-US" dirty="0">
              <a:cs typeface="Times New Roman" pitchFamily="18" charset="0"/>
            </a:endParaRPr>
          </a:p>
          <a:p>
            <a:pPr>
              <a:buFont typeface="Arial" pitchFamily="34" charset="0"/>
              <a:buChar char="•"/>
            </a:pPr>
            <a:endParaRPr lang="en-US" dirty="0">
              <a:cs typeface="Times New Roman" pitchFamily="18" charset="0"/>
            </a:endParaRPr>
          </a:p>
          <a:p>
            <a:pPr>
              <a:buFont typeface="Arial" pitchFamily="34" charset="0"/>
              <a:buChar char="•"/>
            </a:pPr>
            <a:r>
              <a:rPr lang="en-US" dirty="0">
                <a:cs typeface="Times New Roman" pitchFamily="18" charset="0"/>
              </a:rPr>
              <a:t>Coefficient on the variable SUITE is positive, although not statistically significant. </a:t>
            </a:r>
            <a:r>
              <a:rPr lang="en-US" dirty="0" smtClean="0">
                <a:cs typeface="Times New Roman" pitchFamily="18" charset="0"/>
              </a:rPr>
              <a:t>Value </a:t>
            </a:r>
            <a:r>
              <a:rPr lang="en-US" dirty="0">
                <a:cs typeface="Times New Roman" pitchFamily="18" charset="0"/>
              </a:rPr>
              <a:t>of  “suite bonus” is obtained by dividing the SUITE coefficient by the absolute value of the PRICE coefficient, i.e. approximately </a:t>
            </a:r>
            <a:r>
              <a:rPr lang="en-US" dirty="0" smtClean="0">
                <a:cs typeface="Times New Roman" pitchFamily="18" charset="0"/>
              </a:rPr>
              <a:t>$23.4</a:t>
            </a:r>
            <a:endParaRPr lang="en-US" dirty="0">
              <a:cs typeface="Times New Roman" pitchFamily="18" charset="0"/>
            </a:endParaRPr>
          </a:p>
        </p:txBody>
      </p:sp>
      <p:sp>
        <p:nvSpPr>
          <p:cNvPr id="3" name="Title 2"/>
          <p:cNvSpPr>
            <a:spLocks noGrp="1"/>
          </p:cNvSpPr>
          <p:nvPr>
            <p:ph type="title"/>
          </p:nvPr>
        </p:nvSpPr>
        <p:spPr/>
        <p:txBody>
          <a:bodyPr>
            <a:normAutofit/>
          </a:bodyPr>
          <a:lstStyle/>
          <a:p>
            <a:r>
              <a:rPr lang="en-US" dirty="0" smtClean="0"/>
              <a:t>Empirical Results</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Elasticities – Logit Model</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latin typeface="Arial"/>
              </a:rPr>
              <a:t>Own and cross elasticities from the logit model are:</a:t>
            </a:r>
          </a:p>
          <a:p>
            <a:endParaRPr lang="en-US" b="1" dirty="0" smtClean="0">
              <a:latin typeface="Arial"/>
            </a:endParaRPr>
          </a:p>
          <a:p>
            <a:endParaRPr lang="en-US" b="1" dirty="0" smtClean="0">
              <a:latin typeface="Arial"/>
            </a:endParaRPr>
          </a:p>
          <a:p>
            <a:endParaRPr lang="en-US" b="1" dirty="0" smtClean="0">
              <a:latin typeface="Arial"/>
            </a:endParaRPr>
          </a:p>
          <a:p>
            <a:endParaRPr lang="en-US" b="1" dirty="0" smtClean="0">
              <a:latin typeface="Arial"/>
            </a:endParaRPr>
          </a:p>
          <a:p>
            <a:endParaRPr lang="en-US" b="1" dirty="0" smtClean="0">
              <a:latin typeface="Arial"/>
            </a:endParaRPr>
          </a:p>
          <a:p>
            <a:endParaRPr lang="en-US" b="1" dirty="0" smtClean="0">
              <a:latin typeface="Arial"/>
            </a:endParaRPr>
          </a:p>
          <a:p>
            <a:endParaRPr lang="en-US" b="1" dirty="0" smtClean="0">
              <a:latin typeface="Arial"/>
            </a:endParaRPr>
          </a:p>
          <a:p>
            <a:endParaRPr lang="en-US" dirty="0" smtClean="0">
              <a:latin typeface="Arial"/>
            </a:endParaRPr>
          </a:p>
          <a:p>
            <a:endParaRPr lang="en-US" dirty="0" smtClean="0">
              <a:latin typeface="Arial"/>
            </a:endParaRPr>
          </a:p>
          <a:p>
            <a:r>
              <a:rPr lang="en-US" dirty="0" smtClean="0">
                <a:latin typeface="Arial"/>
              </a:rPr>
              <a:t>First column is the elasticity of the product (j) in each row with respect to changes in the price of MS Word.  Since this only depends on the price and market share of MS Word, the cross elasticities are the same for all products in the column.</a:t>
            </a:r>
          </a:p>
          <a:p>
            <a:endParaRPr lang="en-US" b="1" dirty="0" smtClean="0">
              <a:latin typeface="Arial"/>
            </a:endParaRPr>
          </a:p>
          <a:p>
            <a:endParaRPr lang="en-US" dirty="0"/>
          </a:p>
        </p:txBody>
      </p:sp>
      <p:sp>
        <p:nvSpPr>
          <p:cNvPr id="4" name="Rectangle 3"/>
          <p:cNvSpPr/>
          <p:nvPr/>
        </p:nvSpPr>
        <p:spPr>
          <a:xfrm>
            <a:off x="1295400" y="2438400"/>
            <a:ext cx="5715000" cy="1754326"/>
          </a:xfrm>
          <a:prstGeom prst="rect">
            <a:avLst/>
          </a:prstGeom>
        </p:spPr>
        <p:txBody>
          <a:bodyPr wrap="square">
            <a:spAutoFit/>
          </a:bodyPr>
          <a:lstStyle/>
          <a:p>
            <a:r>
              <a:rPr lang="en-US" dirty="0" smtClean="0">
                <a:solidFill>
                  <a:srgbClr val="000000"/>
                </a:solidFill>
                <a:latin typeface="Arial"/>
              </a:rPr>
              <a:t>	</a:t>
            </a:r>
            <a:r>
              <a:rPr lang="en-US" sz="1400" dirty="0" smtClean="0">
                <a:solidFill>
                  <a:srgbClr val="000000"/>
                </a:solidFill>
                <a:latin typeface="Arial"/>
              </a:rPr>
              <a:t>MS Word	MS Excel	WP Word	Lotus SS	MS Suite	</a:t>
            </a:r>
            <a:endParaRPr lang="en-US" dirty="0" smtClean="0">
              <a:solidFill>
                <a:srgbClr val="000000"/>
              </a:solidFill>
              <a:latin typeface="Arial"/>
            </a:endParaRPr>
          </a:p>
          <a:p>
            <a:r>
              <a:rPr lang="en-US" sz="1400" dirty="0" smtClean="0">
                <a:solidFill>
                  <a:srgbClr val="000000"/>
                </a:solidFill>
                <a:latin typeface="Arial"/>
              </a:rPr>
              <a:t>MS Word	</a:t>
            </a:r>
            <a:r>
              <a:rPr lang="en-US" dirty="0" smtClean="0">
                <a:solidFill>
                  <a:srgbClr val="000000"/>
                </a:solidFill>
                <a:latin typeface="Arial"/>
              </a:rPr>
              <a:t>-14.96	0.61	0.46	0.53	6.48	</a:t>
            </a:r>
          </a:p>
          <a:p>
            <a:r>
              <a:rPr lang="en-US" sz="1400" dirty="0" smtClean="0">
                <a:solidFill>
                  <a:srgbClr val="000000"/>
                </a:solidFill>
                <a:latin typeface="Arial"/>
              </a:rPr>
              <a:t>MS Excel	</a:t>
            </a:r>
            <a:r>
              <a:rPr lang="en-US" dirty="0" smtClean="0">
                <a:solidFill>
                  <a:srgbClr val="000000"/>
                </a:solidFill>
                <a:latin typeface="Arial"/>
              </a:rPr>
              <a:t>0.68	-16.96	0.46	0.53	6.48	</a:t>
            </a:r>
          </a:p>
          <a:p>
            <a:r>
              <a:rPr lang="en-US" sz="1400" dirty="0" smtClean="0">
                <a:solidFill>
                  <a:srgbClr val="000000"/>
                </a:solidFill>
                <a:latin typeface="Arial"/>
              </a:rPr>
              <a:t>WP Word	</a:t>
            </a:r>
            <a:r>
              <a:rPr lang="en-US" dirty="0" smtClean="0">
                <a:solidFill>
                  <a:srgbClr val="000000"/>
                </a:solidFill>
                <a:latin typeface="Arial"/>
              </a:rPr>
              <a:t>0.68	0.61	-12.18	0.53	6.48	</a:t>
            </a:r>
          </a:p>
          <a:p>
            <a:r>
              <a:rPr lang="fi-FI" sz="1400" dirty="0" smtClean="0">
                <a:solidFill>
                  <a:srgbClr val="000000"/>
                </a:solidFill>
                <a:latin typeface="Arial"/>
              </a:rPr>
              <a:t>Lotus SS	</a:t>
            </a:r>
            <a:r>
              <a:rPr lang="fi-FI" dirty="0" smtClean="0">
                <a:solidFill>
                  <a:srgbClr val="000000"/>
                </a:solidFill>
                <a:latin typeface="Arial"/>
              </a:rPr>
              <a:t>0.68	0.61	0.46	-16.68	6.48	</a:t>
            </a:r>
          </a:p>
          <a:p>
            <a:r>
              <a:rPr lang="fr-FR" sz="1400" dirty="0" smtClean="0">
                <a:solidFill>
                  <a:srgbClr val="000000"/>
                </a:solidFill>
                <a:latin typeface="Arial"/>
              </a:rPr>
              <a:t>MS Suite	</a:t>
            </a:r>
            <a:r>
              <a:rPr lang="fr-FR" dirty="0" smtClean="0">
                <a:solidFill>
                  <a:srgbClr val="000000"/>
                </a:solidFill>
                <a:latin typeface="Arial"/>
              </a:rPr>
              <a:t>0.68	0.61	0.46	0.53	-26.93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36280" cy="1051560"/>
          </a:xfrm>
        </p:spPr>
        <p:txBody>
          <a:bodyPr>
            <a:normAutofit/>
          </a:bodyPr>
          <a:lstStyle/>
          <a:p>
            <a:r>
              <a:rPr lang="en-US" sz="2800" dirty="0" smtClean="0"/>
              <a:t>Elasticities – Random coefficients Model</a:t>
            </a:r>
            <a:endParaRPr lang="en-US" sz="2800" dirty="0"/>
          </a:p>
        </p:txBody>
      </p:sp>
      <p:sp>
        <p:nvSpPr>
          <p:cNvPr id="3" name="Content Placeholder 2"/>
          <p:cNvSpPr>
            <a:spLocks noGrp="1"/>
          </p:cNvSpPr>
          <p:nvPr>
            <p:ph idx="1"/>
          </p:nvPr>
        </p:nvSpPr>
        <p:spPr/>
        <p:txBody>
          <a:bodyPr/>
          <a:lstStyle/>
          <a:p>
            <a:r>
              <a:rPr lang="en-US" b="1" dirty="0" smtClean="0">
                <a:latin typeface="Arial"/>
              </a:rPr>
              <a:t>Own and cross elasticities from the random coefficient model are:</a:t>
            </a:r>
          </a:p>
          <a:p>
            <a:endParaRPr lang="en-US" dirty="0"/>
          </a:p>
        </p:txBody>
      </p:sp>
      <p:sp>
        <p:nvSpPr>
          <p:cNvPr id="5" name="Rectangle 4"/>
          <p:cNvSpPr/>
          <p:nvPr/>
        </p:nvSpPr>
        <p:spPr>
          <a:xfrm>
            <a:off x="1828800" y="2601992"/>
            <a:ext cx="5867400" cy="1969770"/>
          </a:xfrm>
          <a:prstGeom prst="rect">
            <a:avLst/>
          </a:prstGeom>
        </p:spPr>
        <p:txBody>
          <a:bodyPr wrap="square">
            <a:spAutoFit/>
          </a:bodyPr>
          <a:lstStyle/>
          <a:p>
            <a:r>
              <a:rPr lang="en-US" sz="1400" dirty="0" smtClean="0">
                <a:solidFill>
                  <a:srgbClr val="000000"/>
                </a:solidFill>
                <a:latin typeface="Arial"/>
              </a:rPr>
              <a:t>	MS Word	MS Excel	WP Word	Lotus SS	MS Suite	</a:t>
            </a:r>
            <a:endParaRPr lang="en-US" dirty="0" smtClean="0">
              <a:solidFill>
                <a:srgbClr val="000000"/>
              </a:solidFill>
              <a:latin typeface="Arial"/>
            </a:endParaRPr>
          </a:p>
          <a:p>
            <a:r>
              <a:rPr lang="en-US" sz="1400" dirty="0" smtClean="0">
                <a:solidFill>
                  <a:srgbClr val="000000"/>
                </a:solidFill>
                <a:latin typeface="Arial"/>
              </a:rPr>
              <a:t>MS Word	</a:t>
            </a:r>
            <a:r>
              <a:rPr lang="en-US" dirty="0" smtClean="0">
                <a:solidFill>
                  <a:srgbClr val="000000"/>
                </a:solidFill>
                <a:latin typeface="Arial"/>
              </a:rPr>
              <a:t>-11.95	0.63	0.63	-0.60	0.63	</a:t>
            </a:r>
          </a:p>
          <a:p>
            <a:r>
              <a:rPr lang="en-US" sz="1400" dirty="0" smtClean="0">
                <a:solidFill>
                  <a:srgbClr val="000000"/>
                </a:solidFill>
                <a:latin typeface="Arial"/>
              </a:rPr>
              <a:t>MS Excel	</a:t>
            </a:r>
            <a:r>
              <a:rPr lang="en-US" dirty="0" smtClean="0">
                <a:solidFill>
                  <a:srgbClr val="000000"/>
                </a:solidFill>
                <a:latin typeface="Arial"/>
              </a:rPr>
              <a:t>0.58	-13.43	-0.42	0.58	0.58	</a:t>
            </a:r>
          </a:p>
          <a:p>
            <a:r>
              <a:rPr lang="en-US" sz="1400" dirty="0" smtClean="0">
                <a:solidFill>
                  <a:srgbClr val="000000"/>
                </a:solidFill>
                <a:latin typeface="Arial"/>
              </a:rPr>
              <a:t>WP Word	</a:t>
            </a:r>
            <a:r>
              <a:rPr lang="en-US" dirty="0" smtClean="0">
                <a:solidFill>
                  <a:srgbClr val="000000"/>
                </a:solidFill>
                <a:latin typeface="Arial"/>
              </a:rPr>
              <a:t>0.53	-0.70	-9.58	-0.39	0.53	</a:t>
            </a:r>
          </a:p>
          <a:p>
            <a:r>
              <a:rPr lang="fi-FI" sz="1400" dirty="0" smtClean="0">
                <a:solidFill>
                  <a:srgbClr val="000000"/>
                </a:solidFill>
                <a:latin typeface="Arial"/>
              </a:rPr>
              <a:t>Lotus SS	</a:t>
            </a:r>
            <a:r>
              <a:rPr lang="fi-FI" dirty="0" smtClean="0">
                <a:solidFill>
                  <a:srgbClr val="000000"/>
                </a:solidFill>
                <a:latin typeface="Arial"/>
              </a:rPr>
              <a:t>-0.31	0.43	-0.22	-10.18	0.43	</a:t>
            </a:r>
          </a:p>
          <a:p>
            <a:r>
              <a:rPr lang="fr-FR" sz="1400" dirty="0" smtClean="0">
                <a:solidFill>
                  <a:srgbClr val="000000"/>
                </a:solidFill>
                <a:latin typeface="Arial"/>
              </a:rPr>
              <a:t>MS Suite	</a:t>
            </a:r>
            <a:r>
              <a:rPr lang="fr-FR" dirty="0" smtClean="0">
                <a:solidFill>
                  <a:srgbClr val="000000"/>
                </a:solidFill>
                <a:latin typeface="Arial"/>
              </a:rPr>
              <a:t>5.10	5.10	5.10	5.10	-22.15	</a:t>
            </a:r>
          </a:p>
          <a:p>
            <a:endParaRPr lang="en-US" dirty="0" smtClean="0">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Simulations</a:t>
            </a:r>
            <a:endParaRPr lang="en-US" dirty="0"/>
          </a:p>
        </p:txBody>
      </p:sp>
      <p:sp>
        <p:nvSpPr>
          <p:cNvPr id="3" name="Content Placeholder 2"/>
          <p:cNvSpPr>
            <a:spLocks noGrp="1"/>
          </p:cNvSpPr>
          <p:nvPr>
            <p:ph idx="1"/>
          </p:nvPr>
        </p:nvSpPr>
        <p:spPr>
          <a:xfrm>
            <a:off x="381000" y="1676400"/>
            <a:ext cx="8382000" cy="4187952"/>
          </a:xfrm>
        </p:spPr>
        <p:txBody>
          <a:bodyPr>
            <a:normAutofit fontScale="85000" lnSpcReduction="10000"/>
          </a:bodyPr>
          <a:lstStyle/>
          <a:p>
            <a:r>
              <a:rPr lang="en-US" dirty="0" smtClean="0">
                <a:latin typeface="Arial"/>
              </a:rPr>
              <a:t>We wish to examine how correlation of preferences over word processors and spreadsheets affects profitability in oligopoly settings.  </a:t>
            </a:r>
          </a:p>
          <a:p>
            <a:r>
              <a:rPr lang="en-US" dirty="0" smtClean="0">
                <a:latin typeface="Arial"/>
              </a:rPr>
              <a:t>One convenient way of varying correlation is to take two draws rather than a single draw (for each consumer) from independent standard normal random variables (denoted Y</a:t>
            </a:r>
            <a:r>
              <a:rPr lang="en-US" baseline="-25000" dirty="0" smtClean="0">
                <a:latin typeface="Arial"/>
              </a:rPr>
              <a:t>1k</a:t>
            </a:r>
            <a:r>
              <a:rPr lang="en-US" dirty="0" smtClean="0">
                <a:latin typeface="Arial"/>
              </a:rPr>
              <a:t> and Y</a:t>
            </a:r>
            <a:r>
              <a:rPr lang="en-US" baseline="-25000" dirty="0" smtClean="0">
                <a:latin typeface="Arial"/>
              </a:rPr>
              <a:t>2k</a:t>
            </a:r>
            <a:r>
              <a:rPr lang="en-US" dirty="0" smtClean="0">
                <a:latin typeface="Arial"/>
              </a:rPr>
              <a:t>. )  </a:t>
            </a:r>
          </a:p>
          <a:p>
            <a:r>
              <a:rPr lang="en-US" dirty="0" smtClean="0">
                <a:latin typeface="Arial"/>
              </a:rPr>
              <a:t>With these two draws, define µ</a:t>
            </a:r>
            <a:r>
              <a:rPr lang="en-US" baseline="-25000" dirty="0" smtClean="0">
                <a:latin typeface="Arial"/>
              </a:rPr>
              <a:t>1</a:t>
            </a:r>
            <a:r>
              <a:rPr lang="en-US" dirty="0" smtClean="0">
                <a:latin typeface="Arial"/>
              </a:rPr>
              <a:t> and µ</a:t>
            </a:r>
            <a:r>
              <a:rPr lang="en-US" baseline="-25000" dirty="0" smtClean="0">
                <a:latin typeface="Arial"/>
              </a:rPr>
              <a:t>2</a:t>
            </a:r>
            <a:r>
              <a:rPr lang="en-US" dirty="0" smtClean="0">
                <a:latin typeface="Arial"/>
              </a:rPr>
              <a:t> as follows: µ</a:t>
            </a:r>
            <a:r>
              <a:rPr lang="en-US" baseline="-25000" dirty="0" smtClean="0">
                <a:latin typeface="Arial"/>
              </a:rPr>
              <a:t>1</a:t>
            </a:r>
            <a:r>
              <a:rPr lang="en-US" dirty="0" smtClean="0">
                <a:latin typeface="Arial"/>
              </a:rPr>
              <a:t> = </a:t>
            </a:r>
            <a:r>
              <a:rPr lang="en-US" i="1" dirty="0" smtClean="0">
                <a:latin typeface="Calibri"/>
              </a:rPr>
              <a:t>σ</a:t>
            </a:r>
            <a:r>
              <a:rPr lang="en-US" i="1" baseline="-25000" dirty="0" smtClean="0">
                <a:latin typeface="Arial"/>
              </a:rPr>
              <a:t>1</a:t>
            </a:r>
            <a:r>
              <a:rPr lang="en-US" i="1" dirty="0" smtClean="0">
                <a:latin typeface="Arial"/>
              </a:rPr>
              <a:t>Y</a:t>
            </a:r>
            <a:r>
              <a:rPr lang="en-US" i="1" baseline="-25000" dirty="0" smtClean="0">
                <a:latin typeface="Arial"/>
              </a:rPr>
              <a:t>1</a:t>
            </a:r>
            <a:r>
              <a:rPr lang="en-US" i="1" dirty="0" smtClean="0">
                <a:latin typeface="Arial"/>
              </a:rPr>
              <a:t> and    µ</a:t>
            </a:r>
            <a:r>
              <a:rPr lang="en-US" i="1" baseline="-25000" dirty="0" smtClean="0">
                <a:latin typeface="Arial"/>
              </a:rPr>
              <a:t>2</a:t>
            </a:r>
            <a:r>
              <a:rPr lang="en-US" i="1" dirty="0" smtClean="0">
                <a:latin typeface="Arial"/>
              </a:rPr>
              <a:t>= </a:t>
            </a:r>
            <a:r>
              <a:rPr lang="en-US" i="1" dirty="0" smtClean="0">
                <a:latin typeface="Calibri"/>
              </a:rPr>
              <a:t>σ</a:t>
            </a:r>
            <a:r>
              <a:rPr lang="en-US" i="1" baseline="-25000" dirty="0" smtClean="0">
                <a:latin typeface="Arial"/>
              </a:rPr>
              <a:t>2</a:t>
            </a:r>
            <a:r>
              <a:rPr lang="en-US" i="1" dirty="0" smtClean="0">
                <a:latin typeface="Arial"/>
                <a:sym typeface="Symbol"/>
              </a:rPr>
              <a:t>Y</a:t>
            </a:r>
            <a:r>
              <a:rPr lang="en-US" i="1" baseline="-25000" dirty="0" smtClean="0">
                <a:latin typeface="Arial"/>
                <a:sym typeface="Symbol"/>
              </a:rPr>
              <a:t>1</a:t>
            </a:r>
            <a:r>
              <a:rPr lang="en-US" i="1" dirty="0" smtClean="0">
                <a:latin typeface="Arial"/>
                <a:sym typeface="Symbol"/>
              </a:rPr>
              <a:t> + </a:t>
            </a:r>
            <a:r>
              <a:rPr lang="en-US" i="1" dirty="0" smtClean="0">
                <a:latin typeface="Calibri"/>
                <a:sym typeface="Symbol"/>
              </a:rPr>
              <a:t>σ</a:t>
            </a:r>
            <a:r>
              <a:rPr lang="en-US" i="1" baseline="-25000" dirty="0" smtClean="0">
                <a:latin typeface="Arial"/>
                <a:sym typeface="Symbol"/>
              </a:rPr>
              <a:t>2</a:t>
            </a:r>
            <a:r>
              <a:rPr lang="en-US" i="1" dirty="0" smtClean="0">
                <a:latin typeface="Arial"/>
                <a:sym typeface="Symbol"/>
              </a:rPr>
              <a:t>(1 - </a:t>
            </a:r>
            <a:r>
              <a:rPr lang="en-US" i="1" baseline="30000" dirty="0" smtClean="0">
                <a:latin typeface="Arial"/>
                <a:sym typeface="Symbol"/>
              </a:rPr>
              <a:t>2</a:t>
            </a:r>
            <a:r>
              <a:rPr lang="en-US" i="1" dirty="0" smtClean="0">
                <a:latin typeface="Arial"/>
                <a:sym typeface="Symbol"/>
              </a:rPr>
              <a:t>)</a:t>
            </a:r>
            <a:r>
              <a:rPr lang="en-US" i="1" baseline="30000" dirty="0" smtClean="0">
                <a:latin typeface="Arial"/>
                <a:sym typeface="Symbol"/>
              </a:rPr>
              <a:t>1/2</a:t>
            </a:r>
            <a:r>
              <a:rPr lang="en-US" i="1" dirty="0" smtClean="0">
                <a:latin typeface="Arial"/>
                <a:sym typeface="Symbol"/>
              </a:rPr>
              <a:t> Y</a:t>
            </a:r>
            <a:r>
              <a:rPr lang="en-US" i="1" baseline="-25000" dirty="0" smtClean="0">
                <a:latin typeface="Arial"/>
                <a:sym typeface="Symbol"/>
              </a:rPr>
              <a:t>2</a:t>
            </a:r>
            <a:r>
              <a:rPr lang="en-US" i="1" dirty="0" smtClean="0">
                <a:latin typeface="Arial"/>
                <a:sym typeface="Symbol"/>
              </a:rPr>
              <a:t>. </a:t>
            </a:r>
          </a:p>
          <a:p>
            <a:r>
              <a:rPr lang="en-US" i="1" dirty="0" smtClean="0">
                <a:latin typeface="Arial"/>
                <a:sym typeface="Symbol"/>
              </a:rPr>
              <a:t>Then (</a:t>
            </a:r>
            <a:r>
              <a:rPr lang="en-US" i="1" baseline="-25000" dirty="0" smtClean="0">
                <a:latin typeface="Arial"/>
                <a:sym typeface="Symbol"/>
              </a:rPr>
              <a:t>1k</a:t>
            </a:r>
            <a:r>
              <a:rPr lang="en-US" i="1" dirty="0" smtClean="0">
                <a:latin typeface="Arial"/>
                <a:sym typeface="Symbol"/>
              </a:rPr>
              <a:t>,</a:t>
            </a:r>
            <a:r>
              <a:rPr lang="en-US" i="1" baseline="-25000" dirty="0" smtClean="0">
                <a:latin typeface="Arial"/>
                <a:sym typeface="Symbol"/>
              </a:rPr>
              <a:t>2k</a:t>
            </a:r>
            <a:r>
              <a:rPr lang="en-US" i="1" dirty="0" smtClean="0">
                <a:latin typeface="Arial"/>
                <a:sym typeface="Symbol"/>
              </a:rPr>
              <a:t>)N(0,0, </a:t>
            </a:r>
            <a:r>
              <a:rPr lang="en-US" i="1" dirty="0" smtClean="0">
                <a:latin typeface="Calibri"/>
                <a:sym typeface="Symbol"/>
              </a:rPr>
              <a:t>σ</a:t>
            </a:r>
            <a:r>
              <a:rPr lang="en-US" i="1" baseline="-25000" dirty="0" smtClean="0">
                <a:latin typeface="Arial"/>
                <a:sym typeface="Symbol"/>
              </a:rPr>
              <a:t>1</a:t>
            </a:r>
            <a:r>
              <a:rPr lang="en-US" i="1" dirty="0" smtClean="0">
                <a:latin typeface="Arial"/>
                <a:sym typeface="Symbol"/>
              </a:rPr>
              <a:t>, </a:t>
            </a:r>
            <a:r>
              <a:rPr lang="en-US" i="1" dirty="0" smtClean="0">
                <a:latin typeface="Calibri"/>
                <a:sym typeface="Symbol"/>
              </a:rPr>
              <a:t>σ</a:t>
            </a:r>
            <a:r>
              <a:rPr lang="en-US" i="1" baseline="-25000" dirty="0" smtClean="0">
                <a:latin typeface="Arial"/>
                <a:sym typeface="Symbol"/>
              </a:rPr>
              <a:t>2</a:t>
            </a:r>
            <a:r>
              <a:rPr lang="en-US" i="1" dirty="0" smtClean="0">
                <a:latin typeface="Arial"/>
                <a:sym typeface="Symbol"/>
              </a:rPr>
              <a:t>,) is a bivariate normal distribution, where </a:t>
            </a:r>
            <a:r>
              <a:rPr lang="en-US" i="1" dirty="0" smtClean="0">
                <a:latin typeface="Calibri"/>
                <a:sym typeface="Symbol"/>
              </a:rPr>
              <a:t>σ</a:t>
            </a:r>
            <a:r>
              <a:rPr lang="en-US" i="1" baseline="-25000" dirty="0" smtClean="0">
                <a:latin typeface="Arial"/>
                <a:sym typeface="Symbol"/>
              </a:rPr>
              <a:t>1</a:t>
            </a:r>
            <a:r>
              <a:rPr lang="en-US" i="1" dirty="0" smtClean="0">
                <a:latin typeface="Arial"/>
                <a:sym typeface="Symbol"/>
              </a:rPr>
              <a:t> and </a:t>
            </a:r>
            <a:r>
              <a:rPr lang="en-US" i="1" dirty="0" smtClean="0">
                <a:latin typeface="Calibri"/>
                <a:sym typeface="Symbol"/>
              </a:rPr>
              <a:t>σ</a:t>
            </a:r>
            <a:r>
              <a:rPr lang="en-US" i="1" baseline="-25000" dirty="0" smtClean="0">
                <a:latin typeface="Arial"/>
                <a:sym typeface="Symbol"/>
              </a:rPr>
              <a:t>2</a:t>
            </a:r>
            <a:r>
              <a:rPr lang="en-US" i="1" dirty="0" smtClean="0">
                <a:latin typeface="Arial"/>
                <a:sym typeface="Symbol"/>
              </a:rPr>
              <a:t> are the standard deviations of </a:t>
            </a:r>
            <a:r>
              <a:rPr lang="en-US" i="1" baseline="-25000" dirty="0" smtClean="0">
                <a:latin typeface="Arial"/>
                <a:sym typeface="Symbol"/>
              </a:rPr>
              <a:t>1k</a:t>
            </a:r>
            <a:r>
              <a:rPr lang="en-US" i="1" dirty="0" smtClean="0">
                <a:latin typeface="Arial"/>
                <a:sym typeface="Symbol"/>
              </a:rPr>
              <a:t> and </a:t>
            </a:r>
            <a:r>
              <a:rPr lang="en-US" i="1" baseline="-25000" dirty="0" smtClean="0">
                <a:latin typeface="Arial"/>
                <a:sym typeface="Symbol"/>
              </a:rPr>
              <a:t>2k</a:t>
            </a:r>
            <a:r>
              <a:rPr lang="en-US" i="1" dirty="0" smtClean="0">
                <a:latin typeface="Arial"/>
                <a:sym typeface="Symbol"/>
              </a:rPr>
              <a:t> respectively and  is the correlation coefficient of the bivariate normal distribution.  </a:t>
            </a:r>
            <a:endParaRPr lang="he-IL" i="1" dirty="0" smtClean="0">
              <a:latin typeface="Arial"/>
              <a:sym typeface="Symbol"/>
            </a:endParaRPr>
          </a:p>
          <a:p>
            <a:r>
              <a:rPr lang="en-US" dirty="0" smtClean="0"/>
              <a:t> </a:t>
            </a:r>
            <a:r>
              <a:rPr lang="en-US" dirty="0" smtClean="0">
                <a:latin typeface="Arial"/>
              </a:rPr>
              <a:t>In such a case, the random utility of the model is </a:t>
            </a:r>
          </a:p>
          <a:p>
            <a:r>
              <a:rPr lang="en-US" dirty="0" smtClean="0">
                <a:latin typeface="Arial"/>
              </a:rPr>
              <a:t>Note that when </a:t>
            </a:r>
            <a:r>
              <a:rPr lang="en-US" i="1" dirty="0" smtClean="0">
                <a:latin typeface="Arial"/>
                <a:sym typeface="Symbol"/>
              </a:rPr>
              <a:t>=1, this random utility reduces to equation (2).</a:t>
            </a:r>
          </a:p>
          <a:p>
            <a:r>
              <a:rPr lang="en-US" i="1" dirty="0" smtClean="0">
                <a:latin typeface="Arial"/>
                <a:sym typeface="Symbol"/>
              </a:rPr>
              <a:t>Correlation in preferences = * </a:t>
            </a:r>
            <a:r>
              <a:rPr lang="en-US" dirty="0" smtClean="0">
                <a:latin typeface="Arial"/>
              </a:rPr>
              <a:t>(CWPSS) </a:t>
            </a:r>
            <a:endParaRPr lang="en-US" dirty="0"/>
          </a:p>
        </p:txBody>
      </p:sp>
      <p:pic>
        <p:nvPicPr>
          <p:cNvPr id="76803" name="Picture 3"/>
          <p:cNvPicPr>
            <a:picLocks noChangeAspect="1" noChangeArrowheads="1"/>
          </p:cNvPicPr>
          <p:nvPr/>
        </p:nvPicPr>
        <p:blipFill>
          <a:blip r:embed="rId2" cstate="print"/>
          <a:srcRect/>
          <a:stretch>
            <a:fillRect/>
          </a:stretch>
        </p:blipFill>
        <p:spPr bwMode="auto">
          <a:xfrm>
            <a:off x="6600825" y="4686300"/>
            <a:ext cx="1933575" cy="266700"/>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183880" cy="914400"/>
          </a:xfrm>
        </p:spPr>
        <p:txBody>
          <a:bodyPr>
            <a:normAutofit fontScale="90000"/>
          </a:bodyPr>
          <a:lstStyle/>
          <a:p>
            <a:r>
              <a:rPr lang="en-US" sz="2800" dirty="0"/>
              <a:t>CPS Supplement on Computer and Internet</a:t>
            </a:r>
          </a:p>
        </p:txBody>
      </p:sp>
      <p:sp>
        <p:nvSpPr>
          <p:cNvPr id="3" name="Content Placeholder 2"/>
          <p:cNvSpPr>
            <a:spLocks noGrp="1"/>
          </p:cNvSpPr>
          <p:nvPr>
            <p:ph idx="1"/>
          </p:nvPr>
        </p:nvSpPr>
        <p:spPr>
          <a:xfrm>
            <a:off x="457200" y="3276600"/>
            <a:ext cx="8183880" cy="2587752"/>
          </a:xfrm>
        </p:spPr>
        <p:txBody>
          <a:bodyPr>
            <a:normAutofit fontScale="85000" lnSpcReduction="20000"/>
          </a:bodyPr>
          <a:lstStyle/>
          <a:p>
            <a:pPr>
              <a:spcBef>
                <a:spcPct val="50000"/>
              </a:spcBef>
              <a:buFont typeface="Arial" pitchFamily="34" charset="0"/>
              <a:buChar char="•"/>
            </a:pPr>
            <a:r>
              <a:rPr lang="en-US" dirty="0" smtClean="0">
                <a:cs typeface="Times New Roman" pitchFamily="18" charset="0"/>
              </a:rPr>
              <a:t>158,865 </a:t>
            </a:r>
            <a:r>
              <a:rPr lang="en-US" dirty="0">
                <a:cs typeface="Times New Roman" pitchFamily="18" charset="0"/>
              </a:rPr>
              <a:t>individuals </a:t>
            </a:r>
            <a:r>
              <a:rPr lang="en-US" dirty="0" smtClean="0">
                <a:cs typeface="Times New Roman" pitchFamily="18" charset="0"/>
              </a:rPr>
              <a:t>from </a:t>
            </a:r>
            <a:r>
              <a:rPr lang="en-US" dirty="0">
                <a:cs typeface="Times New Roman" pitchFamily="18" charset="0"/>
              </a:rPr>
              <a:t>the 2001 CPS Supplement. The CPS uses weights to produce basic demographic and labor force estimates. </a:t>
            </a:r>
          </a:p>
          <a:p>
            <a:r>
              <a:rPr lang="en-US" dirty="0" smtClean="0"/>
              <a:t>Define dummy variable that take on the value one (zero) if the answer to a question is (yes) no.  </a:t>
            </a:r>
          </a:p>
          <a:p>
            <a:r>
              <a:rPr lang="en-US" dirty="0" smtClean="0"/>
              <a:t>The estimate of the correlation between these variables (which is an imperfect proxy for the correlation in consumer preferences over word processors and spreadsheets) is 0.37 for home use and 0.36 for office use.</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076414088"/>
              </p:ext>
            </p:extLst>
          </p:nvPr>
        </p:nvGraphicFramePr>
        <p:xfrm>
          <a:off x="4572000" y="1828800"/>
          <a:ext cx="3211671" cy="774384"/>
        </p:xfrm>
        <a:graphic>
          <a:graphicData uri="http://schemas.openxmlformats.org/drawingml/2006/table">
            <a:tbl>
              <a:tblPr firstRow="1" firstCol="1" lastRow="1" lastCol="1" bandRow="1" bandCol="1">
                <a:tableStyleId>{3B4B98B0-60AC-42C2-AFA5-B58CD77FA1E5}</a:tableStyleId>
              </a:tblPr>
              <a:tblGrid>
                <a:gridCol w="1122779"/>
                <a:gridCol w="1044446"/>
                <a:gridCol w="1044446"/>
              </a:tblGrid>
              <a:tr h="193596">
                <a:tc>
                  <a:txBody>
                    <a:bodyPr/>
                    <a:lstStyle/>
                    <a:p>
                      <a:pPr marL="0" marR="0" algn="ctr">
                        <a:spcBef>
                          <a:spcPts val="0"/>
                        </a:spcBef>
                        <a:spcAft>
                          <a:spcPts val="0"/>
                        </a:spcAft>
                      </a:pPr>
                      <a:r>
                        <a:rPr lang="en-US" sz="900" dirty="0">
                          <a:effectLst/>
                        </a:rPr>
                        <a:t>Office Use</a:t>
                      </a:r>
                      <a:endParaRPr lang="en-US" sz="1200" dirty="0">
                        <a:effectLst/>
                        <a:latin typeface="Times New Roman"/>
                        <a:ea typeface="Times New Roman"/>
                      </a:endParaRPr>
                    </a:p>
                  </a:txBody>
                  <a:tcPr marL="68580" marR="68580" marT="0" marB="0" anchor="b"/>
                </a:tc>
                <a:tc gridSpan="2">
                  <a:txBody>
                    <a:bodyPr/>
                    <a:lstStyle/>
                    <a:p>
                      <a:pPr marL="0" marR="0" algn="ctr">
                        <a:spcBef>
                          <a:spcPts val="0"/>
                        </a:spcBef>
                        <a:spcAft>
                          <a:spcPts val="0"/>
                        </a:spcAft>
                      </a:pPr>
                      <a:r>
                        <a:rPr lang="en-US" sz="900">
                          <a:effectLst/>
                        </a:rPr>
                        <a:t>Use Spreadsheets?</a:t>
                      </a:r>
                      <a:endParaRPr lang="en-US" sz="1200">
                        <a:effectLst/>
                        <a:latin typeface="Times New Roman"/>
                        <a:ea typeface="Times New Roman"/>
                      </a:endParaRPr>
                    </a:p>
                  </a:txBody>
                  <a:tcPr marL="68580" marR="68580" marT="0" marB="0" anchor="b"/>
                </a:tc>
                <a:tc hMerge="1">
                  <a:txBody>
                    <a:bodyPr/>
                    <a:lstStyle/>
                    <a:p>
                      <a:endParaRPr lang="en-US"/>
                    </a:p>
                  </a:txBody>
                  <a:tcPr/>
                </a:tc>
              </a:tr>
              <a:tr h="193596">
                <a:tc>
                  <a:txBody>
                    <a:bodyPr/>
                    <a:lstStyle/>
                    <a:p>
                      <a:pPr marL="0" marR="0" algn="ctr">
                        <a:spcBef>
                          <a:spcPts val="0"/>
                        </a:spcBef>
                        <a:spcAft>
                          <a:spcPts val="0"/>
                        </a:spcAft>
                      </a:pPr>
                      <a:r>
                        <a:rPr lang="en-US" sz="900" dirty="0">
                          <a:effectLst/>
                        </a:rPr>
                        <a:t>Use WPs?</a:t>
                      </a:r>
                      <a:endParaRPr lang="en-US" sz="1200" dirty="0">
                        <a:effectLst/>
                        <a:latin typeface="Times New Roman"/>
                        <a:ea typeface="Times New Roman"/>
                      </a:endParaRPr>
                    </a:p>
                  </a:txBody>
                  <a:tcPr marL="68580" marR="68580" marT="0" marB="0" anchor="b">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900" b="1" dirty="0">
                          <a:effectLst/>
                        </a:rPr>
                        <a:t>Yes</a:t>
                      </a:r>
                      <a:endParaRPr lang="en-US" sz="1200" b="1" dirty="0">
                        <a:effectLst/>
                        <a:latin typeface="Times New Roman"/>
                        <a:ea typeface="Times New Roman"/>
                      </a:endParaRPr>
                    </a:p>
                  </a:txBody>
                  <a:tcPr marL="68580" marR="68580" marT="0" marB="0" anchor="b">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900" dirty="0">
                          <a:effectLst/>
                        </a:rPr>
                        <a:t>No</a:t>
                      </a:r>
                      <a:endParaRPr lang="en-US" sz="1200" dirty="0">
                        <a:effectLst/>
                        <a:latin typeface="Times New Roman"/>
                        <a:ea typeface="Times New Roman"/>
                      </a:endParaRPr>
                    </a:p>
                  </a:txBody>
                  <a:tcPr marL="68580" marR="68580" marT="0" marB="0" anchor="b">
                    <a:lnB w="12700" cap="flat" cmpd="sng" algn="ctr">
                      <a:solidFill>
                        <a:schemeClr val="tx1"/>
                      </a:solidFill>
                      <a:prstDash val="solid"/>
                      <a:round/>
                      <a:headEnd type="none" w="med" len="med"/>
                      <a:tailEnd type="none" w="med" len="med"/>
                    </a:lnB>
                    <a:noFill/>
                  </a:tcPr>
                </a:tc>
              </a:tr>
              <a:tr h="193596">
                <a:tc>
                  <a:txBody>
                    <a:bodyPr/>
                    <a:lstStyle/>
                    <a:p>
                      <a:pPr marL="0" marR="0" algn="ctr">
                        <a:spcBef>
                          <a:spcPts val="0"/>
                        </a:spcBef>
                        <a:spcAft>
                          <a:spcPts val="0"/>
                        </a:spcAft>
                      </a:pPr>
                      <a:r>
                        <a:rPr lang="en-US" sz="900" dirty="0">
                          <a:effectLst/>
                        </a:rPr>
                        <a:t>Yes</a:t>
                      </a:r>
                      <a:endParaRPr lang="en-US" sz="1200" dirty="0">
                        <a:effectLst/>
                        <a:latin typeface="Times New Roman"/>
                        <a:ea typeface="Times New Roman"/>
                      </a:endParaRPr>
                    </a:p>
                  </a:txBody>
                  <a:tcPr marL="68580" marR="68580" marT="0" marB="0" anchor="b">
                    <a:lnT w="12700" cap="flat" cmpd="sng" algn="ctr">
                      <a:solidFill>
                        <a:schemeClr val="tx1"/>
                      </a:solidFill>
                      <a:prstDash val="solid"/>
                      <a:round/>
                      <a:headEnd type="none" w="med" len="med"/>
                      <a:tailEnd type="none" w="med" len="med"/>
                    </a:lnT>
                  </a:tcPr>
                </a:tc>
                <a:tc>
                  <a:txBody>
                    <a:bodyPr/>
                    <a:lstStyle/>
                    <a:p>
                      <a:pPr marL="0" marR="0" algn="ctr">
                        <a:spcBef>
                          <a:spcPts val="0"/>
                        </a:spcBef>
                        <a:spcAft>
                          <a:spcPts val="0"/>
                        </a:spcAft>
                      </a:pPr>
                      <a:r>
                        <a:rPr lang="en-US" sz="900" b="0" dirty="0">
                          <a:effectLst/>
                        </a:rPr>
                        <a:t>0.50</a:t>
                      </a:r>
                      <a:endParaRPr lang="en-US" sz="1200" b="0" dirty="0">
                        <a:effectLst/>
                        <a:latin typeface="Times New Roman"/>
                        <a:ea typeface="Times New Roman"/>
                      </a:endParaRPr>
                    </a:p>
                  </a:txBody>
                  <a:tcPr marL="68580" marR="68580" marT="0" marB="0" anchor="b">
                    <a:lnT w="12700" cap="flat" cmpd="sng" algn="ctr">
                      <a:solidFill>
                        <a:schemeClr val="tx1"/>
                      </a:solidFill>
                      <a:prstDash val="solid"/>
                      <a:round/>
                      <a:headEnd type="none" w="med" len="med"/>
                      <a:tailEnd type="none" w="med" len="med"/>
                    </a:lnT>
                    <a:solidFill>
                      <a:schemeClr val="accent1">
                        <a:lumMod val="20000"/>
                        <a:lumOff val="80000"/>
                      </a:schemeClr>
                    </a:solidFill>
                  </a:tcPr>
                </a:tc>
                <a:tc>
                  <a:txBody>
                    <a:bodyPr/>
                    <a:lstStyle/>
                    <a:p>
                      <a:pPr marL="0" marR="0" algn="ctr">
                        <a:spcBef>
                          <a:spcPts val="0"/>
                        </a:spcBef>
                        <a:spcAft>
                          <a:spcPts val="0"/>
                        </a:spcAft>
                      </a:pPr>
                      <a:r>
                        <a:rPr lang="en-US" sz="900" b="0" dirty="0">
                          <a:effectLst/>
                        </a:rPr>
                        <a:t>0.17</a:t>
                      </a:r>
                      <a:endParaRPr lang="en-US" sz="1200" b="0" dirty="0">
                        <a:effectLst/>
                        <a:latin typeface="Times New Roman"/>
                        <a:ea typeface="Times New Roman"/>
                      </a:endParaRPr>
                    </a:p>
                  </a:txBody>
                  <a:tcPr marL="68580" marR="68580" marT="0" marB="0" anchor="b">
                    <a:lnT w="12700" cap="flat" cmpd="sng" algn="ctr">
                      <a:solidFill>
                        <a:schemeClr val="tx1"/>
                      </a:solidFill>
                      <a:prstDash val="solid"/>
                      <a:round/>
                      <a:headEnd type="none" w="med" len="med"/>
                      <a:tailEnd type="none" w="med" len="med"/>
                    </a:lnT>
                    <a:solidFill>
                      <a:schemeClr val="accent1">
                        <a:lumMod val="20000"/>
                        <a:lumOff val="80000"/>
                      </a:schemeClr>
                    </a:solidFill>
                  </a:tcPr>
                </a:tc>
              </a:tr>
              <a:tr h="193596">
                <a:tc>
                  <a:txBody>
                    <a:bodyPr/>
                    <a:lstStyle/>
                    <a:p>
                      <a:pPr marL="0" marR="0" algn="ctr">
                        <a:spcBef>
                          <a:spcPts val="0"/>
                        </a:spcBef>
                        <a:spcAft>
                          <a:spcPts val="0"/>
                        </a:spcAft>
                      </a:pPr>
                      <a:r>
                        <a:rPr lang="en-US" sz="900">
                          <a:effectLst/>
                        </a:rPr>
                        <a:t>No</a:t>
                      </a:r>
                      <a:endParaRPr lang="en-US" sz="1200">
                        <a:effectLst/>
                        <a:latin typeface="Times New Roman"/>
                        <a:ea typeface="Times New Roman"/>
                      </a:endParaRPr>
                    </a:p>
                  </a:txBody>
                  <a:tcPr marL="68580" marR="68580" marT="0" marB="0" anchor="b"/>
                </a:tc>
                <a:tc>
                  <a:txBody>
                    <a:bodyPr/>
                    <a:lstStyle/>
                    <a:p>
                      <a:pPr marL="0" marR="0" algn="ctr">
                        <a:spcBef>
                          <a:spcPts val="0"/>
                        </a:spcBef>
                        <a:spcAft>
                          <a:spcPts val="0"/>
                        </a:spcAft>
                      </a:pPr>
                      <a:r>
                        <a:rPr lang="en-US" sz="900" b="0" dirty="0">
                          <a:effectLst/>
                        </a:rPr>
                        <a:t>0.12</a:t>
                      </a:r>
                      <a:endParaRPr lang="en-US" sz="1200" b="0" dirty="0">
                        <a:effectLst/>
                        <a:latin typeface="Times New Roman"/>
                        <a:ea typeface="Times New Roman"/>
                      </a:endParaRPr>
                    </a:p>
                  </a:txBody>
                  <a:tcPr marL="68580" marR="68580" marT="0" marB="0" anchor="b">
                    <a:solidFill>
                      <a:schemeClr val="accent1">
                        <a:lumMod val="20000"/>
                        <a:lumOff val="80000"/>
                      </a:schemeClr>
                    </a:solidFill>
                  </a:tcPr>
                </a:tc>
                <a:tc>
                  <a:txBody>
                    <a:bodyPr/>
                    <a:lstStyle/>
                    <a:p>
                      <a:pPr marL="0" marR="0" algn="ctr">
                        <a:spcBef>
                          <a:spcPts val="0"/>
                        </a:spcBef>
                        <a:spcAft>
                          <a:spcPts val="0"/>
                        </a:spcAft>
                      </a:pPr>
                      <a:r>
                        <a:rPr lang="en-US" sz="900" b="0" dirty="0">
                          <a:effectLst/>
                        </a:rPr>
                        <a:t>0.21</a:t>
                      </a:r>
                      <a:endParaRPr lang="en-US" sz="1200" b="0" dirty="0">
                        <a:effectLst/>
                        <a:latin typeface="Times New Roman"/>
                        <a:ea typeface="Times New Roman"/>
                      </a:endParaRPr>
                    </a:p>
                  </a:txBody>
                  <a:tcPr marL="68580" marR="68580" marT="0" marB="0" anchor="b">
                    <a:solidFill>
                      <a:schemeClr val="accent1">
                        <a:lumMod val="20000"/>
                        <a:lumOff val="80000"/>
                      </a:schemeClr>
                    </a:solidFill>
                  </a:tcP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571981697"/>
              </p:ext>
            </p:extLst>
          </p:nvPr>
        </p:nvGraphicFramePr>
        <p:xfrm>
          <a:off x="990600" y="1828800"/>
          <a:ext cx="3048001" cy="838200"/>
        </p:xfrm>
        <a:graphic>
          <a:graphicData uri="http://schemas.openxmlformats.org/drawingml/2006/table">
            <a:tbl>
              <a:tblPr firstRow="1" firstCol="1" lastRow="1" lastCol="1" bandRow="1" bandCol="1">
                <a:tableStyleId>{3B4B98B0-60AC-42C2-AFA5-B58CD77FA1E5}</a:tableStyleId>
              </a:tblPr>
              <a:tblGrid>
                <a:gridCol w="1065561"/>
                <a:gridCol w="991220"/>
                <a:gridCol w="991220"/>
              </a:tblGrid>
              <a:tr h="209550">
                <a:tc>
                  <a:txBody>
                    <a:bodyPr/>
                    <a:lstStyle/>
                    <a:p>
                      <a:pPr marL="0" marR="0" algn="ctr">
                        <a:spcBef>
                          <a:spcPts val="0"/>
                        </a:spcBef>
                        <a:spcAft>
                          <a:spcPts val="0"/>
                        </a:spcAft>
                      </a:pPr>
                      <a:r>
                        <a:rPr lang="en-US" sz="900">
                          <a:effectLst/>
                        </a:rPr>
                        <a:t>Home Use</a:t>
                      </a:r>
                      <a:endParaRPr lang="en-US" sz="1200">
                        <a:effectLst/>
                        <a:latin typeface="Times New Roman"/>
                        <a:ea typeface="Times New Roman"/>
                      </a:endParaRPr>
                    </a:p>
                  </a:txBody>
                  <a:tcPr marL="68580" marR="68580" marT="0" marB="0" anchor="b"/>
                </a:tc>
                <a:tc gridSpan="2">
                  <a:txBody>
                    <a:bodyPr/>
                    <a:lstStyle/>
                    <a:p>
                      <a:pPr marL="0" marR="0" algn="ctr">
                        <a:spcBef>
                          <a:spcPts val="0"/>
                        </a:spcBef>
                        <a:spcAft>
                          <a:spcPts val="0"/>
                        </a:spcAft>
                      </a:pPr>
                      <a:r>
                        <a:rPr lang="en-US" sz="900">
                          <a:effectLst/>
                        </a:rPr>
                        <a:t>Use Spreadsheets?</a:t>
                      </a:r>
                      <a:endParaRPr lang="en-US" sz="1200">
                        <a:effectLst/>
                        <a:latin typeface="Times New Roman"/>
                        <a:ea typeface="Times New Roman"/>
                      </a:endParaRPr>
                    </a:p>
                  </a:txBody>
                  <a:tcPr marL="68580" marR="68580" marT="0" marB="0" anchor="b"/>
                </a:tc>
                <a:tc hMerge="1">
                  <a:txBody>
                    <a:bodyPr/>
                    <a:lstStyle/>
                    <a:p>
                      <a:endParaRPr lang="en-US"/>
                    </a:p>
                  </a:txBody>
                  <a:tcPr/>
                </a:tc>
              </a:tr>
              <a:tr h="209550">
                <a:tc>
                  <a:txBody>
                    <a:bodyPr/>
                    <a:lstStyle/>
                    <a:p>
                      <a:pPr marL="0" marR="0" algn="ctr">
                        <a:spcBef>
                          <a:spcPts val="0"/>
                        </a:spcBef>
                        <a:spcAft>
                          <a:spcPts val="0"/>
                        </a:spcAft>
                      </a:pPr>
                      <a:r>
                        <a:rPr lang="en-US" sz="900" dirty="0">
                          <a:effectLst/>
                        </a:rPr>
                        <a:t>Use WPs?</a:t>
                      </a:r>
                      <a:endParaRPr lang="en-US" sz="1200" dirty="0">
                        <a:effectLst/>
                        <a:latin typeface="Times New Roman"/>
                        <a:ea typeface="Times New Roman"/>
                      </a:endParaRPr>
                    </a:p>
                  </a:txBody>
                  <a:tcPr marL="68580" marR="68580" marT="0" marB="0" anchor="b">
                    <a:noFill/>
                  </a:tcPr>
                </a:tc>
                <a:tc>
                  <a:txBody>
                    <a:bodyPr/>
                    <a:lstStyle/>
                    <a:p>
                      <a:pPr marL="0" marR="0" algn="ctr">
                        <a:spcBef>
                          <a:spcPts val="0"/>
                        </a:spcBef>
                        <a:spcAft>
                          <a:spcPts val="0"/>
                        </a:spcAft>
                      </a:pPr>
                      <a:r>
                        <a:rPr lang="en-US" sz="900" b="1" dirty="0">
                          <a:effectLst/>
                        </a:rPr>
                        <a:t>Yes</a:t>
                      </a:r>
                      <a:endParaRPr lang="en-US" sz="1200" b="1" dirty="0">
                        <a:effectLst/>
                        <a:latin typeface="Times New Roman"/>
                        <a:ea typeface="Times New Roman"/>
                      </a:endParaRPr>
                    </a:p>
                  </a:txBody>
                  <a:tcPr marL="68580" marR="68580" marT="0" marB="0" anchor="b">
                    <a:noFill/>
                  </a:tcPr>
                </a:tc>
                <a:tc>
                  <a:txBody>
                    <a:bodyPr/>
                    <a:lstStyle/>
                    <a:p>
                      <a:pPr marL="0" marR="0" algn="ctr">
                        <a:spcBef>
                          <a:spcPts val="0"/>
                        </a:spcBef>
                        <a:spcAft>
                          <a:spcPts val="0"/>
                        </a:spcAft>
                      </a:pPr>
                      <a:r>
                        <a:rPr lang="en-US" sz="900" dirty="0">
                          <a:effectLst/>
                        </a:rPr>
                        <a:t>No</a:t>
                      </a:r>
                      <a:endParaRPr lang="en-US" sz="1200" dirty="0">
                        <a:effectLst/>
                        <a:latin typeface="Times New Roman"/>
                        <a:ea typeface="Times New Roman"/>
                      </a:endParaRPr>
                    </a:p>
                  </a:txBody>
                  <a:tcPr marL="68580" marR="68580" marT="0" marB="0" anchor="b">
                    <a:noFill/>
                  </a:tcPr>
                </a:tc>
              </a:tr>
              <a:tr h="209550">
                <a:tc>
                  <a:txBody>
                    <a:bodyPr/>
                    <a:lstStyle/>
                    <a:p>
                      <a:pPr marL="0" marR="0" algn="ctr">
                        <a:spcBef>
                          <a:spcPts val="0"/>
                        </a:spcBef>
                        <a:spcAft>
                          <a:spcPts val="0"/>
                        </a:spcAft>
                      </a:pPr>
                      <a:r>
                        <a:rPr lang="en-US" sz="900">
                          <a:effectLst/>
                        </a:rPr>
                        <a:t>Yes</a:t>
                      </a:r>
                      <a:endParaRPr lang="en-US" sz="1200">
                        <a:effectLst/>
                        <a:latin typeface="Times New Roman"/>
                        <a:ea typeface="Times New Roman"/>
                      </a:endParaRPr>
                    </a:p>
                  </a:txBody>
                  <a:tcPr marL="68580" marR="68580" marT="0" marB="0" anchor="b"/>
                </a:tc>
                <a:tc>
                  <a:txBody>
                    <a:bodyPr/>
                    <a:lstStyle/>
                    <a:p>
                      <a:pPr marL="0" marR="0" algn="ctr">
                        <a:spcBef>
                          <a:spcPts val="0"/>
                        </a:spcBef>
                        <a:spcAft>
                          <a:spcPts val="0"/>
                        </a:spcAft>
                      </a:pPr>
                      <a:r>
                        <a:rPr lang="en-US" sz="900" b="0" dirty="0">
                          <a:effectLst/>
                        </a:rPr>
                        <a:t>0.27</a:t>
                      </a:r>
                      <a:endParaRPr lang="en-US" sz="1200" b="0" dirty="0">
                        <a:effectLst/>
                        <a:latin typeface="Times New Roman"/>
                        <a:ea typeface="Times New Roman"/>
                      </a:endParaRPr>
                    </a:p>
                  </a:txBody>
                  <a:tcPr marL="68580" marR="68580" marT="0" marB="0" anchor="b">
                    <a:solidFill>
                      <a:schemeClr val="accent1">
                        <a:lumMod val="20000"/>
                        <a:lumOff val="80000"/>
                      </a:schemeClr>
                    </a:solidFill>
                  </a:tcPr>
                </a:tc>
                <a:tc>
                  <a:txBody>
                    <a:bodyPr/>
                    <a:lstStyle/>
                    <a:p>
                      <a:pPr marL="0" marR="0" algn="ctr">
                        <a:spcBef>
                          <a:spcPts val="0"/>
                        </a:spcBef>
                        <a:spcAft>
                          <a:spcPts val="0"/>
                        </a:spcAft>
                      </a:pPr>
                      <a:r>
                        <a:rPr lang="en-US" sz="900" b="0" dirty="0">
                          <a:effectLst/>
                        </a:rPr>
                        <a:t>0.32</a:t>
                      </a:r>
                      <a:endParaRPr lang="en-US" sz="1200" b="0" dirty="0">
                        <a:effectLst/>
                        <a:latin typeface="Times New Roman"/>
                        <a:ea typeface="Times New Roman"/>
                      </a:endParaRPr>
                    </a:p>
                  </a:txBody>
                  <a:tcPr marL="68580" marR="68580" marT="0" marB="0" anchor="b">
                    <a:solidFill>
                      <a:schemeClr val="accent1">
                        <a:lumMod val="20000"/>
                        <a:lumOff val="80000"/>
                      </a:schemeClr>
                    </a:solidFill>
                  </a:tcPr>
                </a:tc>
              </a:tr>
              <a:tr h="209550">
                <a:tc>
                  <a:txBody>
                    <a:bodyPr/>
                    <a:lstStyle/>
                    <a:p>
                      <a:pPr marL="0" marR="0" algn="ctr">
                        <a:spcBef>
                          <a:spcPts val="0"/>
                        </a:spcBef>
                        <a:spcAft>
                          <a:spcPts val="0"/>
                        </a:spcAft>
                      </a:pPr>
                      <a:r>
                        <a:rPr lang="en-US" sz="900">
                          <a:effectLst/>
                        </a:rPr>
                        <a:t>No</a:t>
                      </a:r>
                      <a:endParaRPr lang="en-US" sz="1200">
                        <a:effectLst/>
                        <a:latin typeface="Times New Roman"/>
                        <a:ea typeface="Times New Roman"/>
                      </a:endParaRPr>
                    </a:p>
                  </a:txBody>
                  <a:tcPr marL="68580" marR="68580" marT="0" marB="0" anchor="b"/>
                </a:tc>
                <a:tc>
                  <a:txBody>
                    <a:bodyPr/>
                    <a:lstStyle/>
                    <a:p>
                      <a:pPr marL="0" marR="0" algn="ctr">
                        <a:spcBef>
                          <a:spcPts val="0"/>
                        </a:spcBef>
                        <a:spcAft>
                          <a:spcPts val="0"/>
                        </a:spcAft>
                      </a:pPr>
                      <a:r>
                        <a:rPr lang="en-US" sz="900" b="0">
                          <a:effectLst/>
                        </a:rPr>
                        <a:t>0.05</a:t>
                      </a:r>
                      <a:endParaRPr lang="en-US" sz="1200" b="0">
                        <a:effectLst/>
                        <a:latin typeface="Times New Roman"/>
                        <a:ea typeface="Times New Roman"/>
                      </a:endParaRPr>
                    </a:p>
                  </a:txBody>
                  <a:tcPr marL="68580" marR="68580" marT="0" marB="0" anchor="b">
                    <a:solidFill>
                      <a:schemeClr val="accent1">
                        <a:lumMod val="20000"/>
                        <a:lumOff val="80000"/>
                      </a:schemeClr>
                    </a:solidFill>
                  </a:tcPr>
                </a:tc>
                <a:tc>
                  <a:txBody>
                    <a:bodyPr/>
                    <a:lstStyle/>
                    <a:p>
                      <a:pPr marL="0" marR="0" algn="ctr">
                        <a:spcBef>
                          <a:spcPts val="0"/>
                        </a:spcBef>
                        <a:spcAft>
                          <a:spcPts val="0"/>
                        </a:spcAft>
                      </a:pPr>
                      <a:r>
                        <a:rPr lang="en-US" sz="900" b="0" dirty="0">
                          <a:effectLst/>
                        </a:rPr>
                        <a:t>0.36</a:t>
                      </a:r>
                      <a:endParaRPr lang="en-US" sz="1200" b="0" dirty="0">
                        <a:effectLst/>
                        <a:latin typeface="Times New Roman"/>
                        <a:ea typeface="Times New Roman"/>
                      </a:endParaRPr>
                    </a:p>
                  </a:txBody>
                  <a:tcPr marL="68580" marR="68580" marT="0" marB="0" anchor="b">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Using a Moment from CPS</a:t>
            </a:r>
            <a:endParaRPr lang="en-US" dirty="0"/>
          </a:p>
        </p:txBody>
      </p:sp>
      <p:sp>
        <p:nvSpPr>
          <p:cNvPr id="3" name="Content Placeholder 2"/>
          <p:cNvSpPr>
            <a:spLocks noGrp="1"/>
          </p:cNvSpPr>
          <p:nvPr>
            <p:ph idx="1"/>
          </p:nvPr>
        </p:nvSpPr>
        <p:spPr/>
        <p:txBody>
          <a:bodyPr/>
          <a:lstStyle/>
          <a:p>
            <a:r>
              <a:rPr lang="en-US" dirty="0" smtClean="0"/>
              <a:t>The following moment could be added to the estimation.  </a:t>
            </a:r>
          </a:p>
          <a:p>
            <a:r>
              <a:rPr lang="en-US" dirty="0" smtClean="0"/>
              <a:t>Given our initial estimates, we could lower ρ (which is set to one) and re-estimate the model. </a:t>
            </a:r>
          </a:p>
          <a:p>
            <a:r>
              <a:rPr lang="en-US" dirty="0" smtClean="0"/>
              <a:t>We would again calculate the overall correlation – and compare our estimate of the overall correlation to the overall correlation in the CPS data.                  </a:t>
            </a:r>
          </a:p>
          <a:p>
            <a:r>
              <a:rPr lang="en-US" dirty="0" smtClean="0"/>
              <a:t>                                </a:t>
            </a:r>
            <a:r>
              <a:rPr lang="en-US" sz="1000" dirty="0" smtClean="0"/>
              <a:t>estimation	CPS</a:t>
            </a:r>
            <a:endParaRPr lang="en-US" sz="1000" dirty="0"/>
          </a:p>
        </p:txBody>
      </p:sp>
      <p:pic>
        <p:nvPicPr>
          <p:cNvPr id="95235" name="Picture 3"/>
          <p:cNvPicPr>
            <a:picLocks noChangeAspect="1" noChangeArrowheads="1"/>
          </p:cNvPicPr>
          <p:nvPr/>
        </p:nvPicPr>
        <p:blipFill>
          <a:blip r:embed="rId2" cstate="print"/>
          <a:srcRect/>
          <a:stretch>
            <a:fillRect/>
          </a:stretch>
        </p:blipFill>
        <p:spPr bwMode="auto">
          <a:xfrm>
            <a:off x="1855788" y="5114925"/>
            <a:ext cx="5430837" cy="1057275"/>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1600200"/>
            <a:ext cx="8183880" cy="4648200"/>
          </a:xfrm>
        </p:spPr>
        <p:txBody>
          <a:bodyPr>
            <a:normAutofit fontScale="62500" lnSpcReduction="20000"/>
          </a:bodyPr>
          <a:lstStyle/>
          <a:p>
            <a:r>
              <a:rPr lang="en-US" dirty="0" smtClean="0">
                <a:cs typeface="Times New Roman" pitchFamily="18" charset="0"/>
              </a:rPr>
              <a:t>Conducted </a:t>
            </a:r>
            <a:r>
              <a:rPr lang="en-US" dirty="0">
                <a:cs typeface="Times New Roman" pitchFamily="18" charset="0"/>
              </a:rPr>
              <a:t>simulations for </a:t>
            </a:r>
            <a:r>
              <a:rPr lang="en-US" dirty="0" smtClean="0">
                <a:cs typeface="Times New Roman" pitchFamily="18" charset="0"/>
              </a:rPr>
              <a:t>1995 &amp; 1998. Results presented are for 1995  </a:t>
            </a:r>
            <a:endParaRPr lang="en-US" dirty="0">
              <a:cs typeface="Times New Roman" pitchFamily="18" charset="0"/>
            </a:endParaRPr>
          </a:p>
          <a:p>
            <a:endParaRPr lang="en-US" dirty="0">
              <a:cs typeface="Times New Roman" pitchFamily="18" charset="0"/>
            </a:endParaRPr>
          </a:p>
          <a:p>
            <a:r>
              <a:rPr lang="en-US" dirty="0">
                <a:cs typeface="Times New Roman" pitchFamily="18" charset="0"/>
              </a:rPr>
              <a:t>Marginal costs are 'backed' out of the first order conditions under the assumption that the firms are competing in prices and there is a Nash equilibrium.</a:t>
            </a:r>
          </a:p>
          <a:p>
            <a:endParaRPr lang="en-US" dirty="0">
              <a:cs typeface="Times New Roman" pitchFamily="18" charset="0"/>
            </a:endParaRPr>
          </a:p>
          <a:p>
            <a:r>
              <a:rPr lang="en-US" dirty="0">
                <a:cs typeface="Times New Roman" pitchFamily="18" charset="0"/>
              </a:rPr>
              <a:t>Marginal cost  includes MC of marketing and of providing consumer support</a:t>
            </a:r>
          </a:p>
          <a:p>
            <a:endParaRPr lang="en-US" dirty="0">
              <a:cs typeface="Times New Roman" pitchFamily="18" charset="0"/>
            </a:endParaRPr>
          </a:p>
          <a:p>
            <a:r>
              <a:rPr lang="en-US" dirty="0" smtClean="0">
                <a:cs typeface="Times New Roman" pitchFamily="18" charset="0"/>
              </a:rPr>
              <a:t>Estimated </a:t>
            </a:r>
            <a:r>
              <a:rPr lang="en-US" dirty="0">
                <a:cs typeface="Times New Roman" pitchFamily="18" charset="0"/>
              </a:rPr>
              <a:t>marginal costs </a:t>
            </a:r>
            <a:r>
              <a:rPr lang="en-US" dirty="0" smtClean="0">
                <a:cs typeface="Times New Roman" pitchFamily="18" charset="0"/>
              </a:rPr>
              <a:t>for 1995:</a:t>
            </a:r>
          </a:p>
          <a:p>
            <a:pPr lvl="1"/>
            <a:r>
              <a:rPr lang="en-US" dirty="0" smtClean="0">
                <a:cs typeface="Times New Roman" pitchFamily="18" charset="0"/>
              </a:rPr>
              <a:t>MS </a:t>
            </a:r>
            <a:r>
              <a:rPr lang="en-US" dirty="0">
                <a:cs typeface="Times New Roman" pitchFamily="18" charset="0"/>
              </a:rPr>
              <a:t>Word - </a:t>
            </a:r>
            <a:r>
              <a:rPr lang="en-US" dirty="0" smtClean="0">
                <a:cs typeface="Times New Roman" pitchFamily="18" charset="0"/>
              </a:rPr>
              <a:t>$97; MS </a:t>
            </a:r>
            <a:r>
              <a:rPr lang="en-US" dirty="0">
                <a:cs typeface="Times New Roman" pitchFamily="18" charset="0"/>
              </a:rPr>
              <a:t>Excel - $</a:t>
            </a:r>
            <a:r>
              <a:rPr lang="en-US" dirty="0" smtClean="0">
                <a:cs typeface="Times New Roman" pitchFamily="18" charset="0"/>
              </a:rPr>
              <a:t>112; </a:t>
            </a:r>
            <a:r>
              <a:rPr lang="en-US" dirty="0">
                <a:cs typeface="Times New Roman" pitchFamily="18" charset="0"/>
              </a:rPr>
              <a:t>MS Suite - $</a:t>
            </a:r>
            <a:r>
              <a:rPr lang="en-US" dirty="0" smtClean="0">
                <a:cs typeface="Times New Roman" pitchFamily="18" charset="0"/>
              </a:rPr>
              <a:t>226</a:t>
            </a:r>
          </a:p>
          <a:p>
            <a:pPr lvl="1"/>
            <a:r>
              <a:rPr lang="en-US" dirty="0" smtClean="0">
                <a:cs typeface="Times New Roman" pitchFamily="18" charset="0"/>
              </a:rPr>
              <a:t>WordPerfect word </a:t>
            </a:r>
            <a:r>
              <a:rPr lang="en-US" dirty="0">
                <a:cs typeface="Times New Roman" pitchFamily="18" charset="0"/>
              </a:rPr>
              <a:t>processor - </a:t>
            </a:r>
            <a:r>
              <a:rPr lang="en-US" dirty="0" smtClean="0">
                <a:cs typeface="Times New Roman" pitchFamily="18" charset="0"/>
              </a:rPr>
              <a:t>$81</a:t>
            </a:r>
          </a:p>
          <a:p>
            <a:pPr lvl="1"/>
            <a:r>
              <a:rPr lang="en-US" dirty="0" smtClean="0">
                <a:cs typeface="Times New Roman" pitchFamily="18" charset="0"/>
              </a:rPr>
              <a:t>Lotus spreadsheet </a:t>
            </a:r>
            <a:r>
              <a:rPr lang="en-US" dirty="0">
                <a:cs typeface="Times New Roman" pitchFamily="18" charset="0"/>
              </a:rPr>
              <a:t>- </a:t>
            </a:r>
            <a:r>
              <a:rPr lang="en-US" dirty="0" smtClean="0">
                <a:cs typeface="Times New Roman" pitchFamily="18" charset="0"/>
              </a:rPr>
              <a:t>$86.  </a:t>
            </a:r>
          </a:p>
          <a:p>
            <a:pPr lvl="1"/>
            <a:r>
              <a:rPr lang="en-US" dirty="0" smtClean="0">
                <a:cs typeface="Times New Roman" pitchFamily="18" charset="0"/>
              </a:rPr>
              <a:t>Software and Information Industry Association (1990): 38% of total costs are variable costs in the form of sales costs, marketing costs, technical support, and consumer support. </a:t>
            </a:r>
            <a:endParaRPr lang="en-US" dirty="0">
              <a:cs typeface="Times New Roman" pitchFamily="18" charset="0"/>
            </a:endParaRPr>
          </a:p>
          <a:p>
            <a:endParaRPr lang="en-US" dirty="0">
              <a:cs typeface="Times New Roman" pitchFamily="18" charset="0"/>
            </a:endParaRPr>
          </a:p>
          <a:p>
            <a:r>
              <a:rPr lang="en-US" dirty="0" smtClean="0">
                <a:cs typeface="Times New Roman" pitchFamily="18" charset="0"/>
              </a:rPr>
              <a:t>Suite Bonus:</a:t>
            </a:r>
          </a:p>
          <a:p>
            <a:pPr lvl="1"/>
            <a:r>
              <a:rPr lang="en-US" dirty="0" smtClean="0">
                <a:cs typeface="Times New Roman" pitchFamily="18" charset="0"/>
              </a:rPr>
              <a:t>MC </a:t>
            </a:r>
            <a:r>
              <a:rPr lang="en-US" dirty="0">
                <a:cs typeface="Times New Roman" pitchFamily="18" charset="0"/>
              </a:rPr>
              <a:t>of MS Suite exceeds the sum of the marginal costs for Word and Excel by </a:t>
            </a:r>
            <a:r>
              <a:rPr lang="en-US" dirty="0" smtClean="0">
                <a:cs typeface="Times New Roman" pitchFamily="18" charset="0"/>
              </a:rPr>
              <a:t>$16.7 </a:t>
            </a:r>
          </a:p>
          <a:p>
            <a:pPr lvl="1"/>
            <a:r>
              <a:rPr lang="en-US" dirty="0" smtClean="0">
                <a:cs typeface="Times New Roman" pitchFamily="18" charset="0"/>
              </a:rPr>
              <a:t>Given </a:t>
            </a:r>
            <a:r>
              <a:rPr lang="en-US" dirty="0">
                <a:cs typeface="Times New Roman" pitchFamily="18" charset="0"/>
              </a:rPr>
              <a:t>an estimated suite bonus of </a:t>
            </a:r>
            <a:r>
              <a:rPr lang="en-US" dirty="0" smtClean="0">
                <a:cs typeface="Times New Roman" pitchFamily="18" charset="0"/>
              </a:rPr>
              <a:t>$23.4, </a:t>
            </a:r>
            <a:r>
              <a:rPr lang="en-US" dirty="0">
                <a:cs typeface="Times New Roman" pitchFamily="18" charset="0"/>
              </a:rPr>
              <a:t>the suite generated $</a:t>
            </a:r>
            <a:r>
              <a:rPr lang="en-US" dirty="0" smtClean="0">
                <a:cs typeface="Times New Roman" pitchFamily="18" charset="0"/>
              </a:rPr>
              <a:t>6.7 </a:t>
            </a:r>
            <a:r>
              <a:rPr lang="en-US" dirty="0">
                <a:cs typeface="Times New Roman" pitchFamily="18" charset="0"/>
              </a:rPr>
              <a:t>social surplus </a:t>
            </a:r>
            <a:endParaRPr lang="en-US" dirty="0" smtClean="0">
              <a:cs typeface="Times New Roman" pitchFamily="18" charset="0"/>
            </a:endParaRPr>
          </a:p>
          <a:p>
            <a:pPr lvl="1"/>
            <a:r>
              <a:rPr lang="en-US" dirty="0" smtClean="0">
                <a:cs typeface="Times New Roman" pitchFamily="18" charset="0"/>
              </a:rPr>
              <a:t>The </a:t>
            </a:r>
            <a:r>
              <a:rPr lang="en-US" dirty="0">
                <a:cs typeface="Times New Roman" pitchFamily="18" charset="0"/>
              </a:rPr>
              <a:t>suite presented a profit opportunity to Microsoft independently of on any price discrimination benefit from for bundling.  </a:t>
            </a:r>
          </a:p>
          <a:p>
            <a:endParaRPr lang="en-US" dirty="0">
              <a:cs typeface="Times New Roman" pitchFamily="18" charset="0"/>
            </a:endParaRPr>
          </a:p>
        </p:txBody>
      </p:sp>
      <p:sp>
        <p:nvSpPr>
          <p:cNvPr id="5" name="Title 4"/>
          <p:cNvSpPr>
            <a:spLocks noGrp="1"/>
          </p:cNvSpPr>
          <p:nvPr>
            <p:ph type="title"/>
          </p:nvPr>
        </p:nvSpPr>
        <p:spPr/>
        <p:txBody>
          <a:bodyPr/>
          <a:lstStyle/>
          <a:p>
            <a:r>
              <a:rPr lang="en-US" dirty="0" smtClean="0"/>
              <a:t>Simulations</a:t>
            </a:r>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472440"/>
            <a:ext cx="8183880" cy="1051560"/>
          </a:xfrm>
        </p:spPr>
        <p:txBody>
          <a:bodyPr>
            <a:normAutofit fontScale="90000"/>
          </a:bodyPr>
          <a:lstStyle/>
          <a:p>
            <a:r>
              <a:rPr lang="en-US" dirty="0" smtClean="0"/>
              <a:t>Simulations</a:t>
            </a:r>
            <a:br>
              <a:rPr lang="en-US" dirty="0" smtClean="0"/>
            </a:br>
            <a:r>
              <a:rPr lang="en-US" sz="2000" dirty="0" smtClean="0"/>
              <a:t>Monopoly Market Structures</a:t>
            </a:r>
            <a:br>
              <a:rPr lang="en-US" sz="2000" dirty="0" smtClean="0"/>
            </a:br>
            <a:r>
              <a:rPr lang="en-US" sz="1200" dirty="0" smtClean="0"/>
              <a:t>No Bonus for Mix-and-Match Combinations</a:t>
            </a:r>
            <a:endParaRPr lang="en-US" sz="2000" dirty="0"/>
          </a:p>
        </p:txBody>
      </p:sp>
      <p:sp>
        <p:nvSpPr>
          <p:cNvPr id="11" name="Content Placeholder 2"/>
          <p:cNvSpPr txBox="1">
            <a:spLocks/>
          </p:cNvSpPr>
          <p:nvPr/>
        </p:nvSpPr>
        <p:spPr>
          <a:xfrm>
            <a:off x="381000" y="3962400"/>
            <a:ext cx="8183880" cy="1905000"/>
          </a:xfrm>
          <a:prstGeom prst="rect">
            <a:avLst/>
          </a:prstGeom>
        </p:spPr>
        <p:txBody>
          <a:bodyPr vert="horz" lIns="182880" tIns="91440">
            <a:normAutofit/>
          </a:bodyPr>
          <a:lstStyle>
            <a:lvl1pPr marL="265176" indent="-265176" algn="l" rtl="0" eaLnBrk="1" latinLnBrk="0" hangingPunct="1">
              <a:spcBef>
                <a:spcPts val="250"/>
              </a:spcBef>
              <a:buClr>
                <a:schemeClr val="accent1"/>
              </a:buClr>
              <a:buSzPct val="80000"/>
              <a:buFont typeface="Wingdings 2"/>
              <a:buChar char=""/>
              <a:defRPr kumimoji="0" sz="24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0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18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6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4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a:lstStyle>
          <a:p>
            <a:pPr marL="285750" indent="-285750">
              <a:buFont typeface="Arial" pitchFamily="34" charset="0"/>
              <a:buChar char="•"/>
            </a:pPr>
            <a:r>
              <a:rPr lang="en-US" sz="1400" dirty="0">
                <a:cs typeface="Times New Roman" pitchFamily="18" charset="0"/>
              </a:rPr>
              <a:t>Pure bundling: </a:t>
            </a:r>
            <a:r>
              <a:rPr lang="en-US" sz="1400" dirty="0" smtClean="0">
                <a:cs typeface="Times New Roman" pitchFamily="18" charset="0"/>
              </a:rPr>
              <a:t>profits </a:t>
            </a:r>
            <a:r>
              <a:rPr lang="en-US" sz="1400" dirty="0">
                <a:cs typeface="Times New Roman" pitchFamily="18" charset="0"/>
              </a:rPr>
              <a:t>increase in ρ.</a:t>
            </a:r>
          </a:p>
          <a:p>
            <a:pPr marL="742950" lvl="1" indent="-285750">
              <a:buFont typeface="Arial" pitchFamily="34" charset="0"/>
              <a:buChar char="•"/>
            </a:pPr>
            <a:r>
              <a:rPr lang="en-US" sz="1200" dirty="0">
                <a:cs typeface="Times New Roman" pitchFamily="18" charset="0"/>
              </a:rPr>
              <a:t>Market expansion effect (JM 2006, “expanding niche market”)</a:t>
            </a:r>
            <a:r>
              <a:rPr lang="en-US" sz="1400" dirty="0">
                <a:cs typeface="Times New Roman" pitchFamily="18" charset="0"/>
              </a:rPr>
              <a:t> </a:t>
            </a:r>
          </a:p>
          <a:p>
            <a:pPr marL="285750" indent="-285750">
              <a:buFont typeface="Arial" pitchFamily="34" charset="0"/>
              <a:buChar char="•"/>
            </a:pPr>
            <a:endParaRPr lang="en-US" sz="1400" dirty="0">
              <a:cs typeface="Times New Roman" pitchFamily="18" charset="0"/>
            </a:endParaRPr>
          </a:p>
          <a:p>
            <a:pPr marL="285750" indent="-285750">
              <a:buFont typeface="Arial" pitchFamily="34" charset="0"/>
              <a:buChar char="•"/>
            </a:pPr>
            <a:r>
              <a:rPr lang="en-US" sz="1400" dirty="0">
                <a:cs typeface="Times New Roman" pitchFamily="18" charset="0"/>
              </a:rPr>
              <a:t>Separate Selling (no suite bonus for mix-and-match): Profits are independent of ρ</a:t>
            </a:r>
          </a:p>
          <a:p>
            <a:pPr marL="285750" indent="-285750">
              <a:buFont typeface="Arial" pitchFamily="34" charset="0"/>
              <a:buChar char="•"/>
            </a:pPr>
            <a:r>
              <a:rPr lang="en-US" sz="1400" dirty="0">
                <a:cs typeface="Times New Roman" pitchFamily="18" charset="0"/>
              </a:rPr>
              <a:t>Mixed bundling: profits increase in ρ. </a:t>
            </a:r>
          </a:p>
          <a:p>
            <a:pPr marL="742950" lvl="1" indent="-285750">
              <a:buFont typeface="Arial" pitchFamily="34" charset="0"/>
              <a:buChar char="•"/>
            </a:pPr>
            <a:r>
              <a:rPr lang="en-US" sz="1200" dirty="0">
                <a:cs typeface="Times New Roman" pitchFamily="18" charset="0"/>
              </a:rPr>
              <a:t>interaction of  the niche market and the suite bonus effects.  </a:t>
            </a:r>
          </a:p>
        </p:txBody>
      </p:sp>
      <p:sp>
        <p:nvSpPr>
          <p:cNvPr id="6" name="Content Placeholder 5"/>
          <p:cNvSpPr>
            <a:spLocks noGrp="1"/>
          </p:cNvSpPr>
          <p:nvPr>
            <p:ph idx="1"/>
          </p:nvPr>
        </p:nvSpPr>
        <p:spPr/>
        <p:txBody>
          <a:bodyPr/>
          <a:lstStyle/>
          <a:p>
            <a:r>
              <a:rPr lang="en-US" dirty="0" smtClean="0"/>
              <a:t>Table 4</a:t>
            </a:r>
            <a:endParaRPr lang="en-US" dirty="0"/>
          </a:p>
        </p:txBody>
      </p:sp>
      <p:graphicFrame>
        <p:nvGraphicFramePr>
          <p:cNvPr id="61441" name="Object 1"/>
          <p:cNvGraphicFramePr>
            <a:graphicFrameLocks noChangeAspect="1"/>
          </p:cNvGraphicFramePr>
          <p:nvPr/>
        </p:nvGraphicFramePr>
        <p:xfrm>
          <a:off x="2130425" y="1828800"/>
          <a:ext cx="6175375" cy="2166937"/>
        </p:xfrm>
        <a:graphic>
          <a:graphicData uri="http://schemas.openxmlformats.org/presentationml/2006/ole">
            <mc:AlternateContent xmlns:mc="http://schemas.openxmlformats.org/markup-compatibility/2006">
              <mc:Choice xmlns:v="urn:schemas-microsoft-com:vml" Requires="v">
                <p:oleObj spid="_x0000_s61442" name="מסמך" r:id="rId4" imgW="6174965" imgH="2167637" progId="Word.Document.12">
                  <p:embed/>
                </p:oleObj>
              </mc:Choice>
              <mc:Fallback>
                <p:oleObj name="מסמך" r:id="rId4" imgW="6174965" imgH="2167637" progId="Word.Document.12">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0425" y="1828800"/>
                        <a:ext cx="6175375" cy="2166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TextBox 6"/>
          <p:cNvSpPr txBox="1"/>
          <p:nvPr/>
        </p:nvSpPr>
        <p:spPr>
          <a:xfrm>
            <a:off x="533400" y="5966936"/>
            <a:ext cx="8153400" cy="523220"/>
          </a:xfrm>
          <a:prstGeom prst="rect">
            <a:avLst/>
          </a:prstGeom>
          <a:noFill/>
        </p:spPr>
        <p:txBody>
          <a:bodyPr wrap="square" rtlCol="0">
            <a:spAutoFit/>
          </a:bodyPr>
          <a:lstStyle/>
          <a:p>
            <a:r>
              <a:rPr lang="en-US" sz="1400" dirty="0" smtClean="0"/>
              <a:t>JM - profits of a firm increase in dispersion when (</a:t>
            </a:r>
            <a:r>
              <a:rPr lang="en-US" sz="1400" dirty="0" err="1" smtClean="0"/>
              <a:t>i</a:t>
            </a:r>
            <a:r>
              <a:rPr lang="en-US" sz="1400" dirty="0" smtClean="0"/>
              <a:t>) consumers  heterogeneous and (ii) a firm serves a relatively small group of the potential market. (Variance of random utility of suite increases in </a:t>
            </a:r>
            <a:r>
              <a:rPr lang="el-GR" sz="1400" dirty="0" smtClean="0"/>
              <a:t>ρ</a:t>
            </a:r>
            <a:r>
              <a:rPr lang="en-US" sz="1400" dirty="0" smtClean="0"/>
              <a:t>)</a:t>
            </a:r>
            <a:endParaRPr lang="en-US" sz="14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Simulations</a:t>
            </a:r>
            <a:br>
              <a:rPr lang="en-US" dirty="0"/>
            </a:br>
            <a:r>
              <a:rPr lang="en-US" sz="2200" dirty="0"/>
              <a:t>Monopoly Market </a:t>
            </a:r>
            <a:r>
              <a:rPr lang="en-US" sz="2200" dirty="0" smtClean="0"/>
              <a:t>Structures – welfare effects</a:t>
            </a:r>
            <a:endParaRPr lang="en-US" sz="2200" dirty="0"/>
          </a:p>
        </p:txBody>
      </p:sp>
      <p:sp>
        <p:nvSpPr>
          <p:cNvPr id="3" name="Content Placeholder 2"/>
          <p:cNvSpPr>
            <a:spLocks noGrp="1"/>
          </p:cNvSpPr>
          <p:nvPr>
            <p:ph idx="1"/>
          </p:nvPr>
        </p:nvSpPr>
        <p:spPr>
          <a:xfrm>
            <a:off x="457200" y="1676400"/>
            <a:ext cx="8183880" cy="4191000"/>
          </a:xfrm>
        </p:spPr>
        <p:txBody>
          <a:bodyPr>
            <a:normAutofit fontScale="85000" lnSpcReduction="20000"/>
          </a:bodyPr>
          <a:lstStyle/>
          <a:p>
            <a:r>
              <a:rPr lang="en-US" dirty="0" smtClean="0">
                <a:cs typeface="Times New Roman" pitchFamily="18" charset="0"/>
              </a:rPr>
              <a:t>For </a:t>
            </a:r>
            <a:r>
              <a:rPr lang="en-US" dirty="0">
                <a:cs typeface="Times New Roman" pitchFamily="18" charset="0"/>
              </a:rPr>
              <a:t>ρ=1</a:t>
            </a:r>
            <a:endParaRPr lang="en-US" dirty="0" smtClean="0">
              <a:cs typeface="Times New Roman" pitchFamily="18" charset="0"/>
            </a:endParaRPr>
          </a:p>
          <a:p>
            <a:pPr lvl="1">
              <a:lnSpc>
                <a:spcPct val="120000"/>
              </a:lnSpc>
            </a:pPr>
            <a:r>
              <a:rPr lang="en-US" dirty="0" smtClean="0">
                <a:cs typeface="Times New Roman" pitchFamily="18" charset="0"/>
              </a:rPr>
              <a:t>Separate selling—Excel + Word = $235</a:t>
            </a:r>
          </a:p>
          <a:p>
            <a:pPr lvl="1">
              <a:lnSpc>
                <a:spcPct val="120000"/>
              </a:lnSpc>
            </a:pPr>
            <a:r>
              <a:rPr lang="en-US" dirty="0" smtClean="0">
                <a:cs typeface="Times New Roman" pitchFamily="18" charset="0"/>
              </a:rPr>
              <a:t>Office price (under mixed </a:t>
            </a:r>
            <a:r>
              <a:rPr lang="en-US" dirty="0">
                <a:cs typeface="Times New Roman" pitchFamily="18" charset="0"/>
              </a:rPr>
              <a:t>or pure </a:t>
            </a:r>
            <a:r>
              <a:rPr lang="en-US" dirty="0" smtClean="0">
                <a:cs typeface="Times New Roman" pitchFamily="18" charset="0"/>
              </a:rPr>
              <a:t>bundling) = ~$248</a:t>
            </a:r>
            <a:endParaRPr lang="en-US" dirty="0">
              <a:cs typeface="Times New Roman" pitchFamily="18" charset="0"/>
            </a:endParaRPr>
          </a:p>
          <a:p>
            <a:pPr lvl="1">
              <a:lnSpc>
                <a:spcPct val="120000"/>
              </a:lnSpc>
            </a:pPr>
            <a:r>
              <a:rPr lang="en-US" dirty="0"/>
              <a:t>Suite bonus </a:t>
            </a:r>
            <a:r>
              <a:rPr lang="en-US" dirty="0" smtClean="0"/>
              <a:t>($23.4) &gt; $13 = $248-$235</a:t>
            </a:r>
          </a:p>
          <a:p>
            <a:pPr lvl="1">
              <a:lnSpc>
                <a:spcPct val="120000"/>
              </a:lnSpc>
            </a:pPr>
            <a:r>
              <a:rPr lang="en-US" dirty="0" smtClean="0"/>
              <a:t>Mixed bundling:</a:t>
            </a:r>
          </a:p>
          <a:p>
            <a:pPr lvl="2">
              <a:lnSpc>
                <a:spcPct val="120000"/>
              </a:lnSpc>
            </a:pPr>
            <a:r>
              <a:rPr lang="en-US" dirty="0"/>
              <a:t>Net gain = $</a:t>
            </a:r>
            <a:r>
              <a:rPr lang="en-US" dirty="0" smtClean="0"/>
              <a:t>9.6 :</a:t>
            </a:r>
          </a:p>
          <a:p>
            <a:pPr lvl="2">
              <a:lnSpc>
                <a:spcPct val="120000"/>
              </a:lnSpc>
            </a:pPr>
            <a:r>
              <a:rPr lang="en-US" dirty="0" smtClean="0"/>
              <a:t>Excel &amp; Word prices are higher than in separate selling</a:t>
            </a:r>
          </a:p>
          <a:p>
            <a:pPr lvl="3">
              <a:lnSpc>
                <a:spcPct val="120000"/>
              </a:lnSpc>
            </a:pPr>
            <a:r>
              <a:rPr lang="en-US" dirty="0" smtClean="0"/>
              <a:t>Consumers are “encouraged “to buy the suite</a:t>
            </a:r>
          </a:p>
          <a:p>
            <a:pPr lvl="3">
              <a:lnSpc>
                <a:spcPct val="120000"/>
              </a:lnSpc>
            </a:pPr>
            <a:r>
              <a:rPr lang="en-US" dirty="0" smtClean="0"/>
              <a:t>Price penalty increases with </a:t>
            </a:r>
            <a:r>
              <a:rPr lang="en-US" dirty="0" smtClean="0">
                <a:cs typeface="Times New Roman" pitchFamily="18" charset="0"/>
              </a:rPr>
              <a:t>ρ</a:t>
            </a:r>
          </a:p>
          <a:p>
            <a:pPr>
              <a:lnSpc>
                <a:spcPct val="120000"/>
              </a:lnSpc>
            </a:pPr>
            <a:r>
              <a:rPr lang="en-US" dirty="0" smtClean="0"/>
              <a:t>Welfare increases by more when </a:t>
            </a:r>
            <a:r>
              <a:rPr lang="en-US" dirty="0" smtClean="0">
                <a:cs typeface="Times New Roman" pitchFamily="18" charset="0"/>
              </a:rPr>
              <a:t>ρ=1, despite higher prices</a:t>
            </a:r>
          </a:p>
          <a:p>
            <a:pPr lvl="2">
              <a:lnSpc>
                <a:spcPct val="120000"/>
              </a:lnSpc>
            </a:pPr>
            <a:r>
              <a:rPr lang="en-US" dirty="0" smtClean="0">
                <a:cs typeface="Times New Roman" pitchFamily="18" charset="0"/>
              </a:rPr>
              <a:t>The higher ρ, the larger the share of consumers that buy the suite; the higher the share of consumers that enjoy the $9.6 net gain the suite creates</a:t>
            </a:r>
          </a:p>
          <a:p>
            <a:pPr lvl="2">
              <a:lnSpc>
                <a:spcPct val="120000"/>
              </a:lnSpc>
            </a:pPr>
            <a:r>
              <a:rPr lang="en-US" dirty="0">
                <a:cs typeface="Times New Roman" pitchFamily="18" charset="0"/>
              </a:rPr>
              <a:t>ρ </a:t>
            </a:r>
            <a:r>
              <a:rPr lang="en-US" dirty="0" smtClean="0">
                <a:cs typeface="Times New Roman" pitchFamily="18" charset="0"/>
              </a:rPr>
              <a:t>=1: </a:t>
            </a:r>
            <a:r>
              <a:rPr lang="en-US" dirty="0" smtClean="0"/>
              <a:t>6.3</a:t>
            </a:r>
            <a:r>
              <a:rPr lang="en-US" dirty="0"/>
              <a:t>% </a:t>
            </a:r>
            <a:r>
              <a:rPr lang="en-US" dirty="0" smtClean="0"/>
              <a:t>purchase </a:t>
            </a:r>
            <a:r>
              <a:rPr lang="en-US" dirty="0"/>
              <a:t>both components separately when suites are not </a:t>
            </a:r>
            <a:r>
              <a:rPr lang="en-US" dirty="0" smtClean="0"/>
              <a:t>available; </a:t>
            </a:r>
            <a:r>
              <a:rPr lang="en-US" dirty="0" smtClean="0">
                <a:cs typeface="Times New Roman" pitchFamily="18" charset="0"/>
              </a:rPr>
              <a:t>ρ=-1: 0.3%</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8183880" cy="1051560"/>
          </a:xfrm>
        </p:spPr>
        <p:txBody>
          <a:bodyPr>
            <a:normAutofit fontScale="90000"/>
          </a:bodyPr>
          <a:lstStyle/>
          <a:p>
            <a:r>
              <a:rPr lang="en-US" dirty="0" smtClean="0"/>
              <a:t>Simulations</a:t>
            </a:r>
            <a:br>
              <a:rPr lang="en-US" dirty="0" smtClean="0"/>
            </a:br>
            <a:r>
              <a:rPr lang="en-US" sz="2000" dirty="0" smtClean="0"/>
              <a:t>Oligopolistic Competition</a:t>
            </a:r>
            <a:br>
              <a:rPr lang="en-US" sz="2000" dirty="0" smtClean="0"/>
            </a:br>
            <a:r>
              <a:rPr lang="en-US" sz="1300" dirty="0" smtClean="0"/>
              <a:t>No </a:t>
            </a:r>
            <a:r>
              <a:rPr lang="en-US" sz="1300" dirty="0"/>
              <a:t>Bonus for Mix-and-Match Combinations</a:t>
            </a:r>
          </a:p>
        </p:txBody>
      </p:sp>
      <p:sp>
        <p:nvSpPr>
          <p:cNvPr id="8" name="Content Placeholder 7"/>
          <p:cNvSpPr>
            <a:spLocks noGrp="1"/>
          </p:cNvSpPr>
          <p:nvPr>
            <p:ph idx="1"/>
          </p:nvPr>
        </p:nvSpPr>
        <p:spPr>
          <a:xfrm>
            <a:off x="457200" y="5867400"/>
            <a:ext cx="8183880" cy="685800"/>
          </a:xfrm>
        </p:spPr>
        <p:txBody>
          <a:bodyPr>
            <a:noAutofit/>
          </a:bodyPr>
          <a:lstStyle/>
          <a:p>
            <a:r>
              <a:rPr lang="el-GR" sz="1600" dirty="0" smtClean="0">
                <a:cs typeface="Times New Roman"/>
              </a:rPr>
              <a:t>ρ</a:t>
            </a:r>
            <a:r>
              <a:rPr lang="en-US" sz="1600" dirty="0" smtClean="0">
                <a:cs typeface="Times New Roman"/>
              </a:rPr>
              <a:t>=1: MS sells mostly suites; 73% of its profits come from suites; size of the component market falls by at least 50%</a:t>
            </a:r>
            <a:endParaRPr lang="en-US" sz="1600" dirty="0"/>
          </a:p>
        </p:txBody>
      </p:sp>
      <p:graphicFrame>
        <p:nvGraphicFramePr>
          <p:cNvPr id="59393" name="Object 1"/>
          <p:cNvGraphicFramePr>
            <a:graphicFrameLocks noChangeAspect="1"/>
          </p:cNvGraphicFramePr>
          <p:nvPr/>
        </p:nvGraphicFramePr>
        <p:xfrm>
          <a:off x="1484313" y="1887538"/>
          <a:ext cx="6175375" cy="3082925"/>
        </p:xfrm>
        <a:graphic>
          <a:graphicData uri="http://schemas.openxmlformats.org/presentationml/2006/ole">
            <mc:AlternateContent xmlns:mc="http://schemas.openxmlformats.org/markup-compatibility/2006">
              <mc:Choice xmlns:v="urn:schemas-microsoft-com:vml" Requires="v">
                <p:oleObj spid="_x0000_s59394" name="מסמך" r:id="rId4" imgW="6191614" imgH="3086241" progId="Word.Document.12">
                  <p:embed/>
                </p:oleObj>
              </mc:Choice>
              <mc:Fallback>
                <p:oleObj name="מסמך" r:id="rId4" imgW="6191614" imgH="3086241" progId="Word.Document.12">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4313" y="1887538"/>
                        <a:ext cx="6175375" cy="308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76400"/>
            <a:ext cx="8183880" cy="4419600"/>
          </a:xfrm>
        </p:spPr>
        <p:txBody>
          <a:bodyPr>
            <a:normAutofit fontScale="77500" lnSpcReduction="20000"/>
          </a:bodyPr>
          <a:lstStyle/>
          <a:p>
            <a:r>
              <a:rPr lang="en-US" dirty="0" smtClean="0"/>
              <a:t>Suite increases </a:t>
            </a:r>
            <a:r>
              <a:rPr lang="en-US" dirty="0"/>
              <a:t>welfare </a:t>
            </a:r>
            <a:r>
              <a:rPr lang="en-US" dirty="0" smtClean="0"/>
              <a:t>regardless of </a:t>
            </a:r>
            <a:r>
              <a:rPr lang="el-GR" dirty="0" smtClean="0"/>
              <a:t>ρ</a:t>
            </a:r>
            <a:endParaRPr lang="en-US" dirty="0"/>
          </a:p>
          <a:p>
            <a:endParaRPr lang="en-US" dirty="0"/>
          </a:p>
          <a:p>
            <a:pPr lvl="1"/>
            <a:r>
              <a:rPr lang="el-GR" dirty="0" smtClean="0"/>
              <a:t>ρ</a:t>
            </a:r>
            <a:r>
              <a:rPr lang="en-US" dirty="0" smtClean="0"/>
              <a:t>=1: </a:t>
            </a:r>
            <a:r>
              <a:rPr lang="en-US" b="1" dirty="0" smtClean="0"/>
              <a:t>Net </a:t>
            </a:r>
            <a:r>
              <a:rPr lang="en-US" b="1" dirty="0"/>
              <a:t>gain </a:t>
            </a:r>
            <a:r>
              <a:rPr lang="en-US" b="1" dirty="0" smtClean="0"/>
              <a:t>over components= </a:t>
            </a:r>
            <a:r>
              <a:rPr lang="en-US" b="1" dirty="0"/>
              <a:t>$</a:t>
            </a:r>
            <a:r>
              <a:rPr lang="en-US" b="1" dirty="0" smtClean="0"/>
              <a:t>9.5</a:t>
            </a:r>
          </a:p>
          <a:p>
            <a:pPr lvl="1"/>
            <a:r>
              <a:rPr lang="en-US" dirty="0" smtClean="0"/>
              <a:t>Prices under bundling are higher, but:</a:t>
            </a:r>
          </a:p>
          <a:p>
            <a:pPr marL="946404" lvl="2" indent="-342900">
              <a:buFont typeface="+mj-lt"/>
              <a:buAutoNum type="arabicPeriod"/>
            </a:pPr>
            <a:r>
              <a:rPr lang="en-US" dirty="0" smtClean="0"/>
              <a:t>With strong </a:t>
            </a:r>
            <a:r>
              <a:rPr lang="en-US" dirty="0"/>
              <a:t>positive </a:t>
            </a:r>
            <a:r>
              <a:rPr lang="en-US" dirty="0" smtClean="0"/>
              <a:t>correlation, many consumers </a:t>
            </a:r>
            <a:r>
              <a:rPr lang="en-US" dirty="0"/>
              <a:t>who purchase both components separately when suites are not </a:t>
            </a:r>
            <a:r>
              <a:rPr lang="en-US" dirty="0" smtClean="0"/>
              <a:t>available</a:t>
            </a:r>
            <a:r>
              <a:rPr lang="en-US" dirty="0"/>
              <a:t> </a:t>
            </a:r>
            <a:r>
              <a:rPr lang="en-US" dirty="0" smtClean="0"/>
              <a:t>buy now the suite and enjoy the net gain of $9.5</a:t>
            </a:r>
          </a:p>
          <a:p>
            <a:pPr marL="946404" lvl="2" indent="-342900">
              <a:buFont typeface="+mj-lt"/>
              <a:buAutoNum type="arabicPeriod"/>
            </a:pPr>
            <a:r>
              <a:rPr lang="en-US" dirty="0" smtClean="0"/>
              <a:t>More products are sold overall</a:t>
            </a:r>
          </a:p>
          <a:p>
            <a:pPr lvl="1"/>
            <a:r>
              <a:rPr lang="en-US" dirty="0" smtClean="0"/>
              <a:t>Combinations of both effects increases welfare</a:t>
            </a:r>
          </a:p>
          <a:p>
            <a:pPr>
              <a:buNone/>
            </a:pPr>
            <a:endParaRPr lang="en-US" sz="2400" dirty="0" smtClean="0">
              <a:cs typeface="Times New Roman" pitchFamily="18" charset="0"/>
            </a:endParaRPr>
          </a:p>
          <a:p>
            <a:pPr>
              <a:lnSpc>
                <a:spcPct val="120000"/>
              </a:lnSpc>
            </a:pPr>
            <a:r>
              <a:rPr lang="en-US" sz="2400" dirty="0" smtClean="0">
                <a:cs typeface="Times New Roman" pitchFamily="18" charset="0"/>
              </a:rPr>
              <a:t>Competing firms may be better off under mixed bundling rather than pure bundling</a:t>
            </a:r>
          </a:p>
          <a:p>
            <a:pPr lvl="1">
              <a:lnSpc>
                <a:spcPct val="120000"/>
              </a:lnSpc>
            </a:pPr>
            <a:r>
              <a:rPr lang="en-US" dirty="0" smtClean="0">
                <a:cs typeface="Times New Roman" pitchFamily="18" charset="0"/>
              </a:rPr>
              <a:t>Under mixed bundling, consumers can mix-and-match Microsoft product with Lotus/WordPerfect product</a:t>
            </a:r>
          </a:p>
          <a:p>
            <a:pPr lvl="1">
              <a:lnSpc>
                <a:spcPct val="120000"/>
              </a:lnSpc>
            </a:pPr>
            <a:r>
              <a:rPr lang="en-US" dirty="0" smtClean="0">
                <a:cs typeface="Times New Roman" pitchFamily="18" charset="0"/>
              </a:rPr>
              <a:t>When correlation in consumers preferences is high, there is higher demand for consuming both products, and thus the mix-and-match effect dominates the ‘reduction in competition’ effect</a:t>
            </a:r>
          </a:p>
        </p:txBody>
      </p:sp>
      <p:sp>
        <p:nvSpPr>
          <p:cNvPr id="4" name="Title 3"/>
          <p:cNvSpPr>
            <a:spLocks noGrp="1"/>
          </p:cNvSpPr>
          <p:nvPr>
            <p:ph type="title"/>
          </p:nvPr>
        </p:nvSpPr>
        <p:spPr>
          <a:xfrm>
            <a:off x="533400" y="320040"/>
            <a:ext cx="8183880" cy="1051560"/>
          </a:xfrm>
        </p:spPr>
        <p:txBody>
          <a:bodyPr>
            <a:normAutofit/>
          </a:bodyPr>
          <a:lstStyle/>
          <a:p>
            <a:r>
              <a:rPr lang="en-US" dirty="0"/>
              <a:t>Simulations</a:t>
            </a:r>
            <a:br>
              <a:rPr lang="en-US" dirty="0"/>
            </a:br>
            <a:r>
              <a:rPr lang="en-US" sz="2200" dirty="0"/>
              <a:t>Oligopolistic </a:t>
            </a:r>
            <a:r>
              <a:rPr lang="en-US" sz="2200" dirty="0" smtClean="0"/>
              <a:t>Competition - </a:t>
            </a:r>
            <a:r>
              <a:rPr lang="en-US" sz="2200" dirty="0" err="1" smtClean="0"/>
              <a:t>Cont</a:t>
            </a:r>
            <a:endParaRPr lang="en-US" sz="22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Robustness Analysis</a:t>
            </a:r>
            <a:endParaRPr lang="en-US" dirty="0"/>
          </a:p>
        </p:txBody>
      </p:sp>
      <p:sp>
        <p:nvSpPr>
          <p:cNvPr id="3" name="Content Placeholder 2"/>
          <p:cNvSpPr>
            <a:spLocks noGrp="1"/>
          </p:cNvSpPr>
          <p:nvPr>
            <p:ph idx="1"/>
          </p:nvPr>
        </p:nvSpPr>
        <p:spPr/>
        <p:txBody>
          <a:bodyPr>
            <a:normAutofit lnSpcReduction="10000"/>
          </a:bodyPr>
          <a:lstStyle/>
          <a:p>
            <a:r>
              <a:rPr lang="en-US" dirty="0" smtClean="0"/>
              <a:t>In order to test for the robustness of our results, we run the simulations presented in Tables 4 and 5 based on 60,000 draws taken based on the estimated variance-covariance matrix. </a:t>
            </a:r>
          </a:p>
          <a:p>
            <a:r>
              <a:rPr lang="en-US" dirty="0" smtClean="0"/>
              <a:t>Given that our price coefficient is not significant, we get a positive price coefficient in about 10% of the draws. We drop these draws. </a:t>
            </a:r>
          </a:p>
          <a:p>
            <a:r>
              <a:rPr lang="en-US" dirty="0" smtClean="0"/>
              <a:t>We run the simulations on the remaining 90% of the draws; however, for some of these draws the program is unable to find the equilibrium cost estimate or equilibrium prices</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smtClean="0"/>
              <a:t>Robustness Analysis - continued</a:t>
            </a:r>
            <a:endParaRPr lang="en-US" dirty="0"/>
          </a:p>
        </p:txBody>
      </p:sp>
      <p:sp>
        <p:nvSpPr>
          <p:cNvPr id="3" name="Content Placeholder 2"/>
          <p:cNvSpPr>
            <a:spLocks noGrp="1"/>
          </p:cNvSpPr>
          <p:nvPr>
            <p:ph idx="1"/>
          </p:nvPr>
        </p:nvSpPr>
        <p:spPr>
          <a:xfrm>
            <a:off x="457200" y="1676400"/>
            <a:ext cx="8183880" cy="4495800"/>
          </a:xfrm>
        </p:spPr>
        <p:txBody>
          <a:bodyPr>
            <a:normAutofit fontScale="92500"/>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We then examine the robustness of our result that the introduction of the suite is pro-competitive regardless of the value of ρ. In all cases, welfare is higher with the introduction of the suite than it is in the case when the firms sell components only. </a:t>
            </a:r>
            <a:endParaRPr lang="en-US" dirty="0"/>
          </a:p>
        </p:txBody>
      </p:sp>
      <p:graphicFrame>
        <p:nvGraphicFramePr>
          <p:cNvPr id="82946" name="Object 2"/>
          <p:cNvGraphicFramePr>
            <a:graphicFrameLocks noChangeAspect="1"/>
          </p:cNvGraphicFramePr>
          <p:nvPr/>
        </p:nvGraphicFramePr>
        <p:xfrm>
          <a:off x="1477963" y="1447800"/>
          <a:ext cx="6188075" cy="2525713"/>
        </p:xfrm>
        <a:graphic>
          <a:graphicData uri="http://schemas.openxmlformats.org/presentationml/2006/ole">
            <mc:AlternateContent xmlns:mc="http://schemas.openxmlformats.org/markup-compatibility/2006">
              <mc:Choice xmlns:v="urn:schemas-microsoft-com:vml" Requires="v">
                <p:oleObj spid="_x0000_s82947" name="מסמך" r:id="rId4" imgW="6204241" imgH="2526578" progId="Word.Document.12">
                  <p:embed/>
                </p:oleObj>
              </mc:Choice>
              <mc:Fallback>
                <p:oleObj name="מסמך" r:id="rId4" imgW="6204241" imgH="2526578" progId="Word.Document.12">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7963" y="1447800"/>
                        <a:ext cx="6188075" cy="252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Robustness Analysis - continued</a:t>
            </a:r>
            <a:endParaRPr lang="en-US" dirty="0"/>
          </a:p>
        </p:txBody>
      </p:sp>
      <p:sp>
        <p:nvSpPr>
          <p:cNvPr id="3" name="Content Placeholder 2"/>
          <p:cNvSpPr>
            <a:spLocks noGrp="1"/>
          </p:cNvSpPr>
          <p:nvPr>
            <p:ph idx="1"/>
          </p:nvPr>
        </p:nvSpPr>
        <p:spPr/>
        <p:txBody>
          <a:bodyPr/>
          <a:lstStyle/>
          <a:p>
            <a:r>
              <a:rPr lang="en-US" dirty="0" smtClean="0"/>
              <a:t>We then examined the relationship between the ‘mix-and-match effect’ and the ‘reduction in competition’ effect. The table below presents the share of cases where Lotus’ spreadsheet (WordPerfect’s) profits were higher under mixed bundling than under pure bundling. </a:t>
            </a:r>
          </a:p>
          <a:p>
            <a:endParaRPr lang="en-US" dirty="0"/>
          </a:p>
        </p:txBody>
      </p:sp>
      <p:graphicFrame>
        <p:nvGraphicFramePr>
          <p:cNvPr id="4" name="Table 3"/>
          <p:cNvGraphicFramePr>
            <a:graphicFrameLocks noGrp="1"/>
          </p:cNvGraphicFramePr>
          <p:nvPr/>
        </p:nvGraphicFramePr>
        <p:xfrm>
          <a:off x="1447801" y="4056381"/>
          <a:ext cx="4381924" cy="1212989"/>
        </p:xfrm>
        <a:graphic>
          <a:graphicData uri="http://schemas.openxmlformats.org/drawingml/2006/table">
            <a:tbl>
              <a:tblPr/>
              <a:tblGrid>
                <a:gridCol w="2085764"/>
                <a:gridCol w="777891"/>
                <a:gridCol w="706346"/>
                <a:gridCol w="811923"/>
              </a:tblGrid>
              <a:tr h="407903">
                <a:tc>
                  <a:txBody>
                    <a:bodyPr/>
                    <a:lstStyle/>
                    <a:p>
                      <a:pPr marL="0" marR="0">
                        <a:spcBef>
                          <a:spcPts val="0"/>
                        </a:spcBef>
                        <a:spcAft>
                          <a:spcPts val="0"/>
                        </a:spcAft>
                      </a:pPr>
                      <a:r>
                        <a:rPr lang="en-US" sz="800" dirty="0">
                          <a:latin typeface="Times New Roman"/>
                          <a:ea typeface="Times New Roman"/>
                          <a:cs typeface="Arial"/>
                        </a:rPr>
                        <a:t>Share of simulation runs where</a:t>
                      </a:r>
                      <a:endParaRPr lang="en-US" sz="1200" dirty="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762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900">
                          <a:latin typeface="Calibri"/>
                          <a:ea typeface="Times New Roman"/>
                          <a:cs typeface="Arial"/>
                        </a:rPr>
                        <a:t>ρ=1</a:t>
                      </a:r>
                      <a:endParaRPr lang="en-US" sz="120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76200" cap="flat" cmpd="sng" algn="ctr">
                      <a:solidFill>
                        <a:srgbClr val="000000"/>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900">
                          <a:latin typeface="Calibri"/>
                          <a:ea typeface="Times New Roman"/>
                          <a:cs typeface="Arial"/>
                        </a:rPr>
                        <a:t>ρ=0</a:t>
                      </a:r>
                      <a:endParaRPr lang="en-US" sz="120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762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900">
                          <a:latin typeface="Calibri"/>
                          <a:ea typeface="Times New Roman"/>
                          <a:cs typeface="Arial"/>
                        </a:rPr>
                        <a:t>ρ=-1</a:t>
                      </a:r>
                      <a:endParaRPr lang="en-US" sz="120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76200" cap="flat" cmpd="sng" algn="ctr">
                      <a:solidFill>
                        <a:srgbClr val="000000"/>
                      </a:solidFill>
                      <a:prstDash val="solid"/>
                      <a:round/>
                      <a:headEnd type="none" w="med" len="med"/>
                      <a:tailEnd type="none" w="med" len="med"/>
                    </a:lnB>
                    <a:solidFill>
                      <a:srgbClr val="A6A6A6"/>
                    </a:solidFill>
                  </a:tcPr>
                </a:tc>
              </a:tr>
              <a:tr h="265383">
                <a:tc>
                  <a:txBody>
                    <a:bodyPr/>
                    <a:lstStyle/>
                    <a:p>
                      <a:pPr marL="0" marR="0">
                        <a:spcBef>
                          <a:spcPts val="0"/>
                        </a:spcBef>
                        <a:spcAft>
                          <a:spcPts val="0"/>
                        </a:spcAft>
                      </a:pPr>
                      <a:r>
                        <a:rPr lang="en-US" sz="900" b="1" dirty="0">
                          <a:latin typeface="Times New Roman"/>
                          <a:ea typeface="Times New Roman"/>
                          <a:cs typeface="Arial"/>
                        </a:rPr>
                        <a:t>Higher profits under mixed bundling</a:t>
                      </a:r>
                      <a:endParaRPr lang="en-US" sz="1200" dirty="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762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endParaRPr 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762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r h="265383">
                <a:tc>
                  <a:txBody>
                    <a:bodyPr/>
                    <a:lstStyle/>
                    <a:p>
                      <a:pPr marL="0" marR="0">
                        <a:spcBef>
                          <a:spcPts val="0"/>
                        </a:spcBef>
                        <a:spcAft>
                          <a:spcPts val="0"/>
                        </a:spcAft>
                      </a:pPr>
                      <a:r>
                        <a:rPr lang="en-US" sz="900">
                          <a:latin typeface="Times New Roman"/>
                          <a:ea typeface="Times New Roman"/>
                          <a:cs typeface="Arial"/>
                        </a:rPr>
                        <a:t>WordPerfect word processor</a:t>
                      </a:r>
                      <a:endParaRPr lang="en-US" sz="120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marL="0" marR="0" algn="ctr">
                        <a:spcBef>
                          <a:spcPts val="0"/>
                        </a:spcBef>
                        <a:spcAft>
                          <a:spcPts val="0"/>
                        </a:spcAft>
                      </a:pPr>
                      <a:r>
                        <a:rPr lang="en-US" sz="900">
                          <a:latin typeface="Times New Roman"/>
                          <a:ea typeface="Times New Roman"/>
                          <a:cs typeface="Arial"/>
                        </a:rPr>
                        <a:t>0.89</a:t>
                      </a:r>
                      <a:endParaRPr lang="en-US" sz="120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D9D9D9"/>
                    </a:solidFill>
                  </a:tcPr>
                </a:tc>
                <a:tc>
                  <a:txBody>
                    <a:bodyPr/>
                    <a:lstStyle/>
                    <a:p>
                      <a:pPr marL="0" marR="0" algn="ctr">
                        <a:spcBef>
                          <a:spcPts val="0"/>
                        </a:spcBef>
                        <a:spcAft>
                          <a:spcPts val="0"/>
                        </a:spcAft>
                      </a:pPr>
                      <a:r>
                        <a:rPr lang="en-US" sz="900">
                          <a:latin typeface="Times New Roman"/>
                          <a:ea typeface="Times New Roman"/>
                          <a:cs typeface="Arial"/>
                        </a:rPr>
                        <a:t>0.75</a:t>
                      </a:r>
                      <a:endParaRPr lang="en-US" sz="120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BFBFBF"/>
                    </a:solidFill>
                  </a:tcPr>
                </a:tc>
                <a:tc>
                  <a:txBody>
                    <a:bodyPr/>
                    <a:lstStyle/>
                    <a:p>
                      <a:pPr marL="0" marR="0" algn="ctr">
                        <a:spcBef>
                          <a:spcPts val="0"/>
                        </a:spcBef>
                        <a:spcAft>
                          <a:spcPts val="0"/>
                        </a:spcAft>
                      </a:pPr>
                      <a:r>
                        <a:rPr lang="en-US" sz="900">
                          <a:latin typeface="Times New Roman"/>
                          <a:ea typeface="Times New Roman"/>
                          <a:cs typeface="Arial"/>
                        </a:rPr>
                        <a:t>0.65</a:t>
                      </a:r>
                      <a:endParaRPr lang="en-US" sz="120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A6A6A6"/>
                    </a:solidFill>
                  </a:tcPr>
                </a:tc>
              </a:tr>
              <a:tr h="265383">
                <a:tc>
                  <a:txBody>
                    <a:bodyPr/>
                    <a:lstStyle/>
                    <a:p>
                      <a:pPr marL="0" marR="0">
                        <a:spcBef>
                          <a:spcPts val="0"/>
                        </a:spcBef>
                        <a:spcAft>
                          <a:spcPts val="0"/>
                        </a:spcAft>
                      </a:pPr>
                      <a:r>
                        <a:rPr lang="en-US" sz="900">
                          <a:latin typeface="Times New Roman"/>
                          <a:ea typeface="Times New Roman"/>
                          <a:cs typeface="Arial"/>
                        </a:rPr>
                        <a:t>Lotus spreadsheet</a:t>
                      </a:r>
                      <a:endParaRPr lang="en-US" sz="120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900">
                          <a:latin typeface="Times New Roman"/>
                          <a:ea typeface="Times New Roman"/>
                          <a:cs typeface="Arial"/>
                        </a:rPr>
                        <a:t>0.69</a:t>
                      </a:r>
                      <a:endParaRPr lang="en-US" sz="120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900" dirty="0">
                          <a:latin typeface="Times New Roman"/>
                          <a:ea typeface="Times New Roman"/>
                          <a:cs typeface="Arial"/>
                        </a:rPr>
                        <a:t>0.5</a:t>
                      </a:r>
                      <a:endParaRPr lang="en-US" sz="1200" dirty="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900" dirty="0">
                          <a:latin typeface="Times New Roman"/>
                          <a:ea typeface="Times New Roman"/>
                          <a:cs typeface="Arial"/>
                        </a:rPr>
                        <a:t>0.39</a:t>
                      </a:r>
                      <a:endParaRPr lang="en-US" sz="1200" dirty="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pPr eaLnBrk="1" hangingPunct="1"/>
            <a:r>
              <a:rPr lang="en-US" sz="3200" b="1" dirty="0" smtClean="0">
                <a:cs typeface="Times New Roman" pitchFamily="18" charset="0"/>
              </a:rPr>
              <a:t>Conclusion</a:t>
            </a:r>
          </a:p>
        </p:txBody>
      </p:sp>
      <p:sp>
        <p:nvSpPr>
          <p:cNvPr id="33796" name="Rectangle 3"/>
          <p:cNvSpPr>
            <a:spLocks noGrp="1" noChangeArrowheads="1"/>
          </p:cNvSpPr>
          <p:nvPr>
            <p:ph idx="1"/>
          </p:nvPr>
        </p:nvSpPr>
        <p:spPr/>
        <p:txBody>
          <a:bodyPr>
            <a:normAutofit fontScale="70000" lnSpcReduction="20000"/>
          </a:bodyPr>
          <a:lstStyle/>
          <a:p>
            <a:pPr eaLnBrk="1" hangingPunct="1">
              <a:lnSpc>
                <a:spcPct val="120000"/>
              </a:lnSpc>
              <a:spcBef>
                <a:spcPct val="50000"/>
              </a:spcBef>
            </a:pPr>
            <a:r>
              <a:rPr lang="en-US" sz="2800" dirty="0" smtClean="0">
                <a:cs typeface="Times New Roman" pitchFamily="18" charset="0"/>
              </a:rPr>
              <a:t>Consumer demands for word processors and spreadsheets are positively correlated</a:t>
            </a:r>
          </a:p>
          <a:p>
            <a:pPr>
              <a:lnSpc>
                <a:spcPct val="90000"/>
              </a:lnSpc>
              <a:spcBef>
                <a:spcPct val="50000"/>
              </a:spcBef>
            </a:pPr>
            <a:r>
              <a:rPr lang="en-US" sz="2800" dirty="0">
                <a:cs typeface="Times New Roman" pitchFamily="18" charset="0"/>
              </a:rPr>
              <a:t>Johnson &amp; </a:t>
            </a:r>
            <a:r>
              <a:rPr lang="en-US" sz="2800" dirty="0" smtClean="0">
                <a:cs typeface="Times New Roman" pitchFamily="18" charset="0"/>
              </a:rPr>
              <a:t>Myatt’s </a:t>
            </a:r>
            <a:r>
              <a:rPr lang="en-US" sz="2800" dirty="0">
                <a:cs typeface="Times New Roman" pitchFamily="18" charset="0"/>
              </a:rPr>
              <a:t>(2006</a:t>
            </a:r>
            <a:r>
              <a:rPr lang="en-US" sz="2800" dirty="0" smtClean="0">
                <a:cs typeface="Times New Roman" pitchFamily="18" charset="0"/>
              </a:rPr>
              <a:t>):</a:t>
            </a:r>
          </a:p>
          <a:p>
            <a:pPr lvl="1">
              <a:lnSpc>
                <a:spcPct val="120000"/>
              </a:lnSpc>
              <a:spcBef>
                <a:spcPct val="50000"/>
              </a:spcBef>
            </a:pPr>
            <a:r>
              <a:rPr lang="en-US" dirty="0" smtClean="0">
                <a:cs typeface="Times New Roman" pitchFamily="18" charset="0"/>
              </a:rPr>
              <a:t>Niche-market expansion </a:t>
            </a:r>
            <a:r>
              <a:rPr lang="en-US" dirty="0">
                <a:cs typeface="Times New Roman" pitchFamily="18" charset="0"/>
              </a:rPr>
              <a:t>effect: Higher correlation implies increased variance of preferences for suite – and raises profits for pure </a:t>
            </a:r>
            <a:r>
              <a:rPr lang="en-US" dirty="0" smtClean="0">
                <a:cs typeface="Times New Roman" pitchFamily="18" charset="0"/>
              </a:rPr>
              <a:t>bundling</a:t>
            </a:r>
            <a:endParaRPr lang="en-US" dirty="0">
              <a:cs typeface="Times New Roman" pitchFamily="18" charset="0"/>
            </a:endParaRPr>
          </a:p>
          <a:p>
            <a:pPr>
              <a:lnSpc>
                <a:spcPct val="120000"/>
              </a:lnSpc>
              <a:spcBef>
                <a:spcPct val="50000"/>
              </a:spcBef>
            </a:pPr>
            <a:r>
              <a:rPr lang="en-US" sz="2900" dirty="0">
                <a:cs typeface="Times New Roman" pitchFamily="18" charset="0"/>
              </a:rPr>
              <a:t>We find that this effect holds not only in ‘niche’ markets</a:t>
            </a:r>
          </a:p>
          <a:p>
            <a:pPr marL="265176" lvl="1" indent="-265176">
              <a:lnSpc>
                <a:spcPct val="120000"/>
              </a:lnSpc>
              <a:spcBef>
                <a:spcPct val="50000"/>
              </a:spcBef>
              <a:buSzPct val="80000"/>
              <a:buFont typeface="Wingdings 2"/>
              <a:buChar char=""/>
            </a:pPr>
            <a:r>
              <a:rPr lang="en-US" sz="2900" dirty="0">
                <a:cs typeface="Times New Roman" pitchFamily="18" charset="0"/>
              </a:rPr>
              <a:t>In the case of mixed bundling, profits increase in correlation because of the interaction of the suite bonus with </a:t>
            </a:r>
            <a:r>
              <a:rPr lang="en-US" sz="2900" dirty="0" smtClean="0">
                <a:cs typeface="Times New Roman" pitchFamily="18" charset="0"/>
              </a:rPr>
              <a:t>the </a:t>
            </a:r>
            <a:r>
              <a:rPr lang="en-US" sz="2900" dirty="0">
                <a:cs typeface="Times New Roman" pitchFamily="18" charset="0"/>
              </a:rPr>
              <a:t>market expansion effect </a:t>
            </a:r>
          </a:p>
          <a:p>
            <a:pPr>
              <a:lnSpc>
                <a:spcPct val="120000"/>
              </a:lnSpc>
              <a:spcBef>
                <a:spcPct val="50000"/>
              </a:spcBef>
            </a:pPr>
            <a:r>
              <a:rPr lang="en-US" sz="2900" dirty="0">
                <a:cs typeface="Times New Roman" pitchFamily="18" charset="0"/>
              </a:rPr>
              <a:t>Changes in correlation affect strategic interaction </a:t>
            </a:r>
            <a:r>
              <a:rPr lang="en-US" sz="2900" dirty="0" smtClean="0">
                <a:cs typeface="Times New Roman" pitchFamily="18" charset="0"/>
              </a:rPr>
              <a:t>significantly</a:t>
            </a:r>
            <a:endParaRPr lang="en-US" sz="2900" dirty="0">
              <a:cs typeface="Times New Roman" pitchFamily="18"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3400" y="1066800"/>
            <a:ext cx="7924800" cy="2492990"/>
          </a:xfrm>
          <a:prstGeom prst="rect">
            <a:avLst/>
          </a:prstGeom>
          <a:noFill/>
        </p:spPr>
        <p:txBody>
          <a:bodyPr wrap="square" rtlCol="1">
            <a:spAutoFit/>
          </a:bodyPr>
          <a:lstStyle/>
          <a:p>
            <a:r>
              <a:rPr lang="en-US" sz="1200" dirty="0" smtClean="0">
                <a:latin typeface="+mn-lt"/>
              </a:rPr>
              <a:t>The dependent variable is USE, where USE=(2 if the answer to both questions is yes, 1 if the answer to one of the questions is yes and 0 if the answer to both questions is no).  </a:t>
            </a:r>
          </a:p>
          <a:p>
            <a:endParaRPr lang="en-US" sz="1200" dirty="0" smtClean="0">
              <a:latin typeface="+mn-lt"/>
            </a:endParaRPr>
          </a:p>
          <a:p>
            <a:r>
              <a:rPr lang="en-US" sz="1200" dirty="0" smtClean="0">
                <a:latin typeface="+mn-lt"/>
              </a:rPr>
              <a:t>Independent variables are</a:t>
            </a:r>
          </a:p>
          <a:p>
            <a:endParaRPr lang="en-US" sz="1200" dirty="0" smtClean="0">
              <a:latin typeface="+mn-lt"/>
            </a:endParaRPr>
          </a:p>
          <a:p>
            <a:r>
              <a:rPr lang="en-US" sz="1200" dirty="0" smtClean="0">
                <a:solidFill>
                  <a:srgbClr val="6666FF"/>
                </a:solidFill>
                <a:latin typeface="+mn-lt"/>
              </a:rPr>
              <a:t>INCOME</a:t>
            </a:r>
            <a:r>
              <a:rPr lang="en-US" sz="1200" dirty="0" smtClean="0">
                <a:latin typeface="+mn-lt"/>
              </a:rPr>
              <a:t> -  takes on whole numbers between 1-14 that correspond to ranges of yearly family income. For example, 1=less than $5000, 7=$20,000-$24,999, and 14=$75000 or more.</a:t>
            </a:r>
          </a:p>
          <a:p>
            <a:r>
              <a:rPr lang="en-US" sz="1200" dirty="0" smtClean="0">
                <a:solidFill>
                  <a:srgbClr val="6666FF"/>
                </a:solidFill>
                <a:latin typeface="+mn-lt"/>
              </a:rPr>
              <a:t>EDUCATION</a:t>
            </a:r>
            <a:r>
              <a:rPr lang="en-US" sz="1200" dirty="0" smtClean="0">
                <a:latin typeface="+mn-lt"/>
              </a:rPr>
              <a:t>  - represents the total years of schooling.  It takes on the range 31-46, where 31=less than first grade, 39=a school high degree, and 46=Ph.D. degree.</a:t>
            </a:r>
          </a:p>
          <a:p>
            <a:r>
              <a:rPr lang="en-US" sz="1200" dirty="0" smtClean="0">
                <a:solidFill>
                  <a:srgbClr val="6666FF"/>
                </a:solidFill>
                <a:latin typeface="+mn-lt"/>
              </a:rPr>
              <a:t>COMPUTERS</a:t>
            </a:r>
            <a:r>
              <a:rPr lang="en-US" sz="1200" dirty="0" smtClean="0">
                <a:latin typeface="+mn-lt"/>
              </a:rPr>
              <a:t> – represents the number of computers in the household, where 0=no computers, 1=one computer, 2=two computers, and 3=three or more computers.</a:t>
            </a:r>
          </a:p>
          <a:p>
            <a:r>
              <a:rPr lang="en-US" sz="1200" dirty="0" smtClean="0">
                <a:solidFill>
                  <a:srgbClr val="6666FF"/>
                </a:solidFill>
                <a:latin typeface="+mn-lt"/>
              </a:rPr>
              <a:t>SCHOOL</a:t>
            </a:r>
            <a:r>
              <a:rPr lang="en-US" sz="1200" dirty="0" smtClean="0">
                <a:latin typeface="+mn-lt"/>
              </a:rPr>
              <a:t> – takes on the value one if the individual is in school and zero otherwise.</a:t>
            </a:r>
          </a:p>
          <a:p>
            <a:r>
              <a:rPr lang="en-US" sz="1200" dirty="0" smtClean="0">
                <a:solidFill>
                  <a:srgbClr val="6666FF"/>
                </a:solidFill>
                <a:latin typeface="+mn-lt"/>
              </a:rPr>
              <a:t>INTERNET</a:t>
            </a:r>
            <a:r>
              <a:rPr lang="en-US" sz="1200" dirty="0" smtClean="0">
                <a:latin typeface="+mn-lt"/>
              </a:rPr>
              <a:t> – takes on the value one if the household has Internet service and zero otherwise.</a:t>
            </a:r>
          </a:p>
        </p:txBody>
      </p:sp>
      <p:sp>
        <p:nvSpPr>
          <p:cNvPr id="4" name="Title 3"/>
          <p:cNvSpPr>
            <a:spLocks noGrp="1"/>
          </p:cNvSpPr>
          <p:nvPr>
            <p:ph type="title"/>
          </p:nvPr>
        </p:nvSpPr>
        <p:spPr>
          <a:xfrm>
            <a:off x="426720" y="381000"/>
            <a:ext cx="8641080" cy="609600"/>
          </a:xfrm>
        </p:spPr>
        <p:txBody>
          <a:bodyPr>
            <a:normAutofit/>
          </a:bodyPr>
          <a:lstStyle/>
          <a:p>
            <a:r>
              <a:rPr lang="en-US" sz="2400" dirty="0"/>
              <a:t>Evidence for Positive correlation in preferences</a:t>
            </a:r>
          </a:p>
        </p:txBody>
      </p:sp>
      <p:graphicFrame>
        <p:nvGraphicFramePr>
          <p:cNvPr id="6" name="Table 5"/>
          <p:cNvGraphicFramePr>
            <a:graphicFrameLocks noGrp="1"/>
          </p:cNvGraphicFramePr>
          <p:nvPr>
            <p:extLst>
              <p:ext uri="{D42A27DB-BD31-4B8C-83A1-F6EECF244321}">
                <p14:modId xmlns:p14="http://schemas.microsoft.com/office/powerpoint/2010/main" val="2342497814"/>
              </p:ext>
            </p:extLst>
          </p:nvPr>
        </p:nvGraphicFramePr>
        <p:xfrm>
          <a:off x="1752600" y="3733800"/>
          <a:ext cx="5181600" cy="1889757"/>
        </p:xfrm>
        <a:graphic>
          <a:graphicData uri="http://schemas.openxmlformats.org/drawingml/2006/table">
            <a:tbl>
              <a:tblPr>
                <a:tableStyleId>{5C22544A-7EE6-4342-B048-85BDC9FD1C3A}</a:tableStyleId>
              </a:tblPr>
              <a:tblGrid>
                <a:gridCol w="1366170"/>
                <a:gridCol w="923088"/>
                <a:gridCol w="923088"/>
                <a:gridCol w="984627"/>
                <a:gridCol w="984627"/>
              </a:tblGrid>
              <a:tr h="343593">
                <a:tc>
                  <a:txBody>
                    <a:bodyPr/>
                    <a:lstStyle/>
                    <a:p>
                      <a:pPr marL="0" marR="0">
                        <a:spcBef>
                          <a:spcPts val="0"/>
                        </a:spcBef>
                        <a:spcAft>
                          <a:spcPts val="0"/>
                        </a:spcAft>
                        <a:tabLst>
                          <a:tab pos="2637155" algn="ctr"/>
                          <a:tab pos="5274310" algn="r"/>
                          <a:tab pos="457200" algn="l"/>
                        </a:tabLst>
                      </a:pPr>
                      <a:r>
                        <a:rPr lang="en-US" sz="900" dirty="0">
                          <a:effectLst/>
                        </a:rPr>
                        <a:t>Independent Variables</a:t>
                      </a:r>
                      <a:endParaRPr lang="en-US" sz="1200" dirty="0">
                        <a:effectLst/>
                        <a:latin typeface="Times New Roman"/>
                        <a:ea typeface="Times New Roman"/>
                      </a:endParaRPr>
                    </a:p>
                  </a:txBody>
                  <a:tcPr marL="68580" marR="68580" marT="0" marB="0" anchor="ctr"/>
                </a:tc>
                <a:tc gridSpan="2">
                  <a:txBody>
                    <a:bodyPr/>
                    <a:lstStyle/>
                    <a:p>
                      <a:pPr marL="0" marR="0" algn="ctr" fontAlgn="base" hangingPunct="0">
                        <a:spcBef>
                          <a:spcPts val="0"/>
                        </a:spcBef>
                        <a:spcAft>
                          <a:spcPts val="0"/>
                        </a:spcAft>
                        <a:tabLst>
                          <a:tab pos="2637155" algn="ctr"/>
                          <a:tab pos="5274310" algn="r"/>
                          <a:tab pos="180340" algn="l"/>
                          <a:tab pos="3420745" algn="l"/>
                        </a:tabLst>
                      </a:pPr>
                      <a:r>
                        <a:rPr lang="en-US" sz="900">
                          <a:effectLst/>
                        </a:rPr>
                        <a:t>Home Use</a:t>
                      </a:r>
                      <a:endParaRPr lang="en-US" sz="1200">
                        <a:effectLst/>
                        <a:latin typeface="Times New Roman"/>
                        <a:ea typeface="Times New Roman"/>
                      </a:endParaRPr>
                    </a:p>
                  </a:txBody>
                  <a:tcPr marL="68580" marR="68580" marT="0" marB="0" anchor="ctr"/>
                </a:tc>
                <a:tc hMerge="1">
                  <a:txBody>
                    <a:bodyPr/>
                    <a:lstStyle/>
                    <a:p>
                      <a:endParaRPr lang="en-US"/>
                    </a:p>
                  </a:txBody>
                  <a:tcPr/>
                </a:tc>
                <a:tc gridSpan="2">
                  <a:txBody>
                    <a:bodyPr/>
                    <a:lstStyle/>
                    <a:p>
                      <a:pPr marL="0" marR="0" algn="ctr" fontAlgn="base" hangingPunct="0">
                        <a:spcBef>
                          <a:spcPts val="0"/>
                        </a:spcBef>
                        <a:spcAft>
                          <a:spcPts val="0"/>
                        </a:spcAft>
                        <a:tabLst>
                          <a:tab pos="2637155" algn="ctr"/>
                          <a:tab pos="5274310" algn="r"/>
                          <a:tab pos="180340" algn="l"/>
                          <a:tab pos="3420745" algn="l"/>
                        </a:tabLst>
                      </a:pPr>
                      <a:r>
                        <a:rPr lang="en-US" sz="900">
                          <a:effectLst/>
                        </a:rPr>
                        <a:t>Office Use</a:t>
                      </a:r>
                      <a:endParaRPr lang="en-US" sz="1200">
                        <a:effectLst/>
                        <a:latin typeface="Times New Roman"/>
                        <a:ea typeface="Times New Roman"/>
                      </a:endParaRPr>
                    </a:p>
                  </a:txBody>
                  <a:tcPr marL="68580" marR="68580" marT="0" marB="0" anchor="ctr"/>
                </a:tc>
                <a:tc hMerge="1">
                  <a:txBody>
                    <a:bodyPr/>
                    <a:lstStyle/>
                    <a:p>
                      <a:endParaRPr lang="en-US"/>
                    </a:p>
                  </a:txBody>
                  <a:tcPr/>
                </a:tc>
              </a:tr>
              <a:tr h="171796">
                <a:tc>
                  <a:txBody>
                    <a:bodyPr/>
                    <a:lstStyle/>
                    <a:p>
                      <a:pPr marL="0" marR="0">
                        <a:spcBef>
                          <a:spcPts val="0"/>
                        </a:spcBef>
                        <a:spcAft>
                          <a:spcPts val="0"/>
                        </a:spcAft>
                      </a:pPr>
                      <a:r>
                        <a:rPr lang="en-US" sz="900">
                          <a:effectLst/>
                        </a:rPr>
                        <a:t> </a:t>
                      </a:r>
                      <a:endParaRPr lang="en-US" sz="1200">
                        <a:effectLst/>
                        <a:latin typeface="Times New Roman"/>
                        <a:ea typeface="Times New Roman"/>
                      </a:endParaRPr>
                    </a:p>
                  </a:txBody>
                  <a:tcPr marL="68580" marR="68580" marT="0" marB="0"/>
                </a:tc>
                <a:tc>
                  <a:txBody>
                    <a:bodyPr/>
                    <a:lstStyle/>
                    <a:p>
                      <a:pPr marL="0" marR="0" fontAlgn="base" hangingPunct="0">
                        <a:spcBef>
                          <a:spcPts val="0"/>
                        </a:spcBef>
                        <a:spcAft>
                          <a:spcPts val="0"/>
                        </a:spcAft>
                        <a:tabLst>
                          <a:tab pos="2637155" algn="ctr"/>
                          <a:tab pos="5274310" algn="r"/>
                          <a:tab pos="180340" algn="l"/>
                          <a:tab pos="3420745" algn="l"/>
                        </a:tabLst>
                      </a:pPr>
                      <a:r>
                        <a:rPr lang="en-US" sz="900">
                          <a:effectLst/>
                        </a:rPr>
                        <a:t>Coefficient </a:t>
                      </a:r>
                      <a:endParaRPr lang="en-US" sz="1200">
                        <a:effectLst/>
                        <a:latin typeface="Times New Roman"/>
                        <a:ea typeface="Times New Roman"/>
                      </a:endParaRPr>
                    </a:p>
                  </a:txBody>
                  <a:tcPr marL="68580" marR="68580" marT="0" marB="0" anchor="ctr"/>
                </a:tc>
                <a:tc>
                  <a:txBody>
                    <a:bodyPr/>
                    <a:lstStyle/>
                    <a:p>
                      <a:pPr marL="0" marR="0" fontAlgn="base" hangingPunct="0">
                        <a:spcBef>
                          <a:spcPts val="0"/>
                        </a:spcBef>
                        <a:spcAft>
                          <a:spcPts val="0"/>
                        </a:spcAft>
                        <a:tabLst>
                          <a:tab pos="2637155" algn="ctr"/>
                          <a:tab pos="5274310" algn="r"/>
                          <a:tab pos="180340" algn="l"/>
                          <a:tab pos="3420745" algn="l"/>
                        </a:tabLst>
                      </a:pPr>
                      <a:r>
                        <a:rPr lang="en-US" sz="900">
                          <a:effectLst/>
                        </a:rPr>
                        <a:t>T-Statistic</a:t>
                      </a:r>
                      <a:endParaRPr lang="en-US" sz="1200">
                        <a:effectLst/>
                        <a:latin typeface="Times New Roman"/>
                        <a:ea typeface="Times New Roman"/>
                      </a:endParaRPr>
                    </a:p>
                  </a:txBody>
                  <a:tcPr marL="68580" marR="68580" marT="0" marB="0" anchor="ctr"/>
                </a:tc>
                <a:tc>
                  <a:txBody>
                    <a:bodyPr/>
                    <a:lstStyle/>
                    <a:p>
                      <a:pPr marL="0" marR="0" fontAlgn="base" hangingPunct="0">
                        <a:spcBef>
                          <a:spcPts val="0"/>
                        </a:spcBef>
                        <a:spcAft>
                          <a:spcPts val="0"/>
                        </a:spcAft>
                        <a:tabLst>
                          <a:tab pos="2637155" algn="ctr"/>
                          <a:tab pos="5274310" algn="r"/>
                          <a:tab pos="180340" algn="l"/>
                          <a:tab pos="3420745" algn="l"/>
                        </a:tabLst>
                      </a:pPr>
                      <a:r>
                        <a:rPr lang="en-US" sz="900">
                          <a:effectLst/>
                        </a:rPr>
                        <a:t>Coefficient </a:t>
                      </a:r>
                      <a:endParaRPr lang="en-US" sz="1200">
                        <a:effectLst/>
                        <a:latin typeface="Times New Roman"/>
                        <a:ea typeface="Times New Roman"/>
                      </a:endParaRPr>
                    </a:p>
                  </a:txBody>
                  <a:tcPr marL="68580" marR="68580" marT="0" marB="0" anchor="ctr"/>
                </a:tc>
                <a:tc>
                  <a:txBody>
                    <a:bodyPr/>
                    <a:lstStyle/>
                    <a:p>
                      <a:pPr marL="0" marR="0" fontAlgn="base" hangingPunct="0">
                        <a:spcBef>
                          <a:spcPts val="0"/>
                        </a:spcBef>
                        <a:spcAft>
                          <a:spcPts val="0"/>
                        </a:spcAft>
                        <a:tabLst>
                          <a:tab pos="2637155" algn="ctr"/>
                          <a:tab pos="5274310" algn="r"/>
                          <a:tab pos="180340" algn="l"/>
                          <a:tab pos="3420745" algn="l"/>
                        </a:tabLst>
                      </a:pPr>
                      <a:r>
                        <a:rPr lang="en-US" sz="900">
                          <a:effectLst/>
                        </a:rPr>
                        <a:t>T-Statistic</a:t>
                      </a:r>
                      <a:endParaRPr lang="en-US" sz="1200">
                        <a:effectLst/>
                        <a:latin typeface="Times New Roman"/>
                        <a:ea typeface="Times New Roman"/>
                      </a:endParaRPr>
                    </a:p>
                  </a:txBody>
                  <a:tcPr marL="68580" marR="68580" marT="0" marB="0" anchor="ctr"/>
                </a:tc>
              </a:tr>
              <a:tr h="171796">
                <a:tc>
                  <a:txBody>
                    <a:bodyPr/>
                    <a:lstStyle/>
                    <a:p>
                      <a:pPr marL="0" marR="0">
                        <a:spcBef>
                          <a:spcPts val="0"/>
                        </a:spcBef>
                        <a:spcAft>
                          <a:spcPts val="0"/>
                        </a:spcAft>
                      </a:pPr>
                      <a:r>
                        <a:rPr lang="en-US" sz="900">
                          <a:effectLst/>
                        </a:rPr>
                        <a:t>Constant </a:t>
                      </a:r>
                      <a:endParaRPr lang="en-US" sz="1200">
                        <a:effectLst/>
                        <a:latin typeface="Times New Roman"/>
                        <a:ea typeface="Times New Roman"/>
                      </a:endParaRPr>
                    </a:p>
                  </a:txBody>
                  <a:tcPr marL="68580" marR="68580" marT="0" marB="0"/>
                </a:tc>
                <a:tc>
                  <a:txBody>
                    <a:bodyPr/>
                    <a:lstStyle/>
                    <a:p>
                      <a:pPr marL="0" marR="0" algn="ctr">
                        <a:spcBef>
                          <a:spcPts val="0"/>
                        </a:spcBef>
                        <a:spcAft>
                          <a:spcPts val="0"/>
                        </a:spcAft>
                      </a:pPr>
                      <a:r>
                        <a:rPr lang="en-US" sz="900">
                          <a:effectLst/>
                        </a:rPr>
                        <a:t>0.08</a:t>
                      </a:r>
                      <a:endParaRPr lang="en-US" sz="1200">
                        <a:effectLst/>
                        <a:latin typeface="Times New Roman"/>
                        <a:ea typeface="Times New Roman"/>
                      </a:endParaRPr>
                    </a:p>
                  </a:txBody>
                  <a:tcPr marL="68580" marR="68580" marT="0" marB="0" anchor="b"/>
                </a:tc>
                <a:tc>
                  <a:txBody>
                    <a:bodyPr/>
                    <a:lstStyle/>
                    <a:p>
                      <a:pPr marL="0" marR="0" algn="ctr">
                        <a:spcBef>
                          <a:spcPts val="0"/>
                        </a:spcBef>
                        <a:spcAft>
                          <a:spcPts val="0"/>
                        </a:spcAft>
                      </a:pPr>
                      <a:r>
                        <a:rPr lang="en-US" sz="900">
                          <a:effectLst/>
                        </a:rPr>
                        <a:t>25.33</a:t>
                      </a:r>
                      <a:endParaRPr lang="en-US" sz="1200">
                        <a:effectLst/>
                        <a:latin typeface="Times New Roman"/>
                        <a:ea typeface="Times New Roman"/>
                      </a:endParaRPr>
                    </a:p>
                  </a:txBody>
                  <a:tcPr marL="68580" marR="68580" marT="0" marB="0" anchor="b"/>
                </a:tc>
                <a:tc>
                  <a:txBody>
                    <a:bodyPr/>
                    <a:lstStyle/>
                    <a:p>
                      <a:pPr marL="0" marR="0" algn="ctr">
                        <a:spcBef>
                          <a:spcPts val="0"/>
                        </a:spcBef>
                        <a:spcAft>
                          <a:spcPts val="0"/>
                        </a:spcAft>
                      </a:pPr>
                      <a:r>
                        <a:rPr lang="en-US" sz="900">
                          <a:effectLst/>
                        </a:rPr>
                        <a:t>-0.12</a:t>
                      </a:r>
                      <a:endParaRPr lang="en-US" sz="1200">
                        <a:effectLst/>
                        <a:latin typeface="Times New Roman"/>
                        <a:ea typeface="Times New Roman"/>
                      </a:endParaRPr>
                    </a:p>
                  </a:txBody>
                  <a:tcPr marL="68580" marR="68580" marT="0" marB="0"/>
                </a:tc>
                <a:tc>
                  <a:txBody>
                    <a:bodyPr/>
                    <a:lstStyle/>
                    <a:p>
                      <a:pPr marL="0" marR="0" algn="ctr">
                        <a:spcBef>
                          <a:spcPts val="0"/>
                        </a:spcBef>
                        <a:spcAft>
                          <a:spcPts val="0"/>
                        </a:spcAft>
                      </a:pPr>
                      <a:r>
                        <a:rPr lang="en-US" sz="900">
                          <a:effectLst/>
                        </a:rPr>
                        <a:t>-33.15</a:t>
                      </a:r>
                      <a:endParaRPr lang="en-US" sz="1200">
                        <a:effectLst/>
                        <a:latin typeface="Times New Roman"/>
                        <a:ea typeface="Times New Roman"/>
                      </a:endParaRPr>
                    </a:p>
                  </a:txBody>
                  <a:tcPr marL="68580" marR="68580" marT="0" marB="0"/>
                </a:tc>
              </a:tr>
              <a:tr h="171796">
                <a:tc>
                  <a:txBody>
                    <a:bodyPr/>
                    <a:lstStyle/>
                    <a:p>
                      <a:pPr marL="0" marR="0">
                        <a:spcBef>
                          <a:spcPts val="0"/>
                        </a:spcBef>
                        <a:spcAft>
                          <a:spcPts val="0"/>
                        </a:spcAft>
                      </a:pPr>
                      <a:r>
                        <a:rPr lang="en-US" sz="900">
                          <a:effectLst/>
                        </a:rPr>
                        <a:t>INCOME</a:t>
                      </a:r>
                      <a:endParaRPr lang="en-US" sz="1200">
                        <a:effectLst/>
                        <a:latin typeface="Times New Roman"/>
                        <a:ea typeface="Times New Roman"/>
                      </a:endParaRPr>
                    </a:p>
                  </a:txBody>
                  <a:tcPr marL="68580" marR="68580" marT="0" marB="0"/>
                </a:tc>
                <a:tc>
                  <a:txBody>
                    <a:bodyPr/>
                    <a:lstStyle/>
                    <a:p>
                      <a:pPr marL="0" marR="0" algn="ctr">
                        <a:spcBef>
                          <a:spcPts val="0"/>
                        </a:spcBef>
                        <a:spcAft>
                          <a:spcPts val="0"/>
                        </a:spcAft>
                      </a:pPr>
                      <a:r>
                        <a:rPr lang="en-US" sz="900">
                          <a:effectLst/>
                        </a:rPr>
                        <a:t>0.0043</a:t>
                      </a:r>
                      <a:endParaRPr lang="en-US" sz="1200">
                        <a:effectLst/>
                        <a:latin typeface="Times New Roman"/>
                        <a:ea typeface="Times New Roman"/>
                      </a:endParaRPr>
                    </a:p>
                  </a:txBody>
                  <a:tcPr marL="68580" marR="68580" marT="0" marB="0" anchor="b"/>
                </a:tc>
                <a:tc>
                  <a:txBody>
                    <a:bodyPr/>
                    <a:lstStyle/>
                    <a:p>
                      <a:pPr marL="0" marR="0" algn="ctr">
                        <a:spcBef>
                          <a:spcPts val="0"/>
                        </a:spcBef>
                        <a:spcAft>
                          <a:spcPts val="0"/>
                        </a:spcAft>
                      </a:pPr>
                      <a:r>
                        <a:rPr lang="en-US" sz="900">
                          <a:effectLst/>
                        </a:rPr>
                        <a:t>16.84</a:t>
                      </a:r>
                      <a:endParaRPr lang="en-US" sz="1200">
                        <a:effectLst/>
                        <a:latin typeface="Times New Roman"/>
                        <a:ea typeface="Times New Roman"/>
                      </a:endParaRPr>
                    </a:p>
                  </a:txBody>
                  <a:tcPr marL="68580" marR="68580" marT="0" marB="0" anchor="b"/>
                </a:tc>
                <a:tc>
                  <a:txBody>
                    <a:bodyPr/>
                    <a:lstStyle/>
                    <a:p>
                      <a:pPr marL="0" marR="0" algn="ctr">
                        <a:spcBef>
                          <a:spcPts val="0"/>
                        </a:spcBef>
                        <a:spcAft>
                          <a:spcPts val="0"/>
                        </a:spcAft>
                      </a:pPr>
                      <a:r>
                        <a:rPr lang="en-US" sz="900">
                          <a:effectLst/>
                        </a:rPr>
                        <a:t>0.013</a:t>
                      </a:r>
                      <a:endParaRPr lang="en-US" sz="1200">
                        <a:effectLst/>
                        <a:latin typeface="Times New Roman"/>
                        <a:ea typeface="Times New Roman"/>
                      </a:endParaRPr>
                    </a:p>
                  </a:txBody>
                  <a:tcPr marL="68580" marR="68580" marT="0" marB="0"/>
                </a:tc>
                <a:tc>
                  <a:txBody>
                    <a:bodyPr/>
                    <a:lstStyle/>
                    <a:p>
                      <a:pPr marL="0" marR="0" algn="ctr">
                        <a:spcBef>
                          <a:spcPts val="0"/>
                        </a:spcBef>
                        <a:spcAft>
                          <a:spcPts val="0"/>
                        </a:spcAft>
                      </a:pPr>
                      <a:r>
                        <a:rPr lang="en-US" sz="900">
                          <a:effectLst/>
                        </a:rPr>
                        <a:t>43.67</a:t>
                      </a:r>
                      <a:endParaRPr lang="en-US" sz="1200">
                        <a:effectLst/>
                        <a:latin typeface="Times New Roman"/>
                        <a:ea typeface="Times New Roman"/>
                      </a:endParaRPr>
                    </a:p>
                  </a:txBody>
                  <a:tcPr marL="68580" marR="68580" marT="0" marB="0"/>
                </a:tc>
              </a:tr>
              <a:tr h="171796">
                <a:tc>
                  <a:txBody>
                    <a:bodyPr/>
                    <a:lstStyle/>
                    <a:p>
                      <a:pPr marL="0" marR="0">
                        <a:spcBef>
                          <a:spcPts val="0"/>
                        </a:spcBef>
                        <a:spcAft>
                          <a:spcPts val="0"/>
                        </a:spcAft>
                      </a:pPr>
                      <a:r>
                        <a:rPr lang="en-US" sz="900">
                          <a:effectLst/>
                        </a:rPr>
                        <a:t>EDUCATION</a:t>
                      </a:r>
                      <a:endParaRPr lang="en-US" sz="1200">
                        <a:effectLst/>
                        <a:latin typeface="Times New Roman"/>
                        <a:ea typeface="Times New Roman"/>
                      </a:endParaRPr>
                    </a:p>
                  </a:txBody>
                  <a:tcPr marL="68580" marR="68580" marT="0" marB="0"/>
                </a:tc>
                <a:tc>
                  <a:txBody>
                    <a:bodyPr/>
                    <a:lstStyle/>
                    <a:p>
                      <a:pPr marL="0" marR="0" algn="ctr">
                        <a:spcBef>
                          <a:spcPts val="0"/>
                        </a:spcBef>
                        <a:spcAft>
                          <a:spcPts val="0"/>
                        </a:spcAft>
                      </a:pPr>
                      <a:r>
                        <a:rPr lang="en-US" sz="900">
                          <a:effectLst/>
                        </a:rPr>
                        <a:t>0.013</a:t>
                      </a:r>
                      <a:endParaRPr lang="en-US" sz="1200">
                        <a:effectLst/>
                        <a:latin typeface="Times New Roman"/>
                        <a:ea typeface="Times New Roman"/>
                      </a:endParaRPr>
                    </a:p>
                  </a:txBody>
                  <a:tcPr marL="68580" marR="68580" marT="0" marB="0" anchor="b"/>
                </a:tc>
                <a:tc>
                  <a:txBody>
                    <a:bodyPr/>
                    <a:lstStyle/>
                    <a:p>
                      <a:pPr marL="0" marR="0" algn="ctr">
                        <a:spcBef>
                          <a:spcPts val="0"/>
                        </a:spcBef>
                        <a:spcAft>
                          <a:spcPts val="0"/>
                        </a:spcAft>
                      </a:pPr>
                      <a:r>
                        <a:rPr lang="en-US" sz="900">
                          <a:effectLst/>
                        </a:rPr>
                        <a:t>160.42</a:t>
                      </a:r>
                      <a:endParaRPr lang="en-US" sz="1200">
                        <a:effectLst/>
                        <a:latin typeface="Times New Roman"/>
                        <a:ea typeface="Times New Roman"/>
                      </a:endParaRPr>
                    </a:p>
                  </a:txBody>
                  <a:tcPr marL="68580" marR="68580" marT="0" marB="0" anchor="b"/>
                </a:tc>
                <a:tc>
                  <a:txBody>
                    <a:bodyPr/>
                    <a:lstStyle/>
                    <a:p>
                      <a:pPr marL="0" marR="0" algn="ctr">
                        <a:spcBef>
                          <a:spcPts val="0"/>
                        </a:spcBef>
                        <a:spcAft>
                          <a:spcPts val="0"/>
                        </a:spcAft>
                      </a:pPr>
                      <a:r>
                        <a:rPr lang="en-US" sz="900">
                          <a:effectLst/>
                        </a:rPr>
                        <a:t>0.014</a:t>
                      </a:r>
                      <a:endParaRPr lang="en-US" sz="1200">
                        <a:effectLst/>
                        <a:latin typeface="Times New Roman"/>
                        <a:ea typeface="Times New Roman"/>
                      </a:endParaRPr>
                    </a:p>
                  </a:txBody>
                  <a:tcPr marL="68580" marR="68580" marT="0" marB="0"/>
                </a:tc>
                <a:tc>
                  <a:txBody>
                    <a:bodyPr/>
                    <a:lstStyle/>
                    <a:p>
                      <a:pPr marL="0" marR="0" algn="ctr">
                        <a:spcBef>
                          <a:spcPts val="0"/>
                        </a:spcBef>
                        <a:spcAft>
                          <a:spcPts val="0"/>
                        </a:spcAft>
                      </a:pPr>
                      <a:r>
                        <a:rPr lang="en-US" sz="900">
                          <a:effectLst/>
                        </a:rPr>
                        <a:t>147.54</a:t>
                      </a:r>
                      <a:endParaRPr lang="en-US" sz="1200">
                        <a:effectLst/>
                        <a:latin typeface="Times New Roman"/>
                        <a:ea typeface="Times New Roman"/>
                      </a:endParaRPr>
                    </a:p>
                  </a:txBody>
                  <a:tcPr marL="68580" marR="68580" marT="0" marB="0"/>
                </a:tc>
              </a:tr>
              <a:tr h="171796">
                <a:tc>
                  <a:txBody>
                    <a:bodyPr/>
                    <a:lstStyle/>
                    <a:p>
                      <a:pPr marL="0" marR="0">
                        <a:spcBef>
                          <a:spcPts val="0"/>
                        </a:spcBef>
                        <a:spcAft>
                          <a:spcPts val="0"/>
                        </a:spcAft>
                      </a:pPr>
                      <a:r>
                        <a:rPr lang="en-US" sz="900">
                          <a:effectLst/>
                        </a:rPr>
                        <a:t>COMPUTERS</a:t>
                      </a:r>
                      <a:endParaRPr lang="en-US" sz="1200">
                        <a:effectLst/>
                        <a:latin typeface="Times New Roman"/>
                        <a:ea typeface="Times New Roman"/>
                      </a:endParaRPr>
                    </a:p>
                  </a:txBody>
                  <a:tcPr marL="68580" marR="68580" marT="0" marB="0"/>
                </a:tc>
                <a:tc>
                  <a:txBody>
                    <a:bodyPr/>
                    <a:lstStyle/>
                    <a:p>
                      <a:pPr marL="0" marR="0" algn="ctr">
                        <a:spcBef>
                          <a:spcPts val="0"/>
                        </a:spcBef>
                        <a:spcAft>
                          <a:spcPts val="0"/>
                        </a:spcAft>
                      </a:pPr>
                      <a:r>
                        <a:rPr lang="en-US" sz="900">
                          <a:effectLst/>
                        </a:rPr>
                        <a:t>0.18</a:t>
                      </a:r>
                      <a:endParaRPr lang="en-US" sz="1200">
                        <a:effectLst/>
                        <a:latin typeface="Times New Roman"/>
                        <a:ea typeface="Times New Roman"/>
                      </a:endParaRPr>
                    </a:p>
                  </a:txBody>
                  <a:tcPr marL="68580" marR="68580" marT="0" marB="0" anchor="b"/>
                </a:tc>
                <a:tc>
                  <a:txBody>
                    <a:bodyPr/>
                    <a:lstStyle/>
                    <a:p>
                      <a:pPr marL="0" marR="0" algn="ctr">
                        <a:spcBef>
                          <a:spcPts val="0"/>
                        </a:spcBef>
                        <a:spcAft>
                          <a:spcPts val="0"/>
                        </a:spcAft>
                      </a:pPr>
                      <a:r>
                        <a:rPr lang="en-US" sz="900">
                          <a:effectLst/>
                        </a:rPr>
                        <a:t>148.98</a:t>
                      </a:r>
                      <a:endParaRPr lang="en-US" sz="1200">
                        <a:effectLst/>
                        <a:latin typeface="Times New Roman"/>
                        <a:ea typeface="Times New Roman"/>
                      </a:endParaRPr>
                    </a:p>
                  </a:txBody>
                  <a:tcPr marL="68580" marR="68580" marT="0" marB="0" anchor="b"/>
                </a:tc>
                <a:tc>
                  <a:txBody>
                    <a:bodyPr/>
                    <a:lstStyle/>
                    <a:p>
                      <a:pPr marL="0" marR="0" algn="ctr">
                        <a:spcBef>
                          <a:spcPts val="0"/>
                        </a:spcBef>
                        <a:spcAft>
                          <a:spcPts val="0"/>
                        </a:spcAft>
                      </a:pPr>
                      <a:r>
                        <a:rPr lang="en-US" sz="900">
                          <a:effectLst/>
                        </a:rPr>
                        <a:t>0.078</a:t>
                      </a:r>
                      <a:endParaRPr lang="en-US" sz="1200">
                        <a:effectLst/>
                        <a:latin typeface="Times New Roman"/>
                        <a:ea typeface="Times New Roman"/>
                      </a:endParaRPr>
                    </a:p>
                  </a:txBody>
                  <a:tcPr marL="68580" marR="68580" marT="0" marB="0"/>
                </a:tc>
                <a:tc>
                  <a:txBody>
                    <a:bodyPr/>
                    <a:lstStyle/>
                    <a:p>
                      <a:pPr marL="0" marR="0" algn="ctr">
                        <a:spcBef>
                          <a:spcPts val="0"/>
                        </a:spcBef>
                        <a:spcAft>
                          <a:spcPts val="0"/>
                        </a:spcAft>
                      </a:pPr>
                      <a:r>
                        <a:rPr lang="en-US" sz="900">
                          <a:effectLst/>
                        </a:rPr>
                        <a:t>56.07</a:t>
                      </a:r>
                      <a:endParaRPr lang="en-US" sz="1200">
                        <a:effectLst/>
                        <a:latin typeface="Times New Roman"/>
                        <a:ea typeface="Times New Roman"/>
                      </a:endParaRPr>
                    </a:p>
                  </a:txBody>
                  <a:tcPr marL="68580" marR="68580" marT="0" marB="0"/>
                </a:tc>
              </a:tr>
              <a:tr h="171796">
                <a:tc>
                  <a:txBody>
                    <a:bodyPr/>
                    <a:lstStyle/>
                    <a:p>
                      <a:pPr marL="0" marR="0">
                        <a:spcBef>
                          <a:spcPts val="0"/>
                        </a:spcBef>
                        <a:spcAft>
                          <a:spcPts val="0"/>
                        </a:spcAft>
                      </a:pPr>
                      <a:r>
                        <a:rPr lang="en-US" sz="900">
                          <a:effectLst/>
                        </a:rPr>
                        <a:t>SCHOOL</a:t>
                      </a:r>
                      <a:endParaRPr lang="en-US" sz="1200">
                        <a:effectLst/>
                        <a:latin typeface="Times New Roman"/>
                        <a:ea typeface="Times New Roman"/>
                      </a:endParaRPr>
                    </a:p>
                  </a:txBody>
                  <a:tcPr marL="68580" marR="68580" marT="0" marB="0"/>
                </a:tc>
                <a:tc>
                  <a:txBody>
                    <a:bodyPr/>
                    <a:lstStyle/>
                    <a:p>
                      <a:pPr marL="0" marR="0" algn="ctr">
                        <a:spcBef>
                          <a:spcPts val="0"/>
                        </a:spcBef>
                        <a:spcAft>
                          <a:spcPts val="0"/>
                        </a:spcAft>
                      </a:pPr>
                      <a:r>
                        <a:rPr lang="en-US" sz="900">
                          <a:effectLst/>
                        </a:rPr>
                        <a:t>0.037</a:t>
                      </a:r>
                      <a:endParaRPr lang="en-US" sz="1200">
                        <a:effectLst/>
                        <a:latin typeface="Times New Roman"/>
                        <a:ea typeface="Times New Roman"/>
                      </a:endParaRPr>
                    </a:p>
                  </a:txBody>
                  <a:tcPr marL="68580" marR="68580" marT="0" marB="0" anchor="b"/>
                </a:tc>
                <a:tc>
                  <a:txBody>
                    <a:bodyPr/>
                    <a:lstStyle/>
                    <a:p>
                      <a:pPr marL="0" marR="0" algn="ctr">
                        <a:spcBef>
                          <a:spcPts val="0"/>
                        </a:spcBef>
                        <a:spcAft>
                          <a:spcPts val="0"/>
                        </a:spcAft>
                      </a:pPr>
                      <a:r>
                        <a:rPr lang="en-US" sz="900">
                          <a:effectLst/>
                        </a:rPr>
                        <a:t>22.69</a:t>
                      </a:r>
                      <a:endParaRPr lang="en-US" sz="1200">
                        <a:effectLst/>
                        <a:latin typeface="Times New Roman"/>
                        <a:ea typeface="Times New Roman"/>
                      </a:endParaRPr>
                    </a:p>
                  </a:txBody>
                  <a:tcPr marL="68580" marR="68580" marT="0" marB="0" anchor="b"/>
                </a:tc>
                <a:tc>
                  <a:txBody>
                    <a:bodyPr/>
                    <a:lstStyle/>
                    <a:p>
                      <a:pPr marL="0" marR="0" algn="ctr">
                        <a:spcBef>
                          <a:spcPts val="0"/>
                        </a:spcBef>
                        <a:spcAft>
                          <a:spcPts val="0"/>
                        </a:spcAft>
                      </a:pPr>
                      <a:r>
                        <a:rPr lang="en-US" sz="900">
                          <a:effectLst/>
                        </a:rPr>
                        <a:t>-0.09</a:t>
                      </a:r>
                      <a:endParaRPr lang="en-US" sz="1200">
                        <a:effectLst/>
                        <a:latin typeface="Times New Roman"/>
                        <a:ea typeface="Times New Roman"/>
                      </a:endParaRPr>
                    </a:p>
                  </a:txBody>
                  <a:tcPr marL="68580" marR="68580" marT="0" marB="0"/>
                </a:tc>
                <a:tc>
                  <a:txBody>
                    <a:bodyPr/>
                    <a:lstStyle/>
                    <a:p>
                      <a:pPr marL="0" marR="0" algn="ctr">
                        <a:spcBef>
                          <a:spcPts val="0"/>
                        </a:spcBef>
                        <a:spcAft>
                          <a:spcPts val="0"/>
                        </a:spcAft>
                      </a:pPr>
                      <a:r>
                        <a:rPr lang="en-US" sz="900">
                          <a:effectLst/>
                        </a:rPr>
                        <a:t>-49.32</a:t>
                      </a:r>
                      <a:endParaRPr lang="en-US" sz="1200">
                        <a:effectLst/>
                        <a:latin typeface="Times New Roman"/>
                        <a:ea typeface="Times New Roman"/>
                      </a:endParaRPr>
                    </a:p>
                  </a:txBody>
                  <a:tcPr marL="68580" marR="68580" marT="0" marB="0"/>
                </a:tc>
              </a:tr>
              <a:tr h="171796">
                <a:tc>
                  <a:txBody>
                    <a:bodyPr/>
                    <a:lstStyle/>
                    <a:p>
                      <a:pPr marL="0" marR="0">
                        <a:spcBef>
                          <a:spcPts val="0"/>
                        </a:spcBef>
                        <a:spcAft>
                          <a:spcPts val="0"/>
                        </a:spcAft>
                      </a:pPr>
                      <a:r>
                        <a:rPr lang="en-US" sz="900">
                          <a:effectLst/>
                        </a:rPr>
                        <a:t>INTERNET </a:t>
                      </a:r>
                      <a:endParaRPr lang="en-US" sz="1200">
                        <a:effectLst/>
                        <a:latin typeface="Times New Roman"/>
                        <a:ea typeface="Times New Roman"/>
                      </a:endParaRPr>
                    </a:p>
                  </a:txBody>
                  <a:tcPr marL="68580" marR="68580" marT="0" marB="0"/>
                </a:tc>
                <a:tc>
                  <a:txBody>
                    <a:bodyPr/>
                    <a:lstStyle/>
                    <a:p>
                      <a:pPr marL="0" marR="0" algn="ctr">
                        <a:spcBef>
                          <a:spcPts val="0"/>
                        </a:spcBef>
                        <a:spcAft>
                          <a:spcPts val="0"/>
                        </a:spcAft>
                      </a:pPr>
                      <a:r>
                        <a:rPr lang="en-US" sz="900">
                          <a:effectLst/>
                        </a:rPr>
                        <a:t>-0.16</a:t>
                      </a:r>
                      <a:endParaRPr lang="en-US" sz="1200">
                        <a:effectLst/>
                        <a:latin typeface="Times New Roman"/>
                        <a:ea typeface="Times New Roman"/>
                      </a:endParaRPr>
                    </a:p>
                  </a:txBody>
                  <a:tcPr marL="68580" marR="68580" marT="0" marB="0" anchor="b"/>
                </a:tc>
                <a:tc>
                  <a:txBody>
                    <a:bodyPr/>
                    <a:lstStyle/>
                    <a:p>
                      <a:pPr marL="0" marR="0" algn="ctr">
                        <a:spcBef>
                          <a:spcPts val="0"/>
                        </a:spcBef>
                        <a:spcAft>
                          <a:spcPts val="0"/>
                        </a:spcAft>
                      </a:pPr>
                      <a:r>
                        <a:rPr lang="en-US" sz="900">
                          <a:effectLst/>
                        </a:rPr>
                        <a:t>-89.16</a:t>
                      </a:r>
                      <a:endParaRPr lang="en-US" sz="1200">
                        <a:effectLst/>
                        <a:latin typeface="Times New Roman"/>
                        <a:ea typeface="Times New Roman"/>
                      </a:endParaRPr>
                    </a:p>
                  </a:txBody>
                  <a:tcPr marL="68580" marR="68580" marT="0" marB="0" anchor="b"/>
                </a:tc>
                <a:tc>
                  <a:txBody>
                    <a:bodyPr/>
                    <a:lstStyle/>
                    <a:p>
                      <a:pPr marL="0" marR="0" algn="ctr">
                        <a:spcBef>
                          <a:spcPts val="0"/>
                        </a:spcBef>
                        <a:spcAft>
                          <a:spcPts val="0"/>
                        </a:spcAft>
                      </a:pPr>
                      <a:r>
                        <a:rPr lang="en-US" sz="900">
                          <a:effectLst/>
                        </a:rPr>
                        <a:t>-0.11</a:t>
                      </a:r>
                      <a:endParaRPr lang="en-US" sz="1200">
                        <a:effectLst/>
                        <a:latin typeface="Times New Roman"/>
                        <a:ea typeface="Times New Roman"/>
                      </a:endParaRPr>
                    </a:p>
                  </a:txBody>
                  <a:tcPr marL="68580" marR="68580" marT="0" marB="0"/>
                </a:tc>
                <a:tc>
                  <a:txBody>
                    <a:bodyPr/>
                    <a:lstStyle/>
                    <a:p>
                      <a:pPr marL="0" marR="0" algn="ctr">
                        <a:spcBef>
                          <a:spcPts val="0"/>
                        </a:spcBef>
                        <a:spcAft>
                          <a:spcPts val="0"/>
                        </a:spcAft>
                      </a:pPr>
                      <a:r>
                        <a:rPr lang="en-US" sz="900">
                          <a:effectLst/>
                        </a:rPr>
                        <a:t>-55.58</a:t>
                      </a:r>
                      <a:endParaRPr lang="en-US" sz="1200">
                        <a:effectLst/>
                        <a:latin typeface="Times New Roman"/>
                        <a:ea typeface="Times New Roman"/>
                      </a:endParaRPr>
                    </a:p>
                  </a:txBody>
                  <a:tcPr marL="68580" marR="68580" marT="0" marB="0"/>
                </a:tc>
              </a:tr>
              <a:tr h="171796">
                <a:tc>
                  <a:txBody>
                    <a:bodyPr/>
                    <a:lstStyle/>
                    <a:p>
                      <a:pPr marL="0" marR="0">
                        <a:spcBef>
                          <a:spcPts val="0"/>
                        </a:spcBef>
                        <a:spcAft>
                          <a:spcPts val="0"/>
                        </a:spcAft>
                      </a:pPr>
                      <a:r>
                        <a:rPr lang="en-US" sz="900">
                          <a:effectLst/>
                        </a:rPr>
                        <a:t>Number of Obs.</a:t>
                      </a:r>
                      <a:endParaRPr lang="en-US" sz="1200">
                        <a:effectLst/>
                        <a:latin typeface="Times New Roman"/>
                        <a:ea typeface="Times New Roman"/>
                      </a:endParaRPr>
                    </a:p>
                  </a:txBody>
                  <a:tcPr marL="68580" marR="68580" marT="0" marB="0"/>
                </a:tc>
                <a:tc gridSpan="2">
                  <a:txBody>
                    <a:bodyPr/>
                    <a:lstStyle/>
                    <a:p>
                      <a:pPr marL="0" marR="0" algn="ctr">
                        <a:spcBef>
                          <a:spcPts val="0"/>
                        </a:spcBef>
                        <a:spcAft>
                          <a:spcPts val="0"/>
                        </a:spcAft>
                      </a:pPr>
                      <a:r>
                        <a:rPr lang="en-US" sz="900">
                          <a:effectLst/>
                        </a:rPr>
                        <a:t>158,865</a:t>
                      </a:r>
                      <a:endParaRPr lang="en-US" sz="1200">
                        <a:effectLst/>
                        <a:latin typeface="Times New Roman"/>
                        <a:ea typeface="Times New Roman"/>
                      </a:endParaRPr>
                    </a:p>
                  </a:txBody>
                  <a:tcPr marL="68580" marR="68580" marT="0" marB="0" anchor="b"/>
                </a:tc>
                <a:tc hMerge="1">
                  <a:txBody>
                    <a:bodyPr/>
                    <a:lstStyle/>
                    <a:p>
                      <a:endParaRPr lang="en-US"/>
                    </a:p>
                  </a:txBody>
                  <a:tcPr/>
                </a:tc>
                <a:tc gridSpan="2">
                  <a:txBody>
                    <a:bodyPr/>
                    <a:lstStyle/>
                    <a:p>
                      <a:pPr marL="0" marR="0" algn="ctr">
                        <a:spcBef>
                          <a:spcPts val="0"/>
                        </a:spcBef>
                        <a:spcAft>
                          <a:spcPts val="0"/>
                        </a:spcAft>
                      </a:pPr>
                      <a:r>
                        <a:rPr lang="en-US" sz="900">
                          <a:effectLst/>
                        </a:rPr>
                        <a:t>158,865</a:t>
                      </a:r>
                      <a:endParaRPr lang="en-US" sz="1200">
                        <a:effectLst/>
                        <a:latin typeface="Times New Roman"/>
                        <a:ea typeface="Times New Roman"/>
                      </a:endParaRPr>
                    </a:p>
                  </a:txBody>
                  <a:tcPr marL="68580" marR="68580" marT="0" marB="0" anchor="b"/>
                </a:tc>
                <a:tc hMerge="1">
                  <a:txBody>
                    <a:bodyPr/>
                    <a:lstStyle/>
                    <a:p>
                      <a:endParaRPr lang="en-US"/>
                    </a:p>
                  </a:txBody>
                  <a:tcPr/>
                </a:tc>
              </a:tr>
              <a:tr h="171796">
                <a:tc>
                  <a:txBody>
                    <a:bodyPr/>
                    <a:lstStyle/>
                    <a:p>
                      <a:pPr marL="0" marR="0">
                        <a:spcBef>
                          <a:spcPts val="0"/>
                        </a:spcBef>
                        <a:spcAft>
                          <a:spcPts val="0"/>
                        </a:spcAft>
                      </a:pPr>
                      <a:r>
                        <a:rPr lang="en-US" sz="900">
                          <a:effectLst/>
                        </a:rPr>
                        <a:t>Adj. R-squared</a:t>
                      </a:r>
                      <a:endParaRPr lang="en-US" sz="1200">
                        <a:effectLst/>
                        <a:latin typeface="Times New Roman"/>
                        <a:ea typeface="Times New Roman"/>
                      </a:endParaRPr>
                    </a:p>
                  </a:txBody>
                  <a:tcPr marL="68580" marR="68580" marT="0" marB="0"/>
                </a:tc>
                <a:tc gridSpan="2">
                  <a:txBody>
                    <a:bodyPr/>
                    <a:lstStyle/>
                    <a:p>
                      <a:pPr marL="0" marR="0" algn="ctr">
                        <a:spcBef>
                          <a:spcPts val="0"/>
                        </a:spcBef>
                        <a:spcAft>
                          <a:spcPts val="0"/>
                        </a:spcAft>
                      </a:pPr>
                      <a:r>
                        <a:rPr lang="en-US" sz="900">
                          <a:effectLst/>
                        </a:rPr>
                        <a:t>0.33</a:t>
                      </a:r>
                      <a:endParaRPr lang="en-US" sz="1200">
                        <a:effectLst/>
                        <a:latin typeface="Times New Roman"/>
                        <a:ea typeface="Times New Roman"/>
                      </a:endParaRPr>
                    </a:p>
                  </a:txBody>
                  <a:tcPr marL="68580" marR="68580" marT="0" marB="0" anchor="b"/>
                </a:tc>
                <a:tc hMerge="1">
                  <a:txBody>
                    <a:bodyPr/>
                    <a:lstStyle/>
                    <a:p>
                      <a:endParaRPr lang="en-US"/>
                    </a:p>
                  </a:txBody>
                  <a:tcPr/>
                </a:tc>
                <a:tc gridSpan="2">
                  <a:txBody>
                    <a:bodyPr/>
                    <a:lstStyle/>
                    <a:p>
                      <a:pPr marL="0" marR="0" algn="ctr">
                        <a:spcBef>
                          <a:spcPts val="0"/>
                        </a:spcBef>
                        <a:spcAft>
                          <a:spcPts val="0"/>
                        </a:spcAft>
                      </a:pPr>
                      <a:r>
                        <a:rPr lang="en-US" sz="900" dirty="0">
                          <a:effectLst/>
                        </a:rPr>
                        <a:t>0.20</a:t>
                      </a:r>
                      <a:endParaRPr lang="en-US" sz="1200" dirty="0">
                        <a:effectLst/>
                        <a:latin typeface="Times New Roman"/>
                        <a:ea typeface="Times New Roman"/>
                      </a:endParaRPr>
                    </a:p>
                  </a:txBody>
                  <a:tcPr marL="68580" marR="68580" marT="0" marB="0" anchor="b"/>
                </a:tc>
                <a:tc hMerge="1">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6"/>
          <p:cNvSpPr>
            <a:spLocks noGrp="1" noChangeArrowheads="1"/>
          </p:cNvSpPr>
          <p:nvPr>
            <p:ph type="title"/>
          </p:nvPr>
        </p:nvSpPr>
        <p:spPr/>
        <p:txBody>
          <a:bodyPr>
            <a:normAutofit/>
          </a:bodyPr>
          <a:lstStyle/>
          <a:p>
            <a:pPr eaLnBrk="1" hangingPunct="1"/>
            <a:r>
              <a:rPr lang="en-US" sz="3200" b="1" dirty="0" smtClean="0">
                <a:solidFill>
                  <a:schemeClr val="accent1"/>
                </a:solidFill>
                <a:cs typeface="Times New Roman" pitchFamily="18" charset="0"/>
              </a:rPr>
              <a:t>Descriptive Statistics</a:t>
            </a:r>
          </a:p>
        </p:txBody>
      </p:sp>
      <p:graphicFrame>
        <p:nvGraphicFramePr>
          <p:cNvPr id="53251" name="Object 3"/>
          <p:cNvGraphicFramePr>
            <a:graphicFrameLocks noChangeAspect="1"/>
          </p:cNvGraphicFramePr>
          <p:nvPr/>
        </p:nvGraphicFramePr>
        <p:xfrm>
          <a:off x="990600" y="1905000"/>
          <a:ext cx="7086600" cy="3200400"/>
        </p:xfrm>
        <a:graphic>
          <a:graphicData uri="http://schemas.openxmlformats.org/presentationml/2006/ole">
            <mc:AlternateContent xmlns:mc="http://schemas.openxmlformats.org/markup-compatibility/2006">
              <mc:Choice xmlns:v="urn:schemas-microsoft-com:vml" Requires="v">
                <p:oleObj spid="_x0000_s53270" name="מסמך" r:id="rId4" imgW="5473001" imgH="1726098" progId="Word.Document.12">
                  <p:embed/>
                </p:oleObj>
              </mc:Choice>
              <mc:Fallback>
                <p:oleObj name="מסמך" r:id="rId4" imgW="5473001" imgH="1726098" progId="Word.Document.12">
                  <p:embed/>
                  <p:pic>
                    <p:nvPicPr>
                      <p:cNvPr id="0"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1905000"/>
                        <a:ext cx="70866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dirty="0" smtClean="0"/>
              <a:t>Another CPS Moment – Mix &amp; Match</a:t>
            </a:r>
            <a:endParaRPr lang="en-US" sz="2800" dirty="0"/>
          </a:p>
        </p:txBody>
      </p:sp>
      <p:sp>
        <p:nvSpPr>
          <p:cNvPr id="4" name="TextBox 3"/>
          <p:cNvSpPr txBox="1"/>
          <p:nvPr/>
        </p:nvSpPr>
        <p:spPr>
          <a:xfrm>
            <a:off x="609600" y="1447800"/>
            <a:ext cx="7848600" cy="3970318"/>
          </a:xfrm>
          <a:prstGeom prst="rect">
            <a:avLst/>
          </a:prstGeom>
          <a:noFill/>
        </p:spPr>
        <p:txBody>
          <a:bodyPr wrap="square" rtlCol="0">
            <a:spAutoFit/>
          </a:bodyPr>
          <a:lstStyle/>
          <a:p>
            <a:pPr>
              <a:buFont typeface="Arial" pitchFamily="34" charset="0"/>
              <a:buChar char="•"/>
            </a:pPr>
            <a:r>
              <a:rPr lang="en-US" dirty="0" smtClean="0"/>
              <a:t> We calculate the following moment: the percent of consumers who use both word processors and spreadsheets, either at home or at work. </a:t>
            </a:r>
          </a:p>
          <a:p>
            <a:pPr>
              <a:buFont typeface="Arial" pitchFamily="34" charset="0"/>
              <a:buChar char="•"/>
            </a:pPr>
            <a:r>
              <a:rPr lang="en-US" dirty="0" smtClean="0"/>
              <a:t>This essentially calculates the percent of consumers who use suites or mix-and-match products. </a:t>
            </a:r>
          </a:p>
          <a:p>
            <a:pPr>
              <a:buFont typeface="Arial" pitchFamily="34" charset="0"/>
              <a:buChar char="•"/>
            </a:pPr>
            <a:r>
              <a:rPr lang="en-US" dirty="0" smtClean="0"/>
              <a:t>Here we find from the CPS data that 94.5% of the consumers who have a computer use both products in 2001, either at work or at home. </a:t>
            </a:r>
          </a:p>
          <a:p>
            <a:pPr>
              <a:buFont typeface="Arial" pitchFamily="34" charset="0"/>
              <a:buChar char="•"/>
            </a:pPr>
            <a:r>
              <a:rPr lang="en-US" dirty="0" smtClean="0"/>
              <a:t>In the case of 1998, 90.7% who make a purchase buy suites.  (The other 9.3% are fairly evenly split between word processors and spreadsheets.) </a:t>
            </a:r>
          </a:p>
          <a:p>
            <a:pPr>
              <a:buFont typeface="Arial" pitchFamily="34" charset="0"/>
              <a:buChar char="•"/>
            </a:pPr>
            <a:r>
              <a:rPr lang="en-US" dirty="0" smtClean="0"/>
              <a:t>Hence, the difference between 94.5% and 90.7% (which is 3.8%) can be taken as an estimate of the consumers who mix-and-match in 1998.</a:t>
            </a:r>
          </a:p>
          <a:p>
            <a:pPr>
              <a:buFont typeface="Arial" pitchFamily="34" charset="0"/>
              <a:buChar char="•"/>
            </a:pPr>
            <a:r>
              <a:rPr lang="en-US" dirty="0" smtClean="0"/>
              <a:t>The simulated percentage of consumers who mix and match from 1998 is 6.1%.  </a:t>
            </a:r>
          </a:p>
          <a:p>
            <a:pPr>
              <a:buFont typeface="Arial" pitchFamily="34" charset="0"/>
              <a:buChar char="•"/>
            </a:pPr>
            <a:r>
              <a:rPr lang="en-US" dirty="0" smtClean="0"/>
              <a:t>This suggests that our simulation estimates of the percent that mix-and-match is reasonable. (less mix and match over time.)</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smtClean="0"/>
              <a:t>The Bivariate Normal Distribution</a:t>
            </a:r>
            <a:endParaRPr lang="en-US" dirty="0"/>
          </a:p>
        </p:txBody>
      </p:sp>
      <p:pic>
        <p:nvPicPr>
          <p:cNvPr id="6758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1524000"/>
            <a:ext cx="8064946" cy="3976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758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0" y="5943600"/>
            <a:ext cx="710565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1371600" y="5181600"/>
            <a:ext cx="1915909" cy="338554"/>
          </a:xfrm>
          <a:prstGeom prst="rect">
            <a:avLst/>
          </a:prstGeom>
          <a:noFill/>
        </p:spPr>
        <p:txBody>
          <a:bodyPr wrap="none" rtlCol="0">
            <a:spAutoFit/>
          </a:bodyPr>
          <a:lstStyle/>
          <a:p>
            <a:r>
              <a:rPr lang="en-US" sz="1600" dirty="0" smtClean="0"/>
              <a:t>Positive correlation</a:t>
            </a:r>
            <a:endParaRPr lang="en-US" sz="1600" dirty="0"/>
          </a:p>
        </p:txBody>
      </p:sp>
      <p:sp>
        <p:nvSpPr>
          <p:cNvPr id="8" name="TextBox 7"/>
          <p:cNvSpPr txBox="1"/>
          <p:nvPr/>
        </p:nvSpPr>
        <p:spPr>
          <a:xfrm>
            <a:off x="5003119" y="5181600"/>
            <a:ext cx="2007281" cy="338554"/>
          </a:xfrm>
          <a:prstGeom prst="rect">
            <a:avLst/>
          </a:prstGeom>
          <a:noFill/>
        </p:spPr>
        <p:txBody>
          <a:bodyPr wrap="none" rtlCol="0">
            <a:spAutoFit/>
          </a:bodyPr>
          <a:lstStyle/>
          <a:p>
            <a:r>
              <a:rPr lang="en-US" sz="1600" dirty="0" smtClean="0"/>
              <a:t>Negative correlation</a:t>
            </a:r>
            <a:endParaRPr lang="en-US" sz="1600" dirty="0"/>
          </a:p>
        </p:txBody>
      </p:sp>
    </p:spTree>
    <p:extLst>
      <p:ext uri="{BB962C8B-B14F-4D97-AF65-F5344CB8AC3E}">
        <p14:creationId xmlns:p14="http://schemas.microsoft.com/office/powerpoint/2010/main" val="133931843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extBox 3"/>
          <p:cNvSpPr txBox="1">
            <a:spLocks noChangeArrowheads="1"/>
          </p:cNvSpPr>
          <p:nvPr/>
        </p:nvSpPr>
        <p:spPr bwMode="auto">
          <a:xfrm>
            <a:off x="2895600" y="304800"/>
            <a:ext cx="3505200" cy="369888"/>
          </a:xfrm>
          <a:prstGeom prst="rect">
            <a:avLst/>
          </a:prstGeom>
          <a:noFill/>
          <a:ln w="9525">
            <a:noFill/>
            <a:miter lim="800000"/>
            <a:headEnd/>
            <a:tailEnd/>
          </a:ln>
        </p:spPr>
        <p:txBody>
          <a:bodyPr>
            <a:spAutoFit/>
          </a:bodyPr>
          <a:lstStyle/>
          <a:p>
            <a:r>
              <a:rPr lang="en-US" dirty="0"/>
              <a:t>Spreadsheet Prices</a:t>
            </a:r>
          </a:p>
        </p:txBody>
      </p:sp>
      <p:pic>
        <p:nvPicPr>
          <p:cNvPr id="34817" name="Picture 1"/>
          <p:cNvPicPr>
            <a:picLocks noChangeAspect="1" noChangeArrowheads="1"/>
          </p:cNvPicPr>
          <p:nvPr/>
        </p:nvPicPr>
        <p:blipFill>
          <a:blip r:embed="rId2" cstate="print"/>
          <a:srcRect/>
          <a:stretch>
            <a:fillRect/>
          </a:stretch>
        </p:blipFill>
        <p:spPr bwMode="auto">
          <a:xfrm>
            <a:off x="269875" y="838200"/>
            <a:ext cx="8602663" cy="5859463"/>
          </a:xfrm>
          <a:prstGeom prst="rect">
            <a:avLst/>
          </a:prstGeom>
          <a:noFill/>
          <a:ln w="9525">
            <a:noFill/>
            <a:miter lim="800000"/>
            <a:headEnd/>
            <a:tailEnd/>
          </a:ln>
          <a:effectLst/>
        </p:spPr>
      </p:pic>
    </p:spTree>
    <p:extLst>
      <p:ext uri="{BB962C8B-B14F-4D97-AF65-F5344CB8AC3E}">
        <p14:creationId xmlns:p14="http://schemas.microsoft.com/office/powerpoint/2010/main" val="359057202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3" name="Picture 1"/>
          <p:cNvPicPr>
            <a:picLocks noChangeAspect="1" noChangeArrowheads="1"/>
          </p:cNvPicPr>
          <p:nvPr/>
        </p:nvPicPr>
        <p:blipFill>
          <a:blip r:embed="rId2" cstate="print"/>
          <a:srcRect/>
          <a:stretch>
            <a:fillRect/>
          </a:stretch>
        </p:blipFill>
        <p:spPr bwMode="auto">
          <a:xfrm>
            <a:off x="269875" y="498475"/>
            <a:ext cx="8602663" cy="5859463"/>
          </a:xfrm>
          <a:prstGeom prst="rect">
            <a:avLst/>
          </a:prstGeom>
          <a:noFill/>
          <a:ln w="9525">
            <a:noFill/>
            <a:miter lim="800000"/>
            <a:headEnd/>
            <a:tailEnd/>
          </a:ln>
          <a:effectLst/>
        </p:spPr>
      </p:pic>
    </p:spTree>
    <p:extLst>
      <p:ext uri="{BB962C8B-B14F-4D97-AF65-F5344CB8AC3E}">
        <p14:creationId xmlns:p14="http://schemas.microsoft.com/office/powerpoint/2010/main" val="63888133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Grp="1" noChangeArrowheads="1"/>
          </p:cNvSpPr>
          <p:nvPr>
            <p:ph type="title"/>
          </p:nvPr>
        </p:nvSpPr>
        <p:spPr/>
        <p:txBody>
          <a:bodyPr/>
          <a:lstStyle/>
          <a:p>
            <a:pPr eaLnBrk="1" hangingPunct="1"/>
            <a:r>
              <a:rPr lang="en-US" sz="2800" b="1" smtClean="0">
                <a:latin typeface="Times New Roman" pitchFamily="18" charset="0"/>
                <a:cs typeface="Times New Roman" pitchFamily="18" charset="0"/>
              </a:rPr>
              <a:t>Significant suite discount after 1995 </a:t>
            </a:r>
          </a:p>
        </p:txBody>
      </p:sp>
      <p:pic>
        <p:nvPicPr>
          <p:cNvPr id="22531" name="Picture 5"/>
          <p:cNvPicPr>
            <a:picLocks noChangeAspect="1" noChangeArrowheads="1"/>
          </p:cNvPicPr>
          <p:nvPr/>
        </p:nvPicPr>
        <p:blipFill>
          <a:blip r:embed="rId2" cstate="print"/>
          <a:srcRect/>
          <a:stretch>
            <a:fillRect/>
          </a:stretch>
        </p:blipFill>
        <p:spPr bwMode="auto">
          <a:xfrm>
            <a:off x="304800" y="1371600"/>
            <a:ext cx="8534400" cy="4957763"/>
          </a:xfrm>
          <a:prstGeom prst="rect">
            <a:avLst/>
          </a:prstGeom>
          <a:noFill/>
          <a:ln w="9525">
            <a:noFill/>
            <a:miter lim="800000"/>
            <a:headEnd/>
            <a:tailEnd/>
          </a:ln>
        </p:spPr>
      </p:pic>
    </p:spTree>
    <p:extLst>
      <p:ext uri="{BB962C8B-B14F-4D97-AF65-F5344CB8AC3E}">
        <p14:creationId xmlns:p14="http://schemas.microsoft.com/office/powerpoint/2010/main" val="420228063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spec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Aspect</Template>
  <TotalTime>11069</TotalTime>
  <Words>3078</Words>
  <Application>Microsoft Office PowerPoint</Application>
  <PresentationFormat>On-screen Show (4:3)</PresentationFormat>
  <Paragraphs>566</Paragraphs>
  <Slides>46</Slides>
  <Notes>0</Notes>
  <HiddenSlides>2</HiddenSlides>
  <MMClips>0</MMClips>
  <ScaleCrop>false</ScaleCrop>
  <HeadingPairs>
    <vt:vector size="6" baseType="variant">
      <vt:variant>
        <vt:lpstr>Theme</vt:lpstr>
      </vt:variant>
      <vt:variant>
        <vt:i4>1</vt:i4>
      </vt:variant>
      <vt:variant>
        <vt:lpstr>Embedded OLE Servers</vt:lpstr>
      </vt:variant>
      <vt:variant>
        <vt:i4>6</vt:i4>
      </vt:variant>
      <vt:variant>
        <vt:lpstr>Slide Titles</vt:lpstr>
      </vt:variant>
      <vt:variant>
        <vt:i4>46</vt:i4>
      </vt:variant>
    </vt:vector>
  </HeadingPairs>
  <TitlesOfParts>
    <vt:vector size="53" baseType="lpstr">
      <vt:lpstr>Aspect</vt:lpstr>
      <vt:lpstr>Worksheet</vt:lpstr>
      <vt:lpstr>Chart</vt:lpstr>
      <vt:lpstr>תרשים</vt:lpstr>
      <vt:lpstr>Equation</vt:lpstr>
      <vt:lpstr>משוואה</vt:lpstr>
      <vt:lpstr>מסמך</vt:lpstr>
      <vt:lpstr>Ain’t It ‘Suite’?  Bundling in the PC Office Software Market </vt:lpstr>
      <vt:lpstr>Take yourself back to the 90s</vt:lpstr>
      <vt:lpstr>Take yourself back to the 90s</vt:lpstr>
      <vt:lpstr>Questions</vt:lpstr>
      <vt:lpstr>What do we do/find?</vt:lpstr>
      <vt:lpstr>Evolution of the PC Office Software Market</vt:lpstr>
      <vt:lpstr>The market grew steadily  Windows quickly replaced DOS</vt:lpstr>
      <vt:lpstr>PowerPoint Presentation</vt:lpstr>
      <vt:lpstr>PowerPoint Presentation</vt:lpstr>
      <vt:lpstr>Office suites became increasingly important</vt:lpstr>
      <vt:lpstr>Microsoft dominated the market for suites</vt:lpstr>
      <vt:lpstr>Bundling in the PC Office Software Market</vt:lpstr>
      <vt:lpstr>Microsoft suites were priced significantly higher</vt:lpstr>
      <vt:lpstr>Related Literature</vt:lpstr>
      <vt:lpstr>Data</vt:lpstr>
      <vt:lpstr>Potential market for office software is defined to be the # of operating systems sold/distributed via OEMs</vt:lpstr>
      <vt:lpstr>Discrete choice model</vt:lpstr>
      <vt:lpstr>Econometric model</vt:lpstr>
      <vt:lpstr>Correlation in Preferences</vt:lpstr>
      <vt:lpstr>Instrumental Variables</vt:lpstr>
      <vt:lpstr>Intuition for Identification: Linear Parameters</vt:lpstr>
      <vt:lpstr>Intuition for Identification: Non-Linear Parameters</vt:lpstr>
      <vt:lpstr>Estimation Algorithm</vt:lpstr>
      <vt:lpstr>Empirical Results OLS, Linear IV and Non-Linear Instrumental Variable Estimates</vt:lpstr>
      <vt:lpstr>Empirical Results</vt:lpstr>
      <vt:lpstr>Elasticities – Logit Model</vt:lpstr>
      <vt:lpstr>Elasticities – Random coefficients Model</vt:lpstr>
      <vt:lpstr>Simulations</vt:lpstr>
      <vt:lpstr>CPS Supplement on Computer and Internet</vt:lpstr>
      <vt:lpstr>Using a Moment from CPS</vt:lpstr>
      <vt:lpstr>Simulations</vt:lpstr>
      <vt:lpstr>Simulations Monopoly Market Structures No Bonus for Mix-and-Match Combinations</vt:lpstr>
      <vt:lpstr>Simulations Monopoly Market Structures – welfare effects</vt:lpstr>
      <vt:lpstr>Simulations Oligopolistic Competition No Bonus for Mix-and-Match Combinations</vt:lpstr>
      <vt:lpstr>Simulations Oligopolistic Competition - Cont</vt:lpstr>
      <vt:lpstr>Robustness Analysis</vt:lpstr>
      <vt:lpstr>Robustness Analysis - continued</vt:lpstr>
      <vt:lpstr>Robustness Analysis - continued</vt:lpstr>
      <vt:lpstr>Conclusion</vt:lpstr>
      <vt:lpstr>Evidence for Positive correlation in preferences</vt:lpstr>
      <vt:lpstr>Descriptive Statistics</vt:lpstr>
      <vt:lpstr>Another CPS Moment – Mix &amp; Match</vt:lpstr>
      <vt:lpstr>The Bivariate Normal Distribution</vt:lpstr>
      <vt:lpstr>PowerPoint Presentation</vt:lpstr>
      <vt:lpstr>PowerPoint Presentation</vt:lpstr>
      <vt:lpstr>Significant suite discount after 1995 </vt:lpstr>
    </vt:vector>
  </TitlesOfParts>
  <Company>TAU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Ain’t It ‘Suite’?  Bundling in the PC Office Software Market     Neil Gandal Sarit Markovich Tel Aviv University  Michael Riordan Columbia University</dc:title>
  <dc:creator>Sarit Markovich</dc:creator>
  <cp:lastModifiedBy>James Levono</cp:lastModifiedBy>
  <cp:revision>352</cp:revision>
  <dcterms:created xsi:type="dcterms:W3CDTF">2004-10-05T21:08:00Z</dcterms:created>
  <dcterms:modified xsi:type="dcterms:W3CDTF">2014-09-09T20:14:07Z</dcterms:modified>
</cp:coreProperties>
</file>